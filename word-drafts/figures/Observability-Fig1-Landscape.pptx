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172450" cy="46863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47650" y="247650"/>
            <a:ext cx="7677150" cy="1104900"/>
          </a:xfrm>
          <a:prstGeom prst="roundRect">
            <a:avLst/>
          </a:prstGeom>
          <a:solidFill>
            <a:srgbClr val="F7F7F7"/>
          </a:solidFill>
          <a:ln w="9525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sz="1000" b="1">
                <a:solidFill>
                  <a:srgbClr val="111111"/>
                </a:solidFill>
              </a:rPr>
              <a:t>OPC UA Servers with Observability Export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9100" y="6477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Pumps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90850" y="6477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Robotics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5562600" y="6477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Generators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90850" y="17335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Generic bridge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discovers Server/Observability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Subscriptions/Reads or PubSub</a:t>
            </a:r>
          </a:p>
        </p:txBody>
      </p:sp>
      <p:sp>
        <p:nvSpPr>
          <p:cNvPr id="7" name="Rectangle 6"/>
          <p:cNvSpPr/>
          <p:nvPr/>
        </p:nvSpPr>
        <p:spPr>
          <a:xfrm>
            <a:off x="2990850" y="28194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OTEL Collector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419100" y="3905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Metrics backend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Prometheus · Grafana · Fabric RTI</a:t>
            </a:r>
          </a:p>
        </p:txBody>
      </p:sp>
      <p:sp>
        <p:nvSpPr>
          <p:cNvPr id="9" name="Rectangle 8"/>
          <p:cNvSpPr/>
          <p:nvPr/>
        </p:nvSpPr>
        <p:spPr>
          <a:xfrm>
            <a:off x="2990850" y="3905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Logs backend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Loki · Splunk · Elastic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62600" y="3905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Traces backend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Jaeger · Tempo · Zipkin</a:t>
            </a:r>
          </a:p>
        </p:txBody>
      </p:sp>
      <p:cxnSp>
        <p:nvCxnSpPr>
          <p:cNvPr id="11" name="Connector 10"/>
          <p:cNvCxnSpPr>
            <a:stCxn id="3" idx="2"/>
            <a:endCxn id="6" idx="0"/>
          </p:cNvCxnSpPr>
          <p:nvPr/>
        </p:nvCxnSpPr>
        <p:spPr>
          <a:xfrm>
            <a:off x="1514475" y="118110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4" idx="2"/>
            <a:endCxn id="6" idx="0"/>
          </p:cNvCxnSpPr>
          <p:nvPr/>
        </p:nvCxnSpPr>
        <p:spPr>
          <a:xfrm>
            <a:off x="4086225" y="118110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5" idx="2"/>
            <a:endCxn id="6" idx="0"/>
          </p:cNvCxnSpPr>
          <p:nvPr/>
        </p:nvCxnSpPr>
        <p:spPr>
          <a:xfrm flipH="1">
            <a:off x="4086225" y="118110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6" idx="2"/>
            <a:endCxn id="7" idx="0"/>
          </p:cNvCxnSpPr>
          <p:nvPr/>
        </p:nvCxnSpPr>
        <p:spPr>
          <a:xfrm>
            <a:off x="4086225" y="226695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124325" y="2486025"/>
            <a:ext cx="5238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OTLP metrics</a:t>
            </a:r>
          </a:p>
        </p:txBody>
      </p:sp>
      <p:cxnSp>
        <p:nvCxnSpPr>
          <p:cNvPr id="16" name="Connector 15"/>
          <p:cNvCxnSpPr>
            <a:stCxn id="7" idx="2"/>
            <a:endCxn id="8" idx="0"/>
          </p:cNvCxnSpPr>
          <p:nvPr/>
        </p:nvCxnSpPr>
        <p:spPr>
          <a:xfrm flipH="1">
            <a:off x="1514475" y="335280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6" idx="2"/>
            <a:endCxn id="7" idx="0"/>
          </p:cNvCxnSpPr>
          <p:nvPr/>
        </p:nvCxnSpPr>
        <p:spPr>
          <a:xfrm>
            <a:off x="4086225" y="226695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124325" y="2628900"/>
            <a:ext cx="4191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OTLP logs</a:t>
            </a:r>
          </a:p>
        </p:txBody>
      </p:sp>
      <p:cxnSp>
        <p:nvCxnSpPr>
          <p:cNvPr id="19" name="Connector 18"/>
          <p:cNvCxnSpPr>
            <a:stCxn id="7" idx="2"/>
            <a:endCxn id="9" idx="0"/>
          </p:cNvCxnSpPr>
          <p:nvPr/>
        </p:nvCxnSpPr>
        <p:spPr>
          <a:xfrm>
            <a:off x="4086225" y="335280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2"/>
            <a:endCxn id="7" idx="0"/>
          </p:cNvCxnSpPr>
          <p:nvPr/>
        </p:nvCxnSpPr>
        <p:spPr>
          <a:xfrm>
            <a:off x="4086225" y="226695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124325" y="3486150"/>
            <a:ext cx="4762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OTLP traces</a:t>
            </a:r>
          </a:p>
        </p:txBody>
      </p:sp>
      <p:cxnSp>
        <p:nvCxnSpPr>
          <p:cNvPr id="22" name="Connector 21"/>
          <p:cNvCxnSpPr>
            <a:stCxn id="7" idx="2"/>
            <a:endCxn id="10" idx="0"/>
          </p:cNvCxnSpPr>
          <p:nvPr/>
        </p:nvCxnSpPr>
        <p:spPr>
          <a:xfrm>
            <a:off x="4086225" y="335280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