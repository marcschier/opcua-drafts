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deck is a status report on eighteen working drafts: what each</a:t>
            </a:r>
          </a:p>
          <a:p>
            <a:r>
              <a:rPr sz="1100">
                <a:latin typeface="Segoe UI"/>
              </a:rPr>
              <a:t>one is, the gap it closes, and where it stands right now. The specifications were written</a:t>
            </a:r>
          </a:p>
          <a:p>
            <a:r>
              <a:rPr sz="1100">
                <a:latin typeface="Segoe UI"/>
              </a:rPr>
              <a:t>against real gaps found while building the .NET Standard stack, which is why most of them</a:t>
            </a:r>
          </a:p>
          <a:p>
            <a:r>
              <a:rPr sz="1100">
                <a:latin typeface="Segoe UI"/>
              </a:rPr>
              <a:t>have running code behind them.</a:t>
            </a:r>
          </a:p>
          <a:p/>
          <a:p>
            <a:r>
              <a:rPr sz="1100">
                <a:latin typeface="Segoe UI"/>
              </a:rPr>
              <a:t>The seven under OPC Foundation review — Avro, xRegistry, Observability Export, OpenUSD Parts 1</a:t>
            </a:r>
          </a:p>
          <a:p>
            <a:r>
              <a:rPr sz="1100">
                <a:latin typeface="Segoe UI"/>
              </a:rPr>
              <a:t>and 2, WoT Binding and WoT Connectivity — moved to the members' repository while the review</a:t>
            </a:r>
          </a:p>
          <a:p>
            <a:r>
              <a:rPr sz="1100">
                <a:latin typeface="Segoe UI"/>
              </a:rPr>
              <a:t>runs. They are covered 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eight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numbers are stable identifiers matching the folders under decks/demos/, not running</a:t>
            </a:r>
          </a:p>
          <a:p>
            <a:r>
              <a:rPr sz="1100">
                <a:latin typeface="Segoe UI"/>
              </a:rPr>
              <a:t>order. Demo 1 sits last because it shows the platform rather than a draft: it closes the</a:t>
            </a:r>
          </a:p>
          <a:p>
            <a:r>
              <a:rPr sz="1100">
                <a:latin typeface="Segoe UI"/>
              </a:rPr>
              <a:t>deck alongside server redundancy, after every specification has been covered.</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Release 3.00-draft3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`Release 3.00-draft3 — Draft` and the status box says this is a revision</a:t>
            </a:r>
          </a:p>
          <a:p>
            <a:r>
              <a:rPr sz="1100">
                <a:latin typeface="Segoe UI"/>
              </a:rPr>
              <a:t>of OPC 30270 to version 3.00, not compatible with v1.00 and not normative, official or endorsed.</a:t>
            </a:r>
          </a:p>
          <a:p>
            <a:r>
              <a:rPr sz="1100">
                <a:latin typeface="Segoe UI"/>
              </a:rPr>
              <a:t>The 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The V3 work landed on `main` in</a:t>
            </a:r>
          </a:p>
          <a:p>
            <a:r>
              <a:rPr sz="1100">
                <a:latin typeface="Segoe UI"/>
              </a:rPr>
              <a:t>#61, and #75 followed with nine defects found while implementing the specification — the same</a:t>
            </a:r>
          </a:p>
          <a:p>
            <a:r>
              <a:rPr sz="1100">
                <a:latin typeface="Segoe UI"/>
              </a:rPr>
              <a:t>pattern as Vision, where building the thing is what finds the model's problems. Annex F says the</a:t>
            </a:r>
          </a:p>
          <a:p>
            <a:r>
              <a:rPr sz="1100">
                <a:latin typeface="Segoe UI"/>
              </a:rPr>
              <a:t>Thing Description correspondence depends on the WoT Binding and WoT Connectivity drafts as they</a:t>
            </a:r>
          </a:p>
          <a:p>
            <a:r>
              <a:rPr sz="1100">
                <a:latin typeface="Segoe UI"/>
              </a:rPr>
              <a:t>stood at the document date, so review changes there can invalidate that annex.</a:t>
            </a:r>
          </a:p>
          <a:p/>
          <a:p>
            <a:r>
              <a:rPr sz="1100">
                <a:latin typeface="Segoe UI"/>
              </a:rPr>
              <a:t>On the implementation: `Opc.Ua.Aas` exists on the stack branch `marcschier/aas`, but it is a</a:t>
            </a:r>
          </a:p>
          <a:p>
            <a:r>
              <a:rPr sz="1100">
                <a:latin typeface="Segoe UI"/>
              </a:rPr>
              <a:t>model library with no sample behind it yet, which is why demo 7 remains a walkthrough. The</a:t>
            </a:r>
          </a:p>
          <a:p>
            <a:r>
              <a:rPr sz="1100">
                <a:latin typeface="Segoe UI"/>
              </a:rPr>
              <a:t>deck's front matter lists demo 7 as a walkthrough for the same reason.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1.2.0 — Draft`, with namespace</a:t>
            </a:r>
          </a:p>
          <a:p>
            <a:r>
              <a:rPr sz="1100">
                <a:latin typeface="Segoe UI"/>
              </a:rPr>
              <a:t>`http://opcfoundation.org/UA/Generators/` and publication date 2026-08-11.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0.7.0 — Draft` with namespace `http://opcfoundation.org/UA/OpenUSD/` and publication date 2026-08-11.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0.5.0 — Draft`, namespace `http://opcfoundation.org/UA/OpenUSD/Scene/`, publication date 2026-08-11.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0.5.0.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`fork/marcschier/vision-guided-picking`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a:p/>
          <a:p>
            <a:r>
              <a:rPr sz="1100">
                <a:latin typeface="Segoe UI"/>
              </a:rPr>
              <a:t>The branch name is about vision because the AI work now sits on the same line of development —</a:t>
            </a:r>
          </a:p>
          <a:p>
            <a:r>
              <a:rPr sz="1100">
                <a:latin typeface="Segoe UI"/>
              </a:rPr>
              <a:t>the visual inspection agent is what needs inference. The AI libraries live under</a:t>
            </a:r>
          </a:p>
          <a:p>
            <a:r>
              <a:rPr sz="1100">
                <a:latin typeface="Segoe UI"/>
              </a:rPr>
              <a:t>`src/Opc.Ua.AI*` and the sample under `samples/AI`. That branch is moving quickly, so re-check</a:t>
            </a:r>
          </a:p>
          <a:p>
            <a:r>
              <a:rPr sz="1100">
                <a:latin typeface="Segoe UI"/>
              </a:rPr>
              <a:t>the paths before presenting; the Vision samples on it do not currently build, though the AI</a:t>
            </a:r>
          </a:p>
          <a:p>
            <a:r>
              <a:rPr sz="1100">
                <a:latin typeface="Segoe UI"/>
              </a:rPr>
              <a:t>sample this demo uses does.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0.4.0 dated 2026-08-13, with provisional</a:t>
            </a:r>
          </a:p>
          <a:p>
            <a:r>
              <a:rPr sz="1100">
                <a:latin typeface="Segoe UI"/>
              </a:rPr>
              <a:t>namespace URIs and NodeIds. Clause 1.4 says the release covers sensors, media, coordinate frames</a:t>
            </a:r>
          </a:p>
          <a:p>
            <a:r>
              <a:rPr sz="1100">
                <a:latin typeface="Segoe UI"/>
              </a:rPr>
              <a:t>and calibration, inference pipelines, results and feedback, and that the NodeSet declares only the</a:t>
            </a:r>
          </a:p>
          <a:p>
            <a:r>
              <a:rPr sz="1100">
                <a:latin typeface="Segoe UI"/>
              </a:rPr>
              <a:t>base OPC UA namespace as a required model. The status slide should be explicit about the two</a:t>
            </a:r>
          </a:p>
          <a:p>
            <a:r>
              <a:rPr sz="1100">
                <a:latin typeface="Segoe UI"/>
              </a:rPr>
              <a:t>deferrals in clause 1.3: no portable inspection recipe format is defined, and interop with</a:t>
            </a:r>
          </a:p>
          <a:p>
            <a:r>
              <a:rPr sz="1100">
                <a:latin typeface="Segoe UI"/>
              </a:rPr>
              <a:t>OPC 40100, OPC 40010, DI, Machinery or OpenUSD remains optional profile material.</a:t>
            </a:r>
          </a:p>
          <a:p/>
          <a:p>
            <a:r>
              <a:rPr sz="1100">
                <a:latin typeface="Segoe UI"/>
              </a:rPr>
              <a:t>Where the releases came from is the point. 0.2.0 came out of implementing 0.1.0 against the</a:t>
            </a:r>
          </a:p>
          <a:p>
            <a:r>
              <a:rPr sz="1100">
                <a:latin typeface="Segoe UI"/>
              </a:rPr>
              <a:t>OPC UA .NET Standard stack: all 13 Methods carrying arguments were uncallable, because</a:t>
            </a:r>
          </a:p>
          <a:p>
            <a:r>
              <a:rPr sz="1100">
                <a:latin typeface="Segoe UI"/>
              </a:rPr>
              <a:t>`InputArguments` and `OutputArguments` were qualified into the model's own namespace instead</a:t>
            </a:r>
          </a:p>
          <a:p>
            <a:r>
              <a:rPr sz="1100">
                <a:latin typeface="Segoe UI"/>
              </a:rPr>
              <a:t>of namespace 0, so a stack saw every Method as taking no arguments and refused every call with</a:t>
            </a:r>
          </a:p>
          <a:p>
            <a:r>
              <a:rPr sz="1100">
                <a:latin typeface="Segoe UI"/>
              </a:rPr>
              <a:t>`Bad_TooManyArguments`. The implementation's unit tests passed throughout — they call the</a:t>
            </a:r>
          </a:p>
          <a:p>
            <a:r>
              <a:rPr sz="1100">
                <a:latin typeface="Segoe UI"/>
              </a:rPr>
              <a:t>handler delegates directly — and only an end-to-end session surfaced it. 0.3.0 separated</a:t>
            </a:r>
          </a:p>
          <a:p>
            <a:r>
              <a:rPr sz="1100">
                <a:latin typeface="Segoe UI"/>
              </a:rPr>
              <a:t>results from events, what is against what happened. 0.4.0 addressed the assumption under the</a:t>
            </a:r>
          </a:p>
          <a:p>
            <a:r>
              <a:rPr sz="1100">
                <a:latin typeface="Segoe UI"/>
              </a:rPr>
              <a:t>correlation rule: Annex I.7 told a consumer to correlate a Vision event with a Robot Intent</a:t>
            </a:r>
          </a:p>
          <a:p>
            <a:r>
              <a:rPr sz="1100">
                <a:latin typeface="Segoe UI"/>
              </a:rPr>
              <a:t>event by `Time`, and nothing said whether the two Servers' clocks agree. `ClockSynchronised`</a:t>
            </a:r>
          </a:p>
          <a:p>
            <a:r>
              <a:rPr sz="1100">
                <a:latin typeface="Segoe UI"/>
              </a:rPr>
              <a:t>and `TimeSyncSource` let a Server say, and both are Optional deliberately — a **shall** most</a:t>
            </a:r>
          </a:p>
          <a:p>
            <a:r>
              <a:rPr sz="1100">
                <a:latin typeface="Segoe UI"/>
              </a:rPr>
              <a:t>conformant Servers would fail is a fiction, so what is required is only that a Server unable</a:t>
            </a:r>
          </a:p>
          <a:p>
            <a:r>
              <a:rPr sz="1100">
                <a:latin typeface="Segoe UI"/>
              </a:rPr>
              <a:t>to support the correlation admits it.</a:t>
            </a:r>
          </a:p>
          <a:p/>
          <a:p>
            <a:r>
              <a:rPr sz="1100">
                <a:latin typeface="Segoe UI"/>
              </a:rPr>
              <a:t>Be straight about the demo. `Opc.Ua.Vision`, `.Client`, `.Server` and `.OpenUsd` exist on</a:t>
            </a:r>
          </a:p>
          <a:p>
            <a:r>
              <a:rPr sz="1100">
                <a:latin typeface="Segoe UI"/>
              </a:rPr>
              <a:t>`marcschier/vision-guided-picking`, with a bin-picking cell and a newer visual inspection</a:t>
            </a:r>
          </a:p>
          <a:p>
            <a:r>
              <a:rPr sz="1100">
                <a:latin typeface="Segoe UI"/>
              </a:rPr>
              <a:t>cell, but neither sample currently compiles and the branch's upstream pull request #4235 is a</a:t>
            </a:r>
          </a:p>
          <a:p>
            <a:r>
              <a:rPr sz="1100">
                <a:latin typeface="Segoe UI"/>
              </a:rPr>
              <a:t>draft with the main build red. Demo 9 stays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but say where the code is. A bin-picking cell and its client exist on the</a:t>
            </a:r>
          </a:p>
          <a:p>
            <a:r>
              <a:rPr sz="1100">
                <a:latin typeface="Segoe UI"/>
              </a:rPr>
              <a:t>stack branch `marcschier/vision-guided-picking`, together with `Opc.Ua.Vision`, `.Client`,</a:t>
            </a:r>
          </a:p>
          <a:p>
            <a:r>
              <a:rPr sz="1100">
                <a:latin typeface="Segoe UI"/>
              </a:rPr>
              <a:t>`.Server` and `.OpenUsd`. That branch is still moving and does not yet run the loop end to end,</a:t>
            </a:r>
          </a:p>
          <a:p>
            <a:r>
              <a:rPr sz="1100">
                <a:latin typeface="Segoe UI"/>
              </a:rPr>
              <a:t>so this stays a walkthrough rather than a live demo — do not promise a terminal.</a:t>
            </a:r>
          </a:p>
          <a:p/>
          <a:p>
            <a:r>
              <a:rPr sz="1100">
                <a:latin typeface="Segoe UI"/>
              </a:rPr>
              <a:t>That implementation is the reason the draft is at 0.2.0 rather than 0.1.0. Building it found</a:t>
            </a:r>
          </a:p>
          <a:p>
            <a:r>
              <a:rPr sz="1100">
                <a:latin typeface="Segoe UI"/>
              </a:rPr>
              <a:t>that all 13 Methods carrying arguments were uncallable, that a depth sensor had nowhere to state</a:t>
            </a:r>
          </a:p>
          <a:p>
            <a:r>
              <a:rPr sz="1100">
                <a:latin typeface="Segoe UI"/>
              </a:rPr>
              <a:t>its depth image shape, and that an agent could not report an empty bin. Those are issues #66 to</a:t>
            </a:r>
          </a:p>
          <a:p>
            <a:r>
              <a:rPr sz="1100">
                <a:latin typeface="Segoe UI"/>
              </a:rPr>
              <a:t>#71 and they are the argument for demos in one line.</a:t>
            </a:r>
          </a:p>
          <a:p/>
          <a:p>
            <a:r>
              <a:rPr sz="1100">
                <a:latin typeface="Segoe UI"/>
              </a:rPr>
              <a:t>The walkthrough fills the gap left by existing OPC UA vision work: media location, calibration,</a:t>
            </a:r>
          </a:p>
          <a:p>
            <a:r>
              <a:rPr sz="1100">
                <a:latin typeface="Segoe UI"/>
              </a:rPr>
              <a:t>inference pipeline and result content are described with a standard shape. Tie it to Data</a:t>
            </a:r>
          </a:p>
          <a:p>
            <a:r>
              <a:rPr sz="1100">
                <a:latin typeface="Segoe UI"/>
              </a:rPr>
              <a:t>Channels carefully. Vision brokers media by reference by default; a Data Channel is only an</a:t>
            </a:r>
          </a:p>
          <a:p>
            <a:r>
              <a:rPr sz="1100">
                <a:latin typeface="Segoe UI"/>
              </a:rPr>
              <a:t>optional in-band path. Tie it to AI Model Management because the result is not auditable unless</a:t>
            </a:r>
          </a:p>
          <a:p>
            <a:r>
              <a:rPr sz="1100">
                <a:latin typeface="Segoe UI"/>
              </a:rPr>
              <a:t>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0.3.0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0.3.0 adds the other half of the Vision correlation: the same</a:t>
            </a:r>
          </a:p>
          <a:p>
            <a:r>
              <a:rPr sz="1100">
                <a:latin typeface="Segoe UI"/>
              </a:rPr>
              <a:t>`ClockSynchronised` and `TimeSyncSource` pair on its own root, so the two ends are discoverable from</a:t>
            </a:r>
          </a:p>
          <a:p>
            <a:r>
              <a:rPr sz="1100">
                <a:latin typeface="Segoe UI"/>
              </a:rPr>
              <a:t>either side, and `IntentOperationType.DecidedBy`, which points at the `VisionResultType` instance a</a:t>
            </a:r>
          </a:p>
          <a:p>
            <a:r>
              <a:rPr sz="1100">
                <a:latin typeface="Segoe UI"/>
              </a:rPr>
              <a:t>pose came from. `DecidedBy` is a plain `NodeId`, so base OPC UA stays the only `RequiredModel` and a</a:t>
            </a:r>
          </a:p>
          <a:p>
            <a:r>
              <a:rPr sz="1100">
                <a:latin typeface="Segoe UI"/>
              </a:rPr>
              <a:t>Vision Server needs no awareness of Robot Intent. The implementation is reflected in the stack</a:t>
            </a:r>
          </a:p>
          <a:p>
            <a:r>
              <a:rPr sz="1100">
                <a:latin typeface="Segoe UI"/>
              </a:rPr>
              <a:t>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Eight of the eighteen have no implementation at all, and four of the ten that do are on a</a:t>
            </a:r>
          </a:p>
          <a:p>
            <a:r>
              <a:rPr sz="1100">
                <a:latin typeface="Segoe UI"/>
              </a:rPr>
              <a:t>feature branch rather than on the stack's `master`.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Seven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eleven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seven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Evolving OPC UA</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Current status of all reviewed, in progress and in draft specifications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Something that should be easy with OPC UA, or should support the goal of OPC UA interoperability, but is not — it requires a standardized bridge, or ends up making the implementation proprietary.</a:t>
            </a:r>
          </a:p>
          <a:p>
            <a:pPr>
              <a:spcBef>
                <a:spcPts val="1800"/>
              </a:spcBef>
            </a:pPr>
            <a:r>
              <a:rPr sz="1400" b="0" i="1">
                <a:solidFill>
                  <a:srgbClr val="6B7480"/>
                </a:solidFill>
                <a:latin typeface="Segoe UI"/>
              </a:rPr>
              <a:t>Every draft here started that way. Eighteen documents, eighteen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Where each of the eighteen drafts stands,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xRegistry, xRegistry OPC UA API, Avro, Arrow, Data Channels, Async Services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Asset Administration Shell 3.0, Generators (GenSets)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AI Model Management, Vision, Robot Intent, USD Artifact 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seven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3.00-draft3</a:t>
                      </a:r>
                    </a:p>
                  </a:txBody>
                  <a:tcPr marL="73152" marR="73152" marT="27432" marB="27432" anchor="ctr">
                    <a:solidFill>
                      <a:srgbClr val="FFFFFF"/>
                    </a:solidFill>
                  </a:tcPr>
                </a:tc>
                <a:tc>
                  <a:txBody>
                    <a:bodyPr/>
                    <a:lstStyle/>
                    <a:p>
                      <a:r>
                        <a:rPr sz="1100" b="0" i="0">
                          <a:solidFill>
                            <a:srgbClr val="333B44"/>
                          </a:solidFill>
                          <a:latin typeface="Segoe UI"/>
                        </a:rPr>
                        <a:t>7 — walkthrough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1.2.0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0.4.0</a:t>
                      </a:r>
                    </a:p>
                  </a:txBody>
                  <a:tcPr marL="73152" marR="73152" marT="27432" marB="27432" anchor="ctr">
                    <a:solidFill>
                      <a:srgbClr val="F4F6F8"/>
                    </a:solidFill>
                  </a:tcPr>
                </a:tc>
                <a:tc>
                  <a:txBody>
                    <a:bodyPr/>
                    <a:lstStyle/>
                    <a:p>
                      <a:r>
                        <a:rPr sz="1100" b="0" i="0">
                          <a:solidFill>
                            <a:srgbClr val="333B44"/>
                          </a:solidFill>
                          <a:latin typeface="Segoe UI"/>
                        </a:rPr>
                        <a:t>9 — walkthrough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0.3.0</a:t>
                      </a:r>
                    </a:p>
                  </a:txBody>
                  <a:tcPr marL="73152" marR="73152" marT="27432" marB="27432" anchor="ctr">
                    <a:solidFill>
                      <a:srgbClr val="FFFFFF"/>
                    </a:solidFill>
                  </a:tcPr>
                </a:tc>
                <a:tc>
                  <a:txBody>
                    <a:bodyPr/>
                    <a:lstStyle/>
                    <a:p>
                      <a:r>
                        <a:rPr sz="1100" b="0" i="0">
                          <a:solidFill>
                            <a:srgbClr val="333B44"/>
                          </a:solidFill>
                          <a:latin typeface="Segoe UI"/>
                        </a:rPr>
                        <a:t>2, 5</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2</a:t>
                      </a:r>
                    </a:p>
                  </a:txBody>
                  <a:tcPr marL="73152" marR="73152" marT="27432" marB="27432" anchor="ctr">
                    <a:solidFill>
                      <a:srgbClr val="FFFFFF"/>
                    </a:solidFill>
                  </a:tcPr>
                </a:tc>
                <a:tc>
                  <a:txBody>
                    <a:bodyPr/>
                    <a:lstStyle/>
                    <a:p>
                      <a:r>
                        <a:rPr sz="1100" b="0" i="0">
                          <a:solidFill>
                            <a:srgbClr val="333B44"/>
                          </a:solidFill>
                          <a:latin typeface="Segoe UI"/>
                        </a:rPr>
                        <a:t>Robot + GPOS/RSL + USD</a:t>
                      </a:r>
                    </a:p>
                  </a:txBody>
                  <a:tcPr marL="73152" marR="73152" marT="27432" marB="27432" anchor="ctr">
                    <a:solidFill>
                      <a:srgbClr val="FFFFFF"/>
                    </a:solidFill>
                  </a:tcPr>
                </a:tc>
                <a:tc>
                  <a:txBody>
                    <a:bodyPr/>
                    <a:lstStyle/>
                    <a:p>
                      <a:r>
                        <a:rPr sz="1100" b="0" i="0">
                          <a:solidFill>
                            <a:srgbClr val="333B44"/>
                          </a:solidFill>
                          <a:latin typeface="Segoe UI"/>
                        </a:rPr>
                        <a:t>Robot Intent, OpenUSD, Parts 210/211</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3</a:t>
                      </a:r>
                    </a:p>
                  </a:txBody>
                  <a:tcPr marL="73152" marR="73152" marT="27432" marB="27432" anchor="ctr">
                    <a:solidFill>
                      <a:srgbClr val="F4F6F8"/>
                    </a:solidFill>
                  </a:tcPr>
                </a:tc>
                <a:tc>
                  <a:txBody>
                    <a:bodyPr/>
                    <a:lstStyle/>
                    <a:p>
                      <a:r>
                        <a:rPr sz="1100" b="0" i="0">
                          <a:solidFill>
                            <a:srgbClr val="333B44"/>
                          </a:solidFill>
                          <a:latin typeface="Segoe UI"/>
                        </a:rPr>
                        <a:t>Pump USD and composition</a:t>
                      </a:r>
                    </a:p>
                  </a:txBody>
                  <a:tcPr marL="73152" marR="73152" marT="27432" marB="27432" anchor="ctr">
                    <a:solidFill>
                      <a:srgbClr val="F4F6F8"/>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4</a:t>
                      </a:r>
                    </a:p>
                  </a:txBody>
                  <a:tcPr marL="73152" marR="73152" marT="27432" marB="27432" anchor="ctr">
                    <a:solidFill>
                      <a:srgbClr val="FFFFFF"/>
                    </a:solidFill>
                  </a:tcPr>
                </a:tc>
                <a:tc>
                  <a:txBody>
                    <a:bodyPr/>
                    <a:lstStyle/>
                    <a:p>
                      <a:r>
                        <a:rPr sz="1100" b="0" i="0">
                          <a:solidFill>
                            <a:srgbClr val="333B44"/>
                          </a:solidFill>
                          <a:latin typeface="Segoe UI"/>
                        </a:rPr>
                        <a:t>Pumps via WoT Connectivity</a:t>
                      </a:r>
                    </a:p>
                  </a:txBody>
                  <a:tcPr marL="73152" marR="73152" marT="27432" marB="27432" anchor="ctr">
                    <a:solidFill>
                      <a:srgbClr val="FFFFFF"/>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5</a:t>
                      </a:r>
                    </a:p>
                  </a:txBody>
                  <a:tcPr marL="73152" marR="73152" marT="27432" marB="27432" anchor="ctr">
                    <a:solidFill>
                      <a:srgbClr val="F4F6F8"/>
                    </a:solidFill>
                  </a:tcPr>
                </a:tc>
                <a:tc>
                  <a:txBody>
                    <a:bodyPr/>
                    <a:lstStyle/>
                    <a:p>
                      <a:r>
                        <a:rPr sz="1100" b="0" i="0">
                          <a:solidFill>
                            <a:srgbClr val="333B44"/>
                          </a:solidFill>
                          <a:latin typeface="Segoe UI"/>
                        </a:rPr>
                        <a:t>Robot intent viewer plus MCP</a:t>
                      </a:r>
                    </a:p>
                  </a:txBody>
                  <a:tcPr marL="73152" marR="73152" marT="27432" marB="27432" anchor="ctr">
                    <a:solidFill>
                      <a:srgbClr val="F4F6F8"/>
                    </a:solidFill>
                  </a:tcPr>
                </a:tc>
                <a:tc>
                  <a:txBody>
                    <a:bodyPr/>
                    <a:lstStyle/>
                    <a:p>
                      <a:r>
                        <a:rPr sz="1100" b="0" i="0">
                          <a:solidFill>
                            <a:srgbClr val="333B44"/>
                          </a:solidFill>
                          <a:latin typeface="Segoe UI"/>
                        </a:rPr>
                        <a:t>Robot Intent lifecycle, live viewer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6</a:t>
                      </a:r>
                    </a:p>
                  </a:txBody>
                  <a:tcPr marL="73152" marR="73152" marT="27432" marB="27432" anchor="ctr">
                    <a:solidFill>
                      <a:srgbClr val="FFFFFF"/>
                    </a:solidFill>
                  </a:tcPr>
                </a:tc>
                <a:tc>
                  <a:txBody>
                    <a:bodyPr/>
                    <a:lstStyle/>
                    <a:p>
                      <a:r>
                        <a:rPr sz="1100" b="0" i="0">
                          <a:solidFill>
                            <a:srgbClr val="333B44"/>
                          </a:solidFill>
                          <a:latin typeface="Segoe UI"/>
                        </a:rPr>
                        <a:t>Server redundancy</a:t>
                      </a:r>
                    </a:p>
                  </a:txBody>
                  <a:tcPr marL="73152" marR="73152" marT="27432" marB="27432" anchor="ctr">
                    <a:solidFill>
                      <a:srgbClr val="FFFFFF"/>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7</a:t>
                      </a:r>
                    </a:p>
                  </a:txBody>
                  <a:tcPr marL="73152" marR="73152" marT="27432" marB="27432" anchor="ctr">
                    <a:solidFill>
                      <a:srgbClr val="F4F6F8"/>
                    </a:solidFill>
                  </a:tcPr>
                </a:tc>
                <a:tc>
                  <a:txBody>
                    <a:bodyPr/>
                    <a:lstStyle/>
                    <a:p>
                      <a:r>
                        <a:rPr sz="1100" b="0" i="0">
                          <a:solidFill>
                            <a:srgbClr val="333B44"/>
                          </a:solidFill>
                          <a:latin typeface="Segoe UI"/>
                        </a:rPr>
                        <a:t>AAS + WoT + xRegistry</a:t>
                      </a:r>
                    </a:p>
                  </a:txBody>
                  <a:tcPr marL="73152" marR="73152" marT="27432" marB="27432" anchor="ctr">
                    <a:solidFill>
                      <a:srgbClr val="F4F6F8"/>
                    </a:solidFill>
                  </a:tcPr>
                </a:tc>
                <a:tc>
                  <a:txBody>
                    <a:bodyPr/>
                    <a:lstStyle/>
                    <a:p>
                      <a:r>
                        <a:rPr sz="1100" b="0" i="0">
                          <a:solidFill>
                            <a:srgbClr val="333B44"/>
                          </a:solidFill>
                          <a:latin typeface="Segoe UI"/>
                        </a:rPr>
                        <a:t>One asset, three projections</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8</a:t>
                      </a:r>
                    </a:p>
                  </a:txBody>
                  <a:tcPr marL="73152" marR="73152" marT="27432" marB="27432" anchor="ctr">
                    <a:solidFill>
                      <a:srgbClr val="FFFFFF"/>
                    </a:solidFill>
                  </a:tcPr>
                </a:tc>
                <a:tc>
                  <a:txBody>
                    <a:bodyPr/>
                    <a:lstStyle/>
                    <a:p>
                      <a:r>
                        <a:rPr sz="1100" b="0" i="0">
                          <a:solidFill>
                            <a:srgbClr val="333B44"/>
                          </a:solidFill>
                          <a:latin typeface="Segoe UI"/>
                        </a:rPr>
                        <a:t>Media over Data Channels</a:t>
                      </a:r>
                    </a:p>
                  </a:txBody>
                  <a:tcPr marL="73152" marR="73152" marT="27432" marB="27432" anchor="ctr">
                    <a:solidFill>
                      <a:srgbClr val="FFFFFF"/>
                    </a:solidFill>
                  </a:tcPr>
                </a:tc>
                <a:tc>
                  <a:txBody>
                    <a:bodyPr/>
                    <a:lstStyle/>
                    <a:p>
                      <a:r>
                        <a:rPr sz="1100" b="0" i="0">
                          <a:solidFill>
                            <a:srgbClr val="333B44"/>
                          </a:solidFill>
                          <a:latin typeface="Segoe UI"/>
                        </a:rPr>
                        <a:t>Video on an open SecureChannel</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9</a:t>
                      </a:r>
                    </a:p>
                  </a:txBody>
                  <a:tcPr marL="73152" marR="73152" marT="27432" marB="27432" anchor="ctr">
                    <a:solidFill>
                      <a:srgbClr val="F4F6F8"/>
                    </a:solidFill>
                  </a:tcPr>
                </a:tc>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Camera, inference, published result</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10</a:t>
                      </a:r>
                    </a:p>
                  </a:txBody>
                  <a:tcPr marL="73152" marR="73152" marT="27432" marB="27432" anchor="ctr">
                    <a:solidFill>
                      <a:srgbClr val="FFFFFF"/>
                    </a:solidFill>
                  </a:tcPr>
                </a:tc>
                <a:tc>
                  <a:txBody>
                    <a:bodyPr/>
                    <a:lstStyle/>
                    <a:p>
                      <a:r>
                        <a:rPr sz="1100" b="0" i="0">
                          <a:solidFill>
                            <a:srgbClr val="333B44"/>
                          </a:solidFill>
                          <a:latin typeface="Segoe UI"/>
                        </a:rPr>
                        <a:t>AI model loading</a:t>
                      </a:r>
                    </a:p>
                  </a:txBody>
                  <a:tcPr marL="73152" marR="73152" marT="27432" marB="27432" anchor="ctr">
                    <a:solidFill>
                      <a:srgbClr val="FFFFFF"/>
                    </a:solidFill>
                  </a:tcPr>
                </a:tc>
                <a:tc>
                  <a:txBody>
                    <a:bodyPr/>
                    <a:lstStyle/>
                    <a:p>
                      <a:r>
                        <a:rPr sz="1100" b="0" i="0">
                          <a:solidFill>
                            <a:srgbClr val="333B44"/>
                          </a:solidFill>
                          <a:latin typeface="Segoe UI"/>
                        </a:rPr>
                        <a:t>Model lifecycle, provenance, rollout</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1</a:t>
                      </a:r>
                    </a:p>
                  </a:txBody>
                  <a:tcPr marL="73152" marR="73152" marT="27432" marB="27432" anchor="ctr">
                    <a:solidFill>
                      <a:srgbClr val="F4F6F8"/>
                    </a:solidFill>
                  </a:tcPr>
                </a:tc>
                <a:tc>
                  <a:txBody>
                    <a:bodyPr/>
                    <a:lstStyle/>
                    <a:p>
                      <a:r>
                        <a:rPr sz="1100" b="0" i="0">
                          <a:solidFill>
                            <a:srgbClr val="333B44"/>
                          </a:solidFill>
                          <a:latin typeface="Segoe UI"/>
                        </a:rPr>
                        <a:t>OPC UA MCP server</a:t>
                      </a:r>
                    </a:p>
                  </a:txBody>
                  <a:tcPr marL="73152" marR="73152" marT="27432" marB="27432" anchor="ctr">
                    <a:solidFill>
                      <a:srgbClr val="F4F6F8"/>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3.00-draft3, merged into main,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3.00-draft3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Opc.Ua.Aas</a:t>
            </a:r>
            <a:r>
              <a:rPr sz="1700" b="1" i="0">
                <a:solidFill>
                  <a:srgbClr val="002B49"/>
                </a:solidFill>
                <a:latin typeface="Segoe UI"/>
              </a:rPr>
              <a:t> on the stack branch </a:t>
            </a:r>
            <a:r>
              <a:rPr sz="1600" b="1" i="0">
                <a:solidFill>
                  <a:srgbClr val="002B49"/>
                </a:solidFill>
                <a:latin typeface="Consolas"/>
              </a:rPr>
              <a:t>marcschier/aas</a:t>
            </a:r>
            <a:r>
              <a:rPr sz="1700" b="1" i="0">
                <a:solidFill>
                  <a:srgbClr val="002B49"/>
                </a:solidFill>
                <a:latin typeface="Segoe UI"/>
              </a:rPr>
              <a:t>, in progress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1.2.0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under OPC Foundation review,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0.7.0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0.5.0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0.5.0;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0.5.0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the stack branch </a:t>
            </a:r>
            <a:r>
              <a:rPr sz="1600" b="1" i="0">
                <a:solidFill>
                  <a:srgbClr val="002B49"/>
                </a:solidFill>
                <a:latin typeface="Consolas"/>
              </a:rPr>
              <a:t>marcschier/vision-guided-picking</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samples\AI\verify_backend.py</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src\Opc.Ua.AI</a:t>
            </a:r>
            <a:r>
              <a:rPr sz="1400" b="1" i="0">
                <a:solidFill>
                  <a:srgbClr val="002B49"/>
                </a:solidFill>
                <a:latin typeface="Segoe UI"/>
              </a:rPr>
              <a:t>, </a:t>
            </a:r>
            <a:r>
              <a:rPr sz="1300" b="1" i="0">
                <a:solidFill>
                  <a:srgbClr val="002B49"/>
                </a:solidFill>
                <a:latin typeface="Consolas"/>
              </a:rPr>
              <a:t>.Client</a:t>
            </a:r>
            <a:r>
              <a:rPr sz="1400" b="1" i="0">
                <a:solidFill>
                  <a:srgbClr val="002B49"/>
                </a:solidFill>
                <a:latin typeface="Segoe UI"/>
              </a:rPr>
              <a:t>, </a:t>
            </a:r>
            <a:r>
              <a:rPr sz="1300" b="1" i="0">
                <a:solidFill>
                  <a:srgbClr val="002B49"/>
                </a:solidFill>
                <a:latin typeface="Consolas"/>
              </a:rPr>
              <a:t>.Inference</a:t>
            </a:r>
            <a:r>
              <a:rPr sz="1400" b="1" i="0">
                <a:solidFill>
                  <a:srgbClr val="002B49"/>
                </a:solidFill>
                <a:latin typeface="Segoe UI"/>
              </a:rPr>
              <a:t>, </a:t>
            </a:r>
            <a:r>
              <a:rPr sz="1300" b="1" i="0">
                <a:solidFill>
                  <a:srgbClr val="002B49"/>
                </a:solidFill>
                <a:latin typeface="Consolas"/>
              </a:rPr>
              <a:t>.Server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shaped by an implementation that is still in progress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r>
              <a:rPr sz="1700" b="1" i="0">
                <a:solidFill>
                  <a:srgbClr val="002B49"/>
                </a:solidFill>
                <a:latin typeface="Segoe UI"/>
              </a:rPr>
              <a:t>, dated 2026-08-13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 </a:t>
            </a:r>
            <a:r>
              <a:rPr sz="1600" b="1" i="0">
                <a:solidFill>
                  <a:srgbClr val="002B49"/>
                </a:solidFill>
                <a:latin typeface="Consolas"/>
              </a:rPr>
              <a:t>Opc.Ua.Vision.*</a:t>
            </a:r>
            <a:r>
              <a:rPr sz="1700" b="1" i="0">
                <a:solidFill>
                  <a:srgbClr val="002B49"/>
                </a:solidFill>
                <a:latin typeface="Segoe UI"/>
              </a:rPr>
              <a:t> on the stack branch </a:t>
            </a:r>
            <a:r>
              <a:rPr sz="1600" b="1" i="0">
                <a:solidFill>
                  <a:srgbClr val="002B49"/>
                </a:solidFill>
                <a:latin typeface="Consolas"/>
              </a:rPr>
              <a:t>marcschier/vision-guided-picking</a:t>
            </a:r>
            <a:r>
              <a:rPr sz="1700" b="1" i="0">
                <a:solidFill>
                  <a:srgbClr val="002B49"/>
                </a:solidFill>
                <a:latin typeface="Segoe UI"/>
              </a:rPr>
              <a:t>, upstream draft PR #4235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the Vision samples do not yet build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Three releases in under two weeks, and every one of them came out of building the thing rather than reviewing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0.3.0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server redundancy, and the MCP server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ten with running code, seven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Parts 4, 5 errata</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FFFFF"/>
                    </a:solidFill>
                  </a:tcPr>
                </a:tc>
                <a:tc>
                  <a:txBody>
                    <a:bodyPr/>
                    <a:lstStyle/>
                    <a:p>
                      <a:r>
                        <a:rPr sz="1100" b="0" i="0">
                          <a:solidFill>
                            <a:srgbClr val="333B44"/>
                          </a:solidFill>
                          <a:latin typeface="Segoe UI"/>
                        </a:rPr>
                        <a:t>3.00-draft3</a:t>
                      </a:r>
                    </a:p>
                  </a:txBody>
                  <a:tcPr marL="73152" marR="73152" marT="27432" marB="27432" anchor="ctr">
                    <a:solidFill>
                      <a:srgbClr val="FFFFFF"/>
                    </a:solidFill>
                  </a:tcPr>
                </a:tc>
                <a:tc>
                  <a:txBody>
                    <a:bodyPr/>
                    <a:lstStyle/>
                    <a:p>
                      <a:r>
                        <a:rPr sz="1100" b="0" i="0">
                          <a:solidFill>
                            <a:srgbClr val="333B44"/>
                          </a:solidFill>
                          <a:latin typeface="Segoe UI"/>
                        </a:rPr>
                        <a:t>OPCF — OPC 30270 revision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1.2.0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1.1-draft3</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1.1-draft3</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0.7.0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0.5.0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0.4.0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000" b="0" i="0">
                          <a:solidFill>
                            <a:srgbClr val="002B49"/>
                          </a:solidFill>
                          <a:latin typeface="Consolas"/>
                        </a:rPr>
                        <a:t>Opc.Ua.Robotics</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1.0-rc1</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Eleven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