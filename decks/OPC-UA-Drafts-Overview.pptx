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deck is a status report on eighteen working drafts: what each</a:t>
            </a:r>
          </a:p>
          <a:p>
            <a:r>
              <a:rPr sz="1100">
                <a:latin typeface="Segoe UI"/>
              </a:rPr>
              <a:t>one is, the gap it closes, and where it stands right now. The specifications were written</a:t>
            </a:r>
          </a:p>
          <a:p>
            <a:r>
              <a:rPr sz="1100">
                <a:latin typeface="Segoe UI"/>
              </a:rPr>
              <a:t>against real gaps found while building the .NET Standard stack, which is why most of them</a:t>
            </a:r>
          </a:p>
          <a:p>
            <a:r>
              <a:rPr sz="1100">
                <a:latin typeface="Segoe UI"/>
              </a:rPr>
              <a:t>have running code behind them.</a:t>
            </a:r>
          </a:p>
          <a:p/>
          <a:p>
            <a:r>
              <a:rPr sz="1100">
                <a:latin typeface="Segoe UI"/>
              </a:rPr>
              <a:t>The six under OPC Foundation review — Avro, xRegistry, OpenUSD Parts 1 and 2, WoT Binding and</a:t>
            </a:r>
          </a:p>
          <a:p>
            <a:r>
              <a:rPr sz="1100">
                <a:latin typeface="Segoe UI"/>
              </a:rPr>
              <a:t>WoT Connectivity — moved to the members' repository while the review runs. They are covered</a:t>
            </a:r>
          </a:p>
          <a:p>
            <a:r>
              <a:rPr sz="1100">
                <a:latin typeface="Segoe UI"/>
              </a:rPr>
              <a:t>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nine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numbers are stable identifiers matching the folders under decks/demos/, not running</a:t>
            </a:r>
          </a:p>
          <a:p>
            <a:r>
              <a:rPr sz="1100">
                <a:latin typeface="Segoe UI"/>
              </a:rPr>
              <a:t>order. Demo 1 sits last because it shows the platform rather than a draft: it closes the</a:t>
            </a:r>
          </a:p>
          <a:p>
            <a:r>
              <a:rPr sz="1100">
                <a:latin typeface="Segoe UI"/>
              </a:rPr>
              <a:t>deck alongside server redundancy, after every specification has been covered.</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Draft 3.00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`Draft 3.00` and the status box says this is a revision of OPC 30270</a:t>
            </a:r>
          </a:p>
          <a:p>
            <a:r>
              <a:rPr sz="1100">
                <a:latin typeface="Segoe UI"/>
              </a:rPr>
              <a:t>to version 3.00, not compatible with v1.00 and not normative, official or endorsed. The</a:t>
            </a:r>
          </a:p>
          <a:p>
            <a:r>
              <a:rPr sz="1100">
                <a:latin typeface="Segoe UI"/>
              </a:rPr>
              <a:t>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GitHub reports PR #61 open</a:t>
            </a:r>
          </a:p>
          <a:p>
            <a:r>
              <a:rPr sz="1100">
                <a:latin typeface="Segoe UI"/>
              </a:rPr>
              <a:t>from `aas-opcua-v3`. Annex F says the Thing Description correspondence depends on the WoT</a:t>
            </a:r>
          </a:p>
          <a:p>
            <a:r>
              <a:rPr sz="1100">
                <a:latin typeface="Segoe UI"/>
              </a:rPr>
              <a:t>Binding and WoT Connectivity drafts as they stood at the document date, so review changes</a:t>
            </a:r>
          </a:p>
          <a:p>
            <a:r>
              <a:rPr sz="1100">
                <a:latin typeface="Segoe UI"/>
              </a:rPr>
              <a:t>there can invalidate that annex. The deck's front matter lists demo 7 as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1.0.0 — Draft`, with namespace</a:t>
            </a:r>
          </a:p>
          <a:p>
            <a:r>
              <a:rPr sz="1100">
                <a:latin typeface="Segoe UI"/>
              </a:rPr>
              <a:t>`http://opcfoundation.org/UA/Generators/` and publication date 2026-07-01.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0.1.0, with provisional namespace URIs and</a:t>
            </a:r>
          </a:p>
          <a:p>
            <a:r>
              <a:rPr sz="1100">
                <a:latin typeface="Segoe UI"/>
              </a:rPr>
              <a:t>NodeIds. Clause 1.4 says the release covers sensors, media, coordinate frames and calibration,</a:t>
            </a:r>
          </a:p>
          <a:p>
            <a:r>
              <a:rPr sz="1100">
                <a:latin typeface="Segoe UI"/>
              </a:rPr>
              <a:t>inference pipelines, results and feedback, and that the NodeSet declares only the base OPC UA</a:t>
            </a:r>
          </a:p>
          <a:p>
            <a:r>
              <a:rPr sz="1100">
                <a:latin typeface="Segoe UI"/>
              </a:rPr>
              <a:t>namespace as a required model. The status slide should be explicit about the two deferrals in</a:t>
            </a:r>
          </a:p>
          <a:p>
            <a:r>
              <a:rPr sz="1100">
                <a:latin typeface="Segoe UI"/>
              </a:rPr>
              <a:t>clause 1.3: no portable inspection recipe format is defined, and interop with OPC 40100, OPC 40010,</a:t>
            </a:r>
          </a:p>
          <a:p>
            <a:r>
              <a:rPr sz="1100">
                <a:latin typeface="Segoe UI"/>
              </a:rPr>
              <a:t>DI, Machinery or OpenUSD remains optional profile material. For the deck, Demo 9 is only a</a:t>
            </a:r>
          </a:p>
          <a:p>
            <a:r>
              <a:rPr sz="1100">
                <a:latin typeface="Segoe UI"/>
              </a:rPr>
              <a:t>walkthrough of camera, inference and published result; there is no implementation to run yet.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There is a draft and generated NodeSet in the drafts repository, but no</a:t>
            </a:r>
          </a:p>
          <a:p>
            <a:r>
              <a:rPr sz="1100">
                <a:latin typeface="Segoe UI"/>
              </a:rPr>
              <a:t>stack project or sample Server. The walkthrough fills the gap left by existing OPC UA vision</a:t>
            </a:r>
          </a:p>
          <a:p>
            <a:r>
              <a:rPr sz="1100">
                <a:latin typeface="Segoe UI"/>
              </a:rPr>
              <a:t>work: media location, calibration, inference pipeline and result content are described with a</a:t>
            </a:r>
          </a:p>
          <a:p>
            <a:r>
              <a:rPr sz="1100">
                <a:latin typeface="Segoe UI"/>
              </a:rPr>
              <a:t>standard shape. Tie it to Data Channels carefully. Vision brokers media by reference by</a:t>
            </a:r>
          </a:p>
          <a:p>
            <a:r>
              <a:rPr sz="1100">
                <a:latin typeface="Segoe UI"/>
              </a:rPr>
              <a:t>default; a Data Channel is only an optional in-band path. Tie it to AI Model Management because</a:t>
            </a:r>
          </a:p>
          <a:p>
            <a:r>
              <a:rPr sz="1100">
                <a:latin typeface="Segoe UI"/>
              </a:rPr>
              <a:t>the result is not auditable unless 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Nine of the eighteen have no implementation at all.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Six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twelve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six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Evolving OPC UA</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Current status of all reviewed, in progress and in draft specifications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Something that should be easy with OPC UA, or should support the goal of OPC UA interoperability, but is not — it requires a standardized bridge, or ends up making the implementation proprietary.</a:t>
            </a:r>
          </a:p>
          <a:p>
            <a:pPr>
              <a:spcBef>
                <a:spcPts val="1800"/>
              </a:spcBef>
            </a:pPr>
            <a:r>
              <a:rPr sz="1400" b="0" i="1">
                <a:solidFill>
                  <a:srgbClr val="6B7480"/>
                </a:solidFill>
                <a:latin typeface="Segoe UI"/>
              </a:rPr>
              <a:t>Every draft here started that way. Eighteen documents, eighteen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Where each of the eighteen drafts stands,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xRegistry, xRegistry OPC UA API, Avro, Arrow, Data Channels, Async Services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Asset Administration Shell 3.0, Generators (GenSets)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AI Model Management, Vision, Robot Intent, USD Artifact 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six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3.0.0 — open PR</a:t>
                      </a:r>
                    </a:p>
                  </a:txBody>
                  <a:tcPr marL="73152" marR="73152" marT="27432" marB="27432" anchor="ctr">
                    <a:solidFill>
                      <a:srgbClr val="FFFFFF"/>
                    </a:solidFill>
                  </a:tcPr>
                </a:tc>
                <a:tc>
                  <a:txBody>
                    <a:bodyPr/>
                    <a:lstStyle/>
                    <a:p>
                      <a:r>
                        <a:rPr sz="1100" b="0" i="0">
                          <a:solidFill>
                            <a:srgbClr val="333B44"/>
                          </a:solidFill>
                          <a:latin typeface="Segoe UI"/>
                        </a:rPr>
                        <a:t>7 — walkthrough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1.0.0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9 — walkthrough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2, 5</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2</a:t>
                      </a:r>
                    </a:p>
                  </a:txBody>
                  <a:tcPr marL="73152" marR="73152" marT="27432" marB="27432" anchor="ctr">
                    <a:solidFill>
                      <a:srgbClr val="FFFFFF"/>
                    </a:solidFill>
                  </a:tcPr>
                </a:tc>
                <a:tc>
                  <a:txBody>
                    <a:bodyPr/>
                    <a:lstStyle/>
                    <a:p>
                      <a:r>
                        <a:rPr sz="1100" b="0" i="0">
                          <a:solidFill>
                            <a:srgbClr val="333B44"/>
                          </a:solidFill>
                          <a:latin typeface="Segoe UI"/>
                        </a:rPr>
                        <a:t>Robot + GPOS/RSL + USD</a:t>
                      </a:r>
                    </a:p>
                  </a:txBody>
                  <a:tcPr marL="73152" marR="73152" marT="27432" marB="27432" anchor="ctr">
                    <a:solidFill>
                      <a:srgbClr val="FFFFFF"/>
                    </a:solidFill>
                  </a:tcPr>
                </a:tc>
                <a:tc>
                  <a:txBody>
                    <a:bodyPr/>
                    <a:lstStyle/>
                    <a:p>
                      <a:r>
                        <a:rPr sz="1100" b="0" i="0">
                          <a:solidFill>
                            <a:srgbClr val="333B44"/>
                          </a:solidFill>
                          <a:latin typeface="Segoe UI"/>
                        </a:rPr>
                        <a:t>Robot Intent, OpenUSD, Parts 210/211</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3</a:t>
                      </a:r>
                    </a:p>
                  </a:txBody>
                  <a:tcPr marL="73152" marR="73152" marT="27432" marB="27432" anchor="ctr">
                    <a:solidFill>
                      <a:srgbClr val="F4F6F8"/>
                    </a:solidFill>
                  </a:tcPr>
                </a:tc>
                <a:tc>
                  <a:txBody>
                    <a:bodyPr/>
                    <a:lstStyle/>
                    <a:p>
                      <a:r>
                        <a:rPr sz="1100" b="0" i="0">
                          <a:solidFill>
                            <a:srgbClr val="333B44"/>
                          </a:solidFill>
                          <a:latin typeface="Segoe UI"/>
                        </a:rPr>
                        <a:t>Pump USD and composition</a:t>
                      </a:r>
                    </a:p>
                  </a:txBody>
                  <a:tcPr marL="73152" marR="73152" marT="27432" marB="27432" anchor="ctr">
                    <a:solidFill>
                      <a:srgbClr val="F4F6F8"/>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4</a:t>
                      </a:r>
                    </a:p>
                  </a:txBody>
                  <a:tcPr marL="73152" marR="73152" marT="27432" marB="27432" anchor="ctr">
                    <a:solidFill>
                      <a:srgbClr val="FFFFFF"/>
                    </a:solidFill>
                  </a:tcPr>
                </a:tc>
                <a:tc>
                  <a:txBody>
                    <a:bodyPr/>
                    <a:lstStyle/>
                    <a:p>
                      <a:r>
                        <a:rPr sz="1100" b="0" i="0">
                          <a:solidFill>
                            <a:srgbClr val="333B44"/>
                          </a:solidFill>
                          <a:latin typeface="Segoe UI"/>
                        </a:rPr>
                        <a:t>Pumps via WoT Connectivity</a:t>
                      </a:r>
                    </a:p>
                  </a:txBody>
                  <a:tcPr marL="73152" marR="73152" marT="27432" marB="27432" anchor="ctr">
                    <a:solidFill>
                      <a:srgbClr val="FFFFFF"/>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5</a:t>
                      </a:r>
                    </a:p>
                  </a:txBody>
                  <a:tcPr marL="73152" marR="73152" marT="27432" marB="27432" anchor="ctr">
                    <a:solidFill>
                      <a:srgbClr val="F4F6F8"/>
                    </a:solidFill>
                  </a:tcPr>
                </a:tc>
                <a:tc>
                  <a:txBody>
                    <a:bodyPr/>
                    <a:lstStyle/>
                    <a:p>
                      <a:r>
                        <a:rPr sz="1100" b="0" i="0">
                          <a:solidFill>
                            <a:srgbClr val="333B44"/>
                          </a:solidFill>
                          <a:latin typeface="Segoe UI"/>
                        </a:rPr>
                        <a:t>Robot intent viewer plus MCP</a:t>
                      </a:r>
                    </a:p>
                  </a:txBody>
                  <a:tcPr marL="73152" marR="73152" marT="27432" marB="27432" anchor="ctr">
                    <a:solidFill>
                      <a:srgbClr val="F4F6F8"/>
                    </a:solidFill>
                  </a:tcPr>
                </a:tc>
                <a:tc>
                  <a:txBody>
                    <a:bodyPr/>
                    <a:lstStyle/>
                    <a:p>
                      <a:r>
                        <a:rPr sz="1100" b="0" i="0">
                          <a:solidFill>
                            <a:srgbClr val="333B44"/>
                          </a:solidFill>
                          <a:latin typeface="Segoe UI"/>
                        </a:rPr>
                        <a:t>Robot Intent lifecycle, live viewer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6</a:t>
                      </a:r>
                    </a:p>
                  </a:txBody>
                  <a:tcPr marL="73152" marR="73152" marT="27432" marB="27432" anchor="ctr">
                    <a:solidFill>
                      <a:srgbClr val="FFFFFF"/>
                    </a:solidFill>
                  </a:tcPr>
                </a:tc>
                <a:tc>
                  <a:txBody>
                    <a:bodyPr/>
                    <a:lstStyle/>
                    <a:p>
                      <a:r>
                        <a:rPr sz="1100" b="0" i="0">
                          <a:solidFill>
                            <a:srgbClr val="333B44"/>
                          </a:solidFill>
                          <a:latin typeface="Segoe UI"/>
                        </a:rPr>
                        <a:t>Server redundancy</a:t>
                      </a:r>
                    </a:p>
                  </a:txBody>
                  <a:tcPr marL="73152" marR="73152" marT="27432" marB="27432" anchor="ctr">
                    <a:solidFill>
                      <a:srgbClr val="FFFFFF"/>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7</a:t>
                      </a:r>
                    </a:p>
                  </a:txBody>
                  <a:tcPr marL="73152" marR="73152" marT="27432" marB="27432" anchor="ctr">
                    <a:solidFill>
                      <a:srgbClr val="F4F6F8"/>
                    </a:solidFill>
                  </a:tcPr>
                </a:tc>
                <a:tc>
                  <a:txBody>
                    <a:bodyPr/>
                    <a:lstStyle/>
                    <a:p>
                      <a:r>
                        <a:rPr sz="1100" b="0" i="0">
                          <a:solidFill>
                            <a:srgbClr val="333B44"/>
                          </a:solidFill>
                          <a:latin typeface="Segoe UI"/>
                        </a:rPr>
                        <a:t>AAS + WoT + xRegistry</a:t>
                      </a:r>
                    </a:p>
                  </a:txBody>
                  <a:tcPr marL="73152" marR="73152" marT="27432" marB="27432" anchor="ctr">
                    <a:solidFill>
                      <a:srgbClr val="F4F6F8"/>
                    </a:solidFill>
                  </a:tcPr>
                </a:tc>
                <a:tc>
                  <a:txBody>
                    <a:bodyPr/>
                    <a:lstStyle/>
                    <a:p>
                      <a:r>
                        <a:rPr sz="1100" b="0" i="0">
                          <a:solidFill>
                            <a:srgbClr val="333B44"/>
                          </a:solidFill>
                          <a:latin typeface="Segoe UI"/>
                        </a:rPr>
                        <a:t>One asset, three projections</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8</a:t>
                      </a:r>
                    </a:p>
                  </a:txBody>
                  <a:tcPr marL="73152" marR="73152" marT="27432" marB="27432" anchor="ctr">
                    <a:solidFill>
                      <a:srgbClr val="FFFFFF"/>
                    </a:solidFill>
                  </a:tcPr>
                </a:tc>
                <a:tc>
                  <a:txBody>
                    <a:bodyPr/>
                    <a:lstStyle/>
                    <a:p>
                      <a:r>
                        <a:rPr sz="1100" b="0" i="0">
                          <a:solidFill>
                            <a:srgbClr val="333B44"/>
                          </a:solidFill>
                          <a:latin typeface="Segoe UI"/>
                        </a:rPr>
                        <a:t>Media over Data Channels</a:t>
                      </a:r>
                    </a:p>
                  </a:txBody>
                  <a:tcPr marL="73152" marR="73152" marT="27432" marB="27432" anchor="ctr">
                    <a:solidFill>
                      <a:srgbClr val="FFFFFF"/>
                    </a:solidFill>
                  </a:tcPr>
                </a:tc>
                <a:tc>
                  <a:txBody>
                    <a:bodyPr/>
                    <a:lstStyle/>
                    <a:p>
                      <a:r>
                        <a:rPr sz="1100" b="0" i="0">
                          <a:solidFill>
                            <a:srgbClr val="333B44"/>
                          </a:solidFill>
                          <a:latin typeface="Segoe UI"/>
                        </a:rPr>
                        <a:t>Video on an open SecureChannel</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9</a:t>
                      </a:r>
                    </a:p>
                  </a:txBody>
                  <a:tcPr marL="73152" marR="73152" marT="27432" marB="27432" anchor="ctr">
                    <a:solidFill>
                      <a:srgbClr val="F4F6F8"/>
                    </a:solidFill>
                  </a:tcPr>
                </a:tc>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Camera, inference, published result</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10</a:t>
                      </a:r>
                    </a:p>
                  </a:txBody>
                  <a:tcPr marL="73152" marR="73152" marT="27432" marB="27432" anchor="ctr">
                    <a:solidFill>
                      <a:srgbClr val="FFFFFF"/>
                    </a:solidFill>
                  </a:tcPr>
                </a:tc>
                <a:tc>
                  <a:txBody>
                    <a:bodyPr/>
                    <a:lstStyle/>
                    <a:p>
                      <a:r>
                        <a:rPr sz="1100" b="0" i="0">
                          <a:solidFill>
                            <a:srgbClr val="333B44"/>
                          </a:solidFill>
                          <a:latin typeface="Segoe UI"/>
                        </a:rPr>
                        <a:t>AI model loading</a:t>
                      </a:r>
                    </a:p>
                  </a:txBody>
                  <a:tcPr marL="73152" marR="73152" marT="27432" marB="27432" anchor="ctr">
                    <a:solidFill>
                      <a:srgbClr val="FFFFFF"/>
                    </a:solidFill>
                  </a:tcPr>
                </a:tc>
                <a:tc>
                  <a:txBody>
                    <a:bodyPr/>
                    <a:lstStyle/>
                    <a:p>
                      <a:r>
                        <a:rPr sz="1100" b="0" i="0">
                          <a:solidFill>
                            <a:srgbClr val="333B44"/>
                          </a:solidFill>
                          <a:latin typeface="Segoe UI"/>
                        </a:rPr>
                        <a:t>Model lifecycle, provenance, rollout</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1</a:t>
                      </a:r>
                    </a:p>
                  </a:txBody>
                  <a:tcPr marL="73152" marR="73152" marT="27432" marB="27432" anchor="ctr">
                    <a:solidFill>
                      <a:srgbClr val="F4F6F8"/>
                    </a:solidFill>
                  </a:tcPr>
                </a:tc>
                <a:tc>
                  <a:txBody>
                    <a:bodyPr/>
                    <a:lstStyle/>
                    <a:p>
                      <a:r>
                        <a:rPr sz="1100" b="0" i="0">
                          <a:solidFill>
                            <a:srgbClr val="333B44"/>
                          </a:solidFill>
                          <a:latin typeface="Segoe UI"/>
                        </a:rPr>
                        <a:t>OPC UA MCP server</a:t>
                      </a:r>
                    </a:p>
                  </a:txBody>
                  <a:tcPr marL="73152" marR="73152" marT="27432" marB="27432" anchor="ctr">
                    <a:solidFill>
                      <a:srgbClr val="F4F6F8"/>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 open PR,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PR:</a:t>
            </a:r>
            <a:r>
              <a:rPr sz="1700" b="1" i="0">
                <a:solidFill>
                  <a:srgbClr val="002B49"/>
                </a:solidFill>
                <a:latin typeface="Segoe UI"/>
              </a:rPr>
              <a:t> #61 on branch </a:t>
            </a:r>
            <a:r>
              <a:rPr sz="1600" b="1" i="0">
                <a:solidFill>
                  <a:srgbClr val="002B49"/>
                </a:solidFill>
                <a:latin typeface="Consolas"/>
              </a:rPr>
              <a:t>aas-opcua-v3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1.0.0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branch </a:t>
            </a:r>
            <a:r>
              <a:rPr sz="1600" b="1" i="0">
                <a:solidFill>
                  <a:srgbClr val="002B49"/>
                </a:solidFill>
                <a:latin typeface="Consolas"/>
              </a:rPr>
              <a:t>fork/marcschier/ai-model-management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Demo 9 is a walkthrough, not an implementation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only; no stack implementation yet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the semantic contract for a future implementation, not running code today.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server redundancy, and the MCP server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nine with running code, six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Parts 4, 5 errata</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FFFFF"/>
                    </a:solidFill>
                  </a:tcPr>
                </a:tc>
                <a:tc>
                  <a:txBody>
                    <a:bodyPr/>
                    <a:lstStyle/>
                    <a:p>
                      <a:r>
                        <a:rPr sz="1100" b="0" i="0">
                          <a:solidFill>
                            <a:srgbClr val="333B44"/>
                          </a:solidFill>
                          <a:latin typeface="Segoe UI"/>
                        </a:rPr>
                        <a:t>3.0.0</a:t>
                      </a:r>
                    </a:p>
                  </a:txBody>
                  <a:tcPr marL="73152" marR="73152" marT="27432" marB="27432" anchor="ctr">
                    <a:solidFill>
                      <a:srgbClr val="FFFFFF"/>
                    </a:solidFill>
                  </a:tcPr>
                </a:tc>
                <a:tc>
                  <a:txBody>
                    <a:bodyPr/>
                    <a:lstStyle/>
                    <a:p>
                      <a:r>
                        <a:rPr sz="1100" b="0" i="0">
                          <a:solidFill>
                            <a:srgbClr val="333B44"/>
                          </a:solidFill>
                          <a:latin typeface="Segoe UI"/>
                        </a:rPr>
                        <a:t>OPCF — OPC 30270 revision</a:t>
                      </a:r>
                    </a:p>
                  </a:txBody>
                  <a:tcPr marL="73152" marR="73152" marT="27432" marB="27432" anchor="ctr">
                    <a:solidFill>
                      <a:srgbClr val="FFFFFF"/>
                    </a:solidFill>
                  </a:tcPr>
                </a:tc>
                <a:tc>
                  <a:txBody>
                    <a:bodyPr/>
                    <a:lstStyle/>
                    <a:p>
                      <a:r>
                        <a:rPr sz="1100" b="0" i="0">
                          <a:solidFill>
                            <a:srgbClr val="333B44"/>
                          </a:solidFill>
                          <a:latin typeface="Segoe UI"/>
                        </a:rPr>
                        <a:t>Open pull request</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1.0.0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cloud surface</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000" b="0" i="0">
                          <a:solidFill>
                            <a:srgbClr val="002B49"/>
                          </a:solidFill>
                          <a:latin typeface="Consolas"/>
                        </a:rPr>
                        <a:t>Opc.Ua.Robotics</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Twelve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