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Set expectations up front. This is a scratch pad that grew into a coherent body of work: the</a:t>
            </a:r>
          </a:p>
          <a:p>
            <a:r>
              <a:rPr sz="1100">
                <a:latin typeface="Segoe UI"/>
              </a:rPr>
              <a:t>specifications were written against real gaps found while building the .NET Standard stack,</a:t>
            </a:r>
          </a:p>
          <a:p>
            <a:r>
              <a:rPr sz="1100">
                <a:latin typeface="Segoe UI"/>
              </a:rPr>
              <a:t>which is why most of them have running code behind them.</a:t>
            </a:r>
          </a:p>
          <a:p/>
          <a:p>
            <a:r>
              <a:rPr sz="1100">
                <a:latin typeface="Segoe UI"/>
              </a:rPr>
              <a:t>The six under OPC Foundation review — Avro, xRegistry, OpenUSD Parts 1 and 2, WoT Binding and</a:t>
            </a:r>
          </a:p>
          <a:p>
            <a:r>
              <a:rPr sz="1100">
                <a:latin typeface="Segoe UI"/>
              </a:rPr>
              <a:t>WoT Connectivity — moved to the members' repository while the review runs. They are covered</a:t>
            </a:r>
          </a:p>
          <a:p>
            <a:r>
              <a:rPr sz="1100">
                <a:latin typeface="Segoe UI"/>
              </a:rPr>
              <a:t>here at the same depth as the rest.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single most important structural claim in the deck: xRegistry is not one more</a:t>
            </a:r>
          </a:p>
          <a:p>
            <a:r>
              <a:rPr sz="1100">
                <a:latin typeface="Segoe UI"/>
              </a:rPr>
              <a:t>specification, it is the shape the others share.</a:t>
            </a:r>
          </a:p>
          <a:p/>
          <a:p>
            <a:r>
              <a:rPr sz="1100">
                <a:latin typeface="Segoe UI"/>
              </a:rPr>
              <a:t>Read it top down. The base OPC UA AddressSpace is the substrate. xRegistry projects any</a:t>
            </a:r>
          </a:p>
          <a:p>
            <a:r>
              <a:rPr sz="1100">
                <a:latin typeface="Segoe UI"/>
              </a:rPr>
              <a:t>registry onto it — a registry or group is a FolderType, a resource version is a Part 5</a:t>
            </a:r>
          </a:p>
          <a:p>
            <a:r>
              <a:rPr sz="1100">
                <a:latin typeface="Segoe UI"/>
              </a:rPr>
              <a:t>FileType, so a resource is streamed with Open/Read/Close rather than a bespoke method. Every</a:t>
            </a:r>
          </a:p>
          <a:p>
            <a:r>
              <a:rPr sz="1100">
                <a:latin typeface="Segoe UI"/>
              </a:rPr>
              <a:t>domain registry below subtypes that: schema documents, Thing Descriptions, USD artifacts, AAS</a:t>
            </a:r>
          </a:p>
          <a:p>
            <a:r>
              <a:rPr sz="1100">
                <a:latin typeface="Segoe UI"/>
              </a:rPr>
              <a:t>shells. On the right, the encodings sit beside the model rather than under it, because they</a:t>
            </a:r>
          </a:p>
          <a:p>
            <a:r>
              <a:rPr sz="1100">
                <a:latin typeface="Segoe UI"/>
              </a:rPr>
              <a:t>are Part 6 and Part 14 mappings, not address-space content.</a:t>
            </a:r>
          </a:p>
          <a:p/>
          <a:p>
            <a:r>
              <a:rPr sz="1100">
                <a:latin typeface="Segoe UI"/>
              </a:rPr>
              <a:t>The payoff: a client that can browse one registry can browse all of them, and a schema</a:t>
            </a:r>
          </a:p>
          <a:p>
            <a:r>
              <a:rPr sz="1100">
                <a:latin typeface="Segoe UI"/>
              </a:rPr>
              <a:t>registry is not a special case of PubSub.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Use this as the map. Come back to it between trees if the audience loses the thread.</a:t>
            </a:r>
          </a:p>
          <a:p/>
          <a:p>
            <a:r>
              <a:rPr sz="1100">
                <a:latin typeface="Segoe UI"/>
              </a:rPr>
              <a:t>Three things worth saying out loud. First, "Under OPC Foundation review" means submitted and</a:t>
            </a:r>
          </a:p>
          <a:p>
            <a:r>
              <a:rPr sz="1100">
                <a:latin typeface="Segoe UI"/>
              </a:rPr>
              <a:t>being read under member confidentiality — the drafts moved to OPCF-Members/spec-drafts, and</a:t>
            </a:r>
          </a:p>
          <a:p>
            <a:r>
              <a:rPr sz="1100">
                <a:latin typeface="Segoe UI"/>
              </a:rPr>
              <a:t>members can request access. Second, two drafts are aimed at xregistry.org rather than at the</a:t>
            </a:r>
          </a:p>
          <a:p>
            <a:r>
              <a:rPr sz="1100">
                <a:latin typeface="Segoe UI"/>
              </a:rPr>
              <a:t>OPC Foundation, which is why they stay public while the OPC UA parts are under review. Third,</a:t>
            </a:r>
          </a:p>
          <a:p>
            <a:r>
              <a:rPr sz="1100">
                <a:latin typeface="Segoe UI"/>
              </a:rPr>
              <a:t>the demo column is deliberately sparse: nine of the eighteen have no demo yet, and the deck</a:t>
            </a:r>
          </a:p>
          <a:p>
            <a:r>
              <a:rPr sz="1100">
                <a:latin typeface="Segoe UI"/>
              </a:rPr>
              <a:t>shows that rather than hiding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Every demo has a presenter walkthrough and, where the code exists, a runnable PowerShell</a:t>
            </a:r>
          </a:p>
          <a:p>
            <a:r>
              <a:rPr sz="1100">
                <a:latin typeface="Segoe UI"/>
              </a:rPr>
              <a:t>script under decks/demos/. The scripts check prerequisites, build only what they need, start</a:t>
            </a:r>
          </a:p>
          <a:p>
            <a:r>
              <a:rPr sz="1100">
                <a:latin typeface="Segoe UI"/>
              </a:rPr>
              <a:t>the servers, run the client and tear down — so a demo can be run cold on a machine with the</a:t>
            </a:r>
          </a:p>
          <a:p>
            <a:r>
              <a:rPr sz="1100">
                <a:latin typeface="Segoe UI"/>
              </a:rPr>
              <a:t>.NET SDK and a clone of the stack.</a:t>
            </a:r>
          </a:p>
          <a:p/>
          <a:p>
            <a:r>
              <a:rPr sz="1100">
                <a:latin typeface="Segoe UI"/>
              </a:rPr>
              <a:t>The two feature-branch demos print the exact git switch command and refuse to run on a branch</a:t>
            </a:r>
          </a:p>
          <a:p>
            <a:r>
              <a:rPr sz="1100">
                <a:latin typeface="Segoe UI"/>
              </a:rPr>
              <a:t>that lacks the code, rather than failing obscurely halfway through.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problem clause is explicit: OPC UA Secure Conversation is built around whole messages, and the Services above it return whole responses. That shape is right for values, notifications and files, but it cannot say "start sending and keep sending while I grant credit". The draft lists cameras, microphones, log tails, point clouds and firmware streams as examples whose value decays with age. Today those flows are usually solved with RTSP, WebRTC, gRPC or a private socket beside OPC UA. That creates the second security surface the slide names: firewall rules, endpoint discovery, certificates and authorization all become separate from the Session that already governs the device. In reverse-connect deployments the second listener may not even be possible.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specification defines the feature end to end: the AddressSpace model, the Services, the frame format, and the transports that carry the frame. A type becomes streamable by implementing `IDataChannelSourceType`, so an existing companion type does not need a different supertype or a new NodeClass. `HasDataChannel` lets a functional object point to one or more concrete stream endpoints, for example a camera main stream and substream. The Service set opens, modifies and closes exactly one channel at a time, with parameters revised by the Server where a weakened form is still acceptable. Inline transports add the `STR` MessageType inside the already secured body. `opc.quic` and `opc.wt` use the carrier's own multiplexing and datagrams where genuine loss is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Section 3 says the `Hello` and `Acknowledge` handshake is untouched and `ProtocolVersion` is not bumped. That is why discovery and negotiation happen through the model and Services instead of by sending a new frame first. The Client checks for `DataChannelCapabilities` under `ServerCapabilities`; absence means the Server does not support the Service set. `OpenDataChannel` names a source implementing `IDataChannelSourceType` or reached through `HasDataChannel`, carries requested parameters, and receives a `channelId` plus the revised parameters. Only after the response has been handed to the transport may frames for the assigned ChannelId appear. This avoids the interoperability trap called out by the draft: an unrecognized MessageType closes a SecureChannel, so a capable peer must never lead with `STR`.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draft spends substantial space on backpressure because a streaming primitive that can exhaust its receiver is not safe to put under OPC UA security. Credit is maintained per channel and for the whole connection, independently in each direction. Control frames are exempt so a stalled channel can still be reset or granted more credit. Scheduling has two obligations: Service chunks cannot be delayed by more than one maximum-size frame, and no channel can starve another. The state machine makes `Paused` and `Closing` directional, so a half-close in one direction does not destroy a transfer in the other. The loss rule is precise: over TCP, bytes already written to the socket are reliable, so "unreliable" means stale queued frames are discarded before transmission. QUIC or WebTransport datagrams are needed for true in-flight loss.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file banner says this is a working draft for OPC Foundation Working Group submission. It is a combined read over three insertion-ready errata documents: Part 6 transport, Part 4 Services and Part 3 model, with instance declarations and profiles around them. The source also says the errata documents remain authoritative if the combined read differs. The draft's own status note marks numeric NodeIds, StatusCode values and proposed clause numbers as provisional, which is the concrete open question to carry on the slide. The deck frontmatter identifies demo 8 as "Media over Data Channels" and marks it as a feature-branch demo; that matches the notable fact that this draft has a demonstration of media over the already open SecureChannel rather than beside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This demo needs the `origin/data-channels-quic-experimental` branch. The script checks marker</a:t>
            </a:r>
          </a:p>
          <a:p>
            <a:r>
              <a:rPr sz="1100">
                <a:latin typeface="Segoe UI"/>
              </a:rPr>
              <a:t>paths rather than branch name so a worktree or merged checkout also works, then builds only the</a:t>
            </a:r>
          </a:p>
          <a:p>
            <a:r>
              <a:rPr sz="1100">
                <a:latin typeface="Segoe UI"/>
              </a:rPr>
              <a:t>streaming sample. The important claim is not raw throughput; it is that a real Server and real</a:t>
            </a:r>
          </a:p>
          <a:p>
            <a:r>
              <a:rPr sz="1100">
                <a:latin typeface="Segoe UI"/>
              </a:rPr>
              <a:t>Client create a Session, call OpenDataChannel and carry opaque bytes without a separate media</a:t>
            </a:r>
          </a:p>
          <a:p>
            <a:r>
              <a:rPr sz="1100">
                <a:latin typeface="Segoe UI"/>
              </a:rPr>
              <a:t>trust anchor. If QUIC is unavailable, the TCP leg still proves the service and framing path,</a:t>
            </a:r>
          </a:p>
          <a:p>
            <a:r>
              <a:rPr sz="1100">
                <a:latin typeface="Segoe UI"/>
              </a:rPr>
              <a:t>while the branch documentation explains the QUIC stream binding and its platform limits.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scope says this draft defines OPC UA values as Apache Arrow columnar data: a DataEncoding, a Part 14 batch message mapping, and a historian or ADBC access result mapping. The motivation is not that Binary, XML or JSON are broken; it is that analytics and historian consumers operate on columns and RecordBatches. Without a standard mapping, every publisher, gateway or historian surface translates OPC UA types into Arrow in its own way. The draft also draws a clear boundary: Arrow is for columnar historian access and batch publish/subscribe payloads. OPC UA Actions and action invoke/response messages are excluded from Arrow and are assigned to the Avro mapping instead.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key design is reuse. Section 5 maps every OPC UA DataType to an Arrow `DataType` and serializes values as Arrow IPC. Section 6 uses that same DataType for PubSub DataSet field columns, and Section 7 uses it again for the historian `Value` column. The draft defines a `SchemaId` as the first eight bytes of SHA-256 over the serialized Arrow Schema IPC message bytes, independent of PubSub `ConfigurationVersion`. The Part 14 configuration model receives Arrow-specific MessageSettings DataTypes for WriterGroup, DataSetWriter and DataSetReader, plus enums for IPC format, delta-frame mode and compression. The content types are the standard Arrow stream and file media types.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Arrow PubSub mapping is columnar all the way down. A PublishedDataSet maps to one Arrow schema, with one column per `FieldMetaData` entry. A RecordBatch row is one DataSetMessage sample. The draft is explicit that an Arrow NetworkMessage is one homogeneous RecordBatch whose schema is that DataSet's schema; it does not introduce the fixed Avro envelope that can carry several opaque DataSet payloads. Sparse data uses nullable columns so the column set, schema and SchemaId remain stable. Delta frames can either use nullable columns or an explicit selected-columns mode that changes the column set and therefore the SchemaId. Bare RecordBatch framing omits the schema from the payload, so the SchemaId must be available from metadata, an announcement or a registry before decoding.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Section 7 keeps Historical Access as the normative basis. It does not define a new database wire protocol and does not replace OPC UA Services. An ADBC-style statement is parameterized with HistoryRead inputs: node ids, start and end time, the HistoryRead detail, limits and aggregate parameters where needed. `ExecuteQuery` returns an ArrowArrayStream. The canonical result shape is long form because it is stable for query clients and avoids schema changes when the node set changes. Each row identifies the source `NodeId`, source and server timestamps, the OPC UA value mapped through the same Part 6 Arrow rules, and a `StatusCode`. If a request mixes value DataTypes, the access layer either splits by value type or intentionally uses a Variant-valued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banner says this is a working draft and a standalone companion specification. The status note says it may be added in the OPC UA core numbering range or the Cloud Initiative numbering range, so the precise numbering and registered NodeIds remain open. The draft defines the BrowseNames, type hierarchy and fields for the Part 14 configuration extension, but says NodeIds are assigned by the OPC Foundation when the namespace is registered and are provisional until then. The repository deck overview does not list a demo for Arrow. The important status message for a presenter is that this is already written as a complete mapping across DataEncoding, PubSub batch messages and Historical Access, while still awaiting its final standards home.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draft's problem section uses gateway certificate management as the concrete example: `ApplyChanges` may fan out to many devices and outlast the Client's `timeoutHint`. In current OPC UA, the Client receives a timeout and cannot know whether the Server failed, is still working, or has already caused a non-idempotent effect. Retrying can therefore be dangerous. Existing mechanisms are partial. `Good_CompletesAsynchronously` says processing will finish later but does not tell the Client how to learn the result. Ticket Methods, such as `StartSigningRequest` and `FinishRequest`, solve one specification's problem privately and cannot apply to a general `Write` or `Call` unless every specification invents its own poll method.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central addition is `Complete`, placed in the Session Service Set beside `Cancel`. It uses the same `requestHandle` that identified the original request, so the Server does not mint a ticket and the Client does not store a cookie. A Client opts in by carrying `DeferralRequestHeaderDataType` in `RequestHeader.additionalHeader`; without that, the Server must answer as it does today because a legacy Client could not collect a parked response. The response header carries `RetryAfter` and `ExpiryTime`, while `AsyncServiceCapabilities` publishes `DeferrableServices`, retry floors and parking limits. The events are not decoration: one lets a Client avoid polling, and the audit event records the moment an effect was authorized and the later moment its outcome became known.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Section 4.4 is the draft in one paragraph, and the flow on the slide follows it. A Server that cannot answer in time parks the request and returns the existing `Bad_RequestNotComplete` with a `RetryAfter` hint. Later `Complete` calls use the same request handle. If work is still executing, the Server returns `Bad_RequestNotComplete` again with a fresh hint and enforces `MinRetryAfter` with `Bad_ServerTooBusy` when a Client polls too fast. When the result is ready, `Complete` returns the original Service response, such as `CallResponse` or `WriteResponse`. If the parked Service itself failed, a `CompleteResponse` carries the deferred service result separately from failures of `Complete` itself.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lifecycle clauses are the safety story. Admission is decided before the work starts, and a Server reserves parking capacity before an irreversible effect can leave it with no place to store the outcome. The parked request belongs to the issuing Session; another Session gets `Bad_DeferredRequestUnknown`, not a disclosure that a handle exists. A Session may reconnect on a new SecureChannel, but the Server records the SecurityMode under which the request was parked and refuses a weaker channel with `Bad_SecurityModeInsufficient`. Delivery is also replayable until the response deadline, because the Server cannot know whether a transmitted response reached the Client. `Cancel` and expiry discard the answer; the draft explicitly says they do not imply rollback of a distributed effect.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source banner names OPC 10000-4 Services v1.05.07 and OPC 10000-5 Information Model v1.05.06 as the proposed additions. The status note says the combined document merges two insertion-ready errata: Part 4 Asynchronous Service Execution and Part 5 Asynchronous Service Model. It also says numeric NodeIds, StatusCode values and proposed clause numbers are provisional. The repository overview ties the draft to Mantis 10606, and the deck frontmatter does not list a demo. Present this as a small but important Service-layer correction: it generalizes a pattern OPC UA already uses privately for certificate pull management, but makes it available to any Service a Server advertises as deferrable.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Section 4.1 says Avro targets downstream systems that speak Apache Avro but not OPC UA Binary: stream processors, data lakes, message-bus consumers and hot-path analytics pipelines. Those systems increasingly ingest OPC UA telemetry, but without a standard mapping each deployment builds its own bridge and decides how much OPC UA type information survives. The draft is careful about scope. It does not replace Service request and response encodings over a SecureChannel; normal OPC UA Services continue to use Binary, XML or JSON. Avro applies to DataSet and value payloads, and to PubSub Actions, where action invoke and response messages are DataSetMessages carried over the PubSub mapping.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scope lists the covered OPC UA type model in detail: all built-in DataTypes, Enumerations, OptionSets, Structures, optional fields, Union DataTypes, arrays, matrices, Variant, ExtensionObject, DataValue and DiagnosticInfo. It requires a canonical Avro form and `decode(encode(x)) == x`. The deterministic schema generator reads the OPC UA type model, emits fields in DataTypeDefinition order, applies explicit nullability rules and computes the SchemaId from the Avro Parsing Canonical Form. The PubSub mapping represents NetworkMessages and DataSetMessages as canonical Avro records, with key and delta frames and field representation following `DataSetFieldContentMask`. Unlike Arrow, Avro includes PubSub Action invoke and response messages and Discovery records.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Section 6 is the heart of the mapping. An encoder is not handed an arbitrary foreign schema. It derives the schema from the OPC UA DataTypeDefinition, referenced DataTypes and the concrete runtime types needed for Variant or ExtensionObject values. The schema is made self-contained and canonical before calculating the CRC-64-AVRO Rabin fingerprint, represented as eight little-endian bytes. That SchemaId identifies the exact self-contained Avro Parsing Canonical Form, not a DataType NodeId or PubSub ConfigurationVersion. A decoder resolves by SchemaId from a schema registry or announcement, or re-derives from the AddressSpace or DataSetMetaData. The notes matter because the slide's short pipeline is what lets disconnected consumers decode payloads they did not negotiate through an OPC UA Session.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draft makes evolution narrow. Most Avro unions are closed after generation. The Variant body-type union and ExtensionObject known-struct union are the two places that may grow, and they grow append-only. This matters because Avro binary encodes a union as a branch index followed by the value. If an existing branch moved, old payloads would decode as the wrong type. The procedure is therefore: append the newly observed body form or concrete structured type, leave every existing branch at the same index, recompute SchemaId, advance the DataSet ConfigurationVersion MinorVersion and publish and announce the new schema before sending data that uses the branch. Reordering, removal or retyping is a MajorVersion reset.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source banner identifies this as a working draft companion to OPC 10000-6 and OPC 10000-14, in the base OPC UA namespace. The status note says the standalone companion could land in the OPC UA core numbering range or the Cloud Initiative numbering range. The source path used for this slide deck is under `D:\git\spec-drafts`. The draft ships a generated per-type reference and generated schema documents, but final registered namespace and NodeIds still depend on the standards process. The deck does not list a demo for Avro.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xRegistry source explains the gap by naming the repeated structure: a registry contains groups, groups contain resources, and resources have versions, documents and attributes. Schema registries, asset registries and WoT Thing-Description registries all need that shape. Without a base OPC UA model, each domain would choose its own folder layout, document access method, identifiers and mutation rules, and a generic Client would have to learn each private invention. The draft instead maps the generic xRegistry structure once onto OPC UA folders, files, Properties and Methods. That is why this specification is the spine of the repository: domain registries subtype it rather than rebuilding the same registry grammar.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type table is intentionally small. `RegistryType` and `GroupType` are folders because xRegistry's file and static-file-server representations are directory trees. `ResourceType` is a `FileType`, which is the essential design decision: the document is not hidden behind a custom method, it is read with standard `Open`, `Read` and `Close`. Common xRegistry attributes such as `Xid`, `Epoch`, `Name`, timestamps, `Format` and `ContentType` are Properties. Dynamic labels and extension attributes live in an `AttributesType` container so each key becomes a browsable `PropertyType` Variable, added or removed with explicit Methods. `RegistryCapabilitiesDataType` gives fixed `/capabilities` fields as one typed value, while the raw JSON remains available as a file.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diagram is the normative idea in the overview: a registry and its groups are folders, and each resource or version document is a file. The physical backing can be a real file system or a virtual catalogue, but the OPC UA type system presented to the Client is the same. That gives the mandatory read path. A Client browses the folders to discover groups and resources, then opens the `ResourceType` file and reads its bytes. More capable Servers add registration, attribute updates, export and federation, but a conformant baseline is already useful with Browse and FileTransfer alone. Because every domain registry uses the same base shape, a generic Client can navigate a Schema Registry, an Asset registry or a WoT Thing-Description registry without a different access pattern for each.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base model defines the creation and mutation vocabulary. A registry creates groups with `CreateGroup` or the idempotent `GetOrCreateGroup`; a group creates resources or versions with `CreateResource` or `GetOrCreateResource`; deletion is an entity's own `Delete(ExpectedEpoch)` Method, with `ExpectedEpoch` providing optimistic concurrency. When a resource is created by writing a file, the Server auto-bootstraps the surrounding xRegistry structure: it assigns `Xid`, `Epoch`, timestamps, links the file under the group and the group under the registry, and sets domain-derived attributes. The identity rules matter: every domain companion names a source identity, and `GroupId` or `ResourceId` is a symbolic identifier derived from that identity. A digest such as a SchemaId is version-level metadata, never the stable entity identifier.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xRegistry banner says this is a working draft for submission to the OPC Foundation Working Group, proposed as an OPC 10000-2xx Part with the number to be assigned. It also names the companion namespace and version. The source describes xRegistry as the domain-neutral base for concrete registries such as Schema, Asset, Semantic and WoT Thing-Description registries. In this checkout the public source path named by the deck task is not present, so the content is verified from the corresponding private checkout under `D:\git\spec-drafts`. The open items are the same ones the banner and annex imply: final part number, registered NodeIds and standards review disposition. Demo 7 is the walkthrough where AAS, WoT and xRegistry are shown together.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scope says this document defines how a registry, groups, resources, versions, documents and attributes are discovered, read, created, updated and deleted natively over OPC UA Services while realizing the xRegistry core model on the OPC UA AddressSpace and FileTransfer model. That is why it belongs beside xRegistry's HTTP binding. The information model says what nodes exist; the API binding says how a client uses Browse, BrowseNext, Read, Write, Call, TranslateBrowsePathsToNodeIds and FileTransfer Methods against those nodes. Without this document, every OPC UA Server could expose the same `RegistryType` tree but choose different operation sequences and error mappings, turning the projection back into private convention.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operation model is deliberately boring OPC UA. A collection is a folder, so listing is Browse with continuation points. Metadata is Properties plus the optional `Labels` `AttributesType` container. A resource or version document is a `ResourceType` file, so document bytes use inherited FileTransfer Methods. Creating and resolving groups and resources uses `CreateGroup`, `GetOrCreateGroup`, `CreateResource` and `GetOrCreateResource`; deletion calls `Delete(ExpectedEpoch)` on the group or resource node being removed. The document also defines the distinction between resource metadata and resource document as an operation choice on the same `ResourceType` node, not as a separate base `Meta` object. Annex A does not derive the OPC UA API from HTTP, but it shows the peer correspondence for readers who know the HTTP binding.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file banner states the status and target directly: working draft for submission to the xRegistry project or organization, targeted as `core/opcua.md` or as an xRegistry extension proposal. It is not proposed as an OPC Foundation Part. The document references the OPC UA xRegistry information model as its substrate and then defines a self-contained OPC UA API binding. Its conformance clause distinguishes read-only, writable, export-capable and client conformance, and it requires no node or Method name beyond the base model, OPC 10000-20 or a domain companion specification. The public repository overview summarizes the point: the projection is defined once, on both sides of the boundary, with the OPC UA binding as a peer of xRegistry's HTTP binding.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draft opens with the problem, not the registry. Schema-based encodings such as Apache</a:t>
            </a:r>
          </a:p>
          <a:p>
            <a:r>
              <a:rPr sz="1100">
                <a:latin typeface="Segoe UI"/>
              </a:rPr>
              <a:t>Avro and Apache Arrow require a decoder to obtain the concrete schema document that matches</a:t>
            </a:r>
          </a:p>
          <a:p>
            <a:r>
              <a:rPr sz="1100">
                <a:latin typeface="Segoe UI"/>
              </a:rPr>
              <a:t>the received payload. OPC UA Binary, XML and JSON do not create the same operational gap:</a:t>
            </a:r>
          </a:p>
          <a:p>
            <a:r>
              <a:rPr sz="1100">
                <a:latin typeface="Segoe UI"/>
              </a:rPr>
              <a:t>they are self-describing enough, or can be resolved through the server AddressSpace. Once a</a:t>
            </a:r>
          </a:p>
          <a:p>
            <a:r>
              <a:rPr sz="1100">
                <a:latin typeface="Segoe UI"/>
              </a:rPr>
              <a:t>schema-based payload has left the server in PubSub, a file, a data lake, MQTT, AMQP, Kafka or</a:t>
            </a:r>
          </a:p>
          <a:p>
            <a:r>
              <a:rPr sz="1100">
                <a:latin typeface="Segoe UI"/>
              </a:rPr>
              <a:t>a historian stream, the consumer needs a reference or identifier that retrieves the exact</a:t>
            </a:r>
          </a:p>
          <a:p>
            <a:r>
              <a:rPr sz="1100">
                <a:latin typeface="Segoe UI"/>
              </a:rPr>
              <a:t>writer schema. The specification therefore makes schema resolution a server capability, and</a:t>
            </a:r>
          </a:p>
          <a:p>
            <a:r>
              <a:rPr sz="1100">
                <a:latin typeface="Segoe UI"/>
              </a:rPr>
              <a:t>explicitly says PubSub is a consumer of it rather than a prerequisite.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model is not a private schema table. It is a domain extension of the abstract OPC UA</a:t>
            </a:r>
          </a:p>
          <a:p>
            <a:r>
              <a:rPr sz="1100">
                <a:latin typeface="Segoe UI"/>
              </a:rPr>
              <a:t>xRegistry companion model. The specification states that its registry, group and resource</a:t>
            </a:r>
          </a:p>
          <a:p>
            <a:r>
              <a:rPr sz="1100">
                <a:latin typeface="Segoe UI"/>
              </a:rPr>
              <a:t>types are subtypes of the base RegistryType, GroupType and ResourceType, so the schema model</a:t>
            </a:r>
          </a:p>
          <a:p>
            <a:r>
              <a:rPr sz="1100">
                <a:latin typeface="Segoe UI"/>
              </a:rPr>
              <a:t>inherits the base folder tree, FileTransfer resource shape, labels, auto-bootstrap behavior</a:t>
            </a:r>
          </a:p>
          <a:p>
            <a:r>
              <a:rPr sz="1100">
                <a:latin typeface="Segoe UI"/>
              </a:rPr>
              <a:t>and federation. SchemaRegistryType is exposed as one well-known SchemaRegistry Object under</a:t>
            </a:r>
          </a:p>
          <a:p>
            <a:r>
              <a:rPr sz="1100">
                <a:latin typeface="Segoe UI"/>
              </a:rPr>
              <a:t>the standard Server Object, i=2253. SchemaGroupType represents one OPC UA namespace URI.</a:t>
            </a:r>
          </a:p>
          <a:p>
            <a:r>
              <a:rPr sz="1100">
                <a:latin typeface="Segoe UI"/>
              </a:rPr>
              <a:t>SchemaFileType represents one DataType or PublishedDataSet in one format, and because the</a:t>
            </a:r>
          </a:p>
          <a:p>
            <a:r>
              <a:rPr sz="1100">
                <a:latin typeface="Segoe UI"/>
              </a:rPr>
              <a:t>base ResourceType is a FileType, reading the schema is ordinary Open, Read and Close.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resolution flow is deliberately ordered. If a message carries a SchemaId, the consumer</a:t>
            </a:r>
          </a:p>
          <a:p>
            <a:r>
              <a:rPr sz="1100">
                <a:latin typeface="Segoe UI"/>
              </a:rPr>
              <a:t>resolves that fingerprint before namespace, name or version lookup. The in-server fast path</a:t>
            </a:r>
          </a:p>
          <a:p>
            <a:r>
              <a:rPr sz="1100">
                <a:latin typeface="Segoe UI"/>
              </a:rPr>
              <a:t>constructs an Opaque NodeId in the Schema Registry namespace whose identifier bytes are the</a:t>
            </a:r>
          </a:p>
          <a:p>
            <a:r>
              <a:rPr sz="1100">
                <a:latin typeface="Segoe UI"/>
              </a:rPr>
              <a:t>raw on-wire SchemaId bytes, then reads its Value Attribute. A client may call GetSchema with</a:t>
            </a:r>
          </a:p>
          <a:p>
            <a:r>
              <a:rPr sz="1100">
                <a:latin typeface="Segoe UI"/>
              </a:rPr>
              <a:t>the same bytes instead. If that path fails, the consumer determines the format from the</a:t>
            </a:r>
          </a:p>
          <a:p>
            <a:r>
              <a:rPr sz="1100">
                <a:latin typeface="Segoe UI"/>
              </a:rPr>
              <a:t>transport content type, uses an explicit schema reference when one is carried, or resolves the</a:t>
            </a:r>
          </a:p>
          <a:p>
            <a:r>
              <a:rPr sz="1100">
                <a:latin typeface="Segoe UI"/>
              </a:rPr>
              <a:t>namespace group, schema file and version. The last step is still ordinary FileTransfer over</a:t>
            </a:r>
          </a:p>
          <a:p>
            <a:r>
              <a:rPr sz="1100">
                <a:latin typeface="Segoe UI"/>
              </a:rPr>
              <a:t>the resolved SchemaFileType. The draft also defines federation and compatible-lineage cases,</a:t>
            </a:r>
          </a:p>
          <a:p>
            <a:r>
              <a:rPr sz="1100">
                <a:latin typeface="Segoe UI"/>
              </a:rPr>
              <a:t>but the central mechanic is the SchemaId-first cache miss path.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source is explicit that conformance does not require Part 14. The Schema Registry is a</a:t>
            </a:r>
          </a:p>
          <a:p>
            <a:r>
              <a:rPr sz="1100">
                <a:latin typeface="Segoe UI"/>
              </a:rPr>
              <a:t>stand-alone capability under the Server Object; a Server that does not implement PubSub is a</a:t>
            </a:r>
          </a:p>
          <a:p>
            <a:r>
              <a:rPr sz="1100">
                <a:latin typeface="Segoe UI"/>
              </a:rPr>
              <a:t>fully conformant registry if it exposes the mandatory download and identity units. When a</a:t>
            </a:r>
          </a:p>
          <a:p>
            <a:r>
              <a:rPr sz="1100">
                <a:latin typeface="Segoe UI"/>
              </a:rPr>
              <a:t>Server does implement PubSub, the integration is additive: it may add a reference from the</a:t>
            </a:r>
          </a:p>
          <a:p>
            <a:r>
              <a:rPr sz="1100">
                <a:latin typeface="Segoe UI"/>
              </a:rPr>
              <a:t>PublishSubscribe Object to the same well-known SchemaRegistry Object, and it may apply the</a:t>
            </a:r>
          </a:p>
          <a:p>
            <a:r>
              <a:rPr sz="1100">
                <a:latin typeface="Segoe UI"/>
              </a:rPr>
              <a:t>PubSub DataSet schema profile. That profile correlates DataSet schemas with</a:t>
            </a:r>
          </a:p>
          <a:p>
            <a:r>
              <a:rPr sz="1100">
                <a:latin typeface="Segoe UI"/>
              </a:rPr>
              <a:t>ConfigurationVersion and defines append-only Variant and ExtensionObject schema evolution.</a:t>
            </a:r>
          </a:p>
          <a:p>
            <a:r>
              <a:rPr sz="1100">
                <a:latin typeface="Segoe UI"/>
              </a:rPr>
              <a:t>The registry also serializes to the xRegistry Schema Registry JSON shape through the base</a:t>
            </a:r>
          </a:p>
          <a:p>
            <a:r>
              <a:rPr sz="1100">
                <a:latin typeface="Segoe UI"/>
              </a:rPr>
              <a:t>API, but the draft calls that a representation mapping, not a new transport.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version banner in the source says Working draft for submission to the OPC Foundation</a:t>
            </a:r>
          </a:p>
          <a:p>
            <a:r>
              <a:rPr sz="1100">
                <a:latin typeface="Segoe UI"/>
              </a:rPr>
              <a:t>Working Group, Proposed Part OPC 10000-2xx with the number to be assigned, companion namespace</a:t>
            </a:r>
          </a:p>
          <a:p>
            <a:r>
              <a:rPr sz="1100">
                <a:latin typeface="Segoe UI"/>
              </a:rPr>
              <a:t>http://opcfoundation.org/UA/SchemaRegistry/, and Version 0.5.0 dated 2026-07-31. The status</a:t>
            </a:r>
          </a:p>
          <a:p>
            <a:r>
              <a:rPr sz="1100">
                <a:latin typeface="Segoe UI"/>
              </a:rPr>
              <a:t>box also says all of this is a working draft and nothing is normative or endorsed by the OPC</a:t>
            </a:r>
          </a:p>
          <a:p>
            <a:r>
              <a:rPr sz="1100">
                <a:latin typeface="Segoe UI"/>
              </a:rPr>
              <a:t>Foundation. The Annex shows provisional 62000-range NodeIds for the model, with final NodeIds</a:t>
            </a:r>
          </a:p>
          <a:p>
            <a:r>
              <a:rPr sz="1100">
                <a:latin typeface="Segoe UI"/>
              </a:rPr>
              <a:t>to be assigned by the OPC Foundation. The overview deck's front-matter table lists no demo</a:t>
            </a:r>
          </a:p>
          <a:p>
            <a:r>
              <a:rPr sz="1100">
                <a:latin typeface="Segoe UI"/>
              </a:rPr>
              <a:t>for Schema Registry, so this status slide says plainly that there is no demo yet.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motivation clause says companion specifications describe what a thing is, while getting</a:t>
            </a:r>
          </a:p>
          <a:p>
            <a:r>
              <a:rPr sz="1100">
                <a:latin typeface="Segoe UI"/>
              </a:rPr>
              <a:t>live data into an observability system is a separate and repetitive integration problem.</a:t>
            </a:r>
          </a:p>
          <a:p>
            <a:r>
              <a:rPr sz="1100">
                <a:latin typeface="Segoe UI"/>
              </a:rPr>
              <a:t>Someone must decide which Variables are metrics, which event fields become log records, which</a:t>
            </a:r>
          </a:p>
          <a:p>
            <a:r>
              <a:rPr sz="1100">
                <a:latin typeface="Segoe UI"/>
              </a:rPr>
              <a:t>Program or audit events become spans, and how each is labelled. Today that is usually solved</a:t>
            </a:r>
          </a:p>
          <a:p>
            <a:r>
              <a:rPr sz="1100">
                <a:latin typeface="Segoe UI"/>
              </a:rPr>
              <a:t>by hand-wiring an OPC UA client to a metrics or log agent for each model and project. The</a:t>
            </a:r>
          </a:p>
          <a:p>
            <a:r>
              <a:rPr sz="1100">
                <a:latin typeface="Segoe UI"/>
              </a:rPr>
              <a:t>draft exists so a server advertises these choices as part of the model. A read-only bridge</a:t>
            </a:r>
          </a:p>
          <a:p>
            <a:r>
              <a:rPr sz="1100">
                <a:latin typeface="Segoe UI"/>
              </a:rPr>
              <a:t>discovers the binding, uses classic Subscriptions and Reads or an optional PubSub realization,</a:t>
            </a:r>
          </a:p>
          <a:p>
            <a:r>
              <a:rPr sz="1100">
                <a:latin typeface="Segoe UI"/>
              </a:rPr>
              <a:t>and emits OpenTelemetry without understanding the domain.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information model starts at a server-wide Observability Object of ObservabilityFolderType</a:t>
            </a:r>
          </a:p>
          <a:p>
            <a:r>
              <a:rPr sz="1100">
                <a:latin typeface="Segoe UI"/>
              </a:rPr>
              <a:t>exposed as a component of the standard Server Object. That object is the discovery entry</a:t>
            </a:r>
          </a:p>
          <a:p>
            <a:r>
              <a:rPr sz="1100">
                <a:latin typeface="Segoe UI"/>
              </a:rPr>
              <a:t>point and uses non-hierarchical Collects references to every ObservabilityBindingGroup in the</a:t>
            </a:r>
          </a:p>
          <a:p>
            <a:r>
              <a:rPr sz="1100">
                <a:latin typeface="Segoe UI"/>
              </a:rPr>
              <a:t>Server. Each group anchors the bindings contributed by one companion specification for an</a:t>
            </a:r>
          </a:p>
          <a:p>
            <a:r>
              <a:rPr sz="1100">
                <a:latin typeface="Segoe UI"/>
              </a:rPr>
              <a:t>observable instance and carries CompanionSpecificationUri plus ModelNamespaceUris. Each</a:t>
            </a:r>
          </a:p>
          <a:p>
            <a:r>
              <a:rPr sz="1100">
                <a:latin typeface="Segoe UI"/>
              </a:rPr>
              <a:t>ObservabilityBindingType represents exactly one binding and exactly one signal kind:</a:t>
            </a:r>
          </a:p>
          <a:p>
            <a:r>
              <a:rPr sz="1100">
                <a:latin typeface="Segoe UI"/>
              </a:rPr>
              <a:t>Metrics, Logs or Traces. The binding then lists bound items, either as browsable BoundItem</a:t>
            </a:r>
          </a:p>
          <a:p>
            <a:r>
              <a:rPr sz="1100">
                <a:latin typeface="Segoe UI"/>
              </a:rPr>
              <a:t>objects or as the compact BoundItems array, and those items are Variables for metrics or</a:t>
            </a:r>
          </a:p>
          <a:p>
            <a:r>
              <a:rPr sz="1100">
                <a:latin typeface="Segoe UI"/>
              </a:rPr>
              <a:t>event fields for logs and traces.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informative walkthrough is the operational heart of the draft. A bridge first browses</a:t>
            </a:r>
          </a:p>
          <a:p>
            <a:r>
              <a:rPr sz="1100">
                <a:latin typeface="Segoe UI"/>
              </a:rPr>
              <a:t>Server/Observability, follows Collects to the binding groups, then browses the group's</a:t>
            </a:r>
          </a:p>
          <a:p>
            <a:r>
              <a:rPr sz="1100">
                <a:latin typeface="Segoe UI"/>
              </a:rPr>
              <a:t>ObservabilityBinding children. It recognizes a class by DataSetClassId and signal kind, and</a:t>
            </a:r>
          </a:p>
          <a:p>
            <a:r>
              <a:rPr sz="1100">
                <a:latin typeface="Segoe UI"/>
              </a:rPr>
              <a:t>composes any inherited bindings from subtypes, HasInterface facets and HasAddIn children.</a:t>
            </a:r>
          </a:p>
          <a:p>
            <a:r>
              <a:rPr sz="1100">
                <a:latin typeface="Segoe UI"/>
              </a:rPr>
              <a:t>On the classic path, which is the default and works on a Server with no PubSub surface, it</a:t>
            </a:r>
          </a:p>
          <a:p>
            <a:r>
              <a:rPr sz="1100">
                <a:latin typeface="Segoe UI"/>
              </a:rPr>
              <a:t>resolves DataSetCardinalityPath and each bound-item BrowsePath with</a:t>
            </a:r>
          </a:p>
          <a:p>
            <a:r>
              <a:rPr sz="1100">
                <a:latin typeface="Segoe UI"/>
              </a:rPr>
              <a:t>TranslateBrowsePathsToNodeIds, then creates MonitoredItems for metric Variables or subscribes</a:t>
            </a:r>
          </a:p>
          <a:p>
            <a:r>
              <a:rPr sz="1100">
                <a:latin typeface="Segoe UI"/>
              </a:rPr>
              <a:t>to Events for logs and traces. If a binding is ExportedBy a Part 14 node, the bridge can use</a:t>
            </a:r>
          </a:p>
          <a:p>
            <a:r>
              <a:rPr sz="1100">
                <a:latin typeface="Segoe UI"/>
              </a:rPr>
              <a:t>the PubSub path instead, but the emitted OTEL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draft is designed for adoption by companion specifications. Clause 5.9 says a model may</a:t>
            </a:r>
          </a:p>
          <a:p>
            <a:r>
              <a:rPr sz="1100">
                <a:latin typeface="Segoe UI"/>
              </a:rPr>
              <a:t>apply IObservableType, typically at type level, and contain ObservabilityBindingGroup objects</a:t>
            </a:r>
          </a:p>
          <a:p>
            <a:r>
              <a:rPr sz="1100">
                <a:latin typeface="Segoe UI"/>
              </a:rPr>
              <a:t>directly. Clause 5.12 then makes inheritance uniform across the OPC UA composition axes: a</a:t>
            </a:r>
          </a:p>
          <a:p>
            <a:r>
              <a:rPr sz="1100">
                <a:latin typeface="Segoe UI"/>
              </a:rPr>
              <a:t>subtype inherits bindings from its supertype, a type or component implementing an Interface</a:t>
            </a:r>
          </a:p>
          <a:p>
            <a:r>
              <a:rPr sz="1100">
                <a:latin typeface="Segoe UI"/>
              </a:rPr>
              <a:t>inherits facet bindings, and a host composing an AddIn inherits the AddIn's bindings. The</a:t>
            </a:r>
          </a:p>
          <a:p>
            <a:r>
              <a:rPr sz="1100">
                <a:latin typeface="Segoe UI"/>
              </a:rPr>
              <a:t>composition algorithm re-anchors paths, unions fields, applies override-by-FieldName and</a:t>
            </a:r>
          </a:p>
          <a:p>
            <a:r>
              <a:rPr sz="1100">
                <a:latin typeface="Segoe UI"/>
              </a:rPr>
              <a:t>records base-class provenance with SourceBindingClassId and BaseDataSetClassIds. The</a:t>
            </a:r>
          </a:p>
          <a:p>
            <a:r>
              <a:rPr sz="1100">
                <a:latin typeface="Segoe UI"/>
              </a:rPr>
              <a:t>deliverables clause names per-companion addenda in di, pumps, robotics and facets, with</a:t>
            </a:r>
          </a:p>
          <a:p>
            <a:r>
              <a:rPr sz="1100">
                <a:latin typeface="Segoe UI"/>
              </a:rPr>
              <a:t>generated instance-overlay NodeSets and descriptors.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source banner says this is a working draft for submission to the OPC Foundation Working</a:t>
            </a:r>
          </a:p>
          <a:p>
            <a:r>
              <a:rPr sz="1100">
                <a:latin typeface="Segoe UI"/>
              </a:rPr>
              <a:t>Group, with Proposed Part OPC 10000-2xx, number to be assigned, namespace</a:t>
            </a:r>
          </a:p>
          <a:p>
            <a:r>
              <a:rPr sz="1100">
                <a:latin typeface="Segoe UI"/>
              </a:rPr>
              <a:t>http://opcfoundation.org/UA/ObservabilityExport/, and Version 0.1.0 dated 2026-07-15. The</a:t>
            </a:r>
          </a:p>
          <a:p>
            <a:r>
              <a:rPr sz="1100">
                <a:latin typeface="Segoe UI"/>
              </a:rPr>
              <a:t>status paragraph says all NodeIds are draft identifiers in the specification's namespace and</a:t>
            </a:r>
          </a:p>
          <a:p>
            <a:r>
              <a:rPr sz="1100">
                <a:latin typeface="Segoe UI"/>
              </a:rPr>
              <a:t>that the draft defines a transport-neutral layer served over the classic client/server</a:t>
            </a:r>
          </a:p>
          <a:p>
            <a:r>
              <a:rPr sz="1100">
                <a:latin typeface="Segoe UI"/>
              </a:rPr>
              <a:t>interface and optionally realized over PubSub. The deliverables include the NodeSet, NodeIds</a:t>
            </a:r>
          </a:p>
          <a:p>
            <a:r>
              <a:rPr sz="1100">
                <a:latin typeface="Segoe UI"/>
              </a:rPr>
              <a:t>CSV, generated Annex A, per-companion addenda for pumps, robotics, facets and DI, and</a:t>
            </a:r>
          </a:p>
          <a:p>
            <a:r>
              <a:rPr sz="1100">
                <a:latin typeface="Segoe UI"/>
              </a:rPr>
              <a:t>machine-readable examples. The overview table lists no demo for Observability Export, so the</a:t>
            </a:r>
          </a:p>
          <a:p>
            <a:r>
              <a:rPr sz="1100">
                <a:latin typeface="Segoe UI"/>
              </a:rPr>
              <a:t>status slide says there is no demo yet.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Part 1 draft starts from an integration failure rather than from a graphics feature. Industrial visualizations repeatedly write a bespoke script that maps particular OPC UA NodeIds to particular USD prim attributes. That mapping is invisible to other tools, cannot be discovered, and cannot be reviewed or governed like the rest of the model. The specification calls this the N×M problem: every server and every visualization tool pair can require a new bridge. Part 1 makes the mapping data in the Server address space so a generic connector can browse it and apply it without knowing whether the domain is pumps, robotics, machinery or something else.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model is deliberately thin. The mandatory core is the well-known `Server/OpenUSD` Object, `OpenUsdStageType`, and the `OpenUsdRepresentation` AddIn. The root has `Stages` and `Representations` folders, and optionally `Artifacts` when the Server delivers USD content. A representation carries identity only: the targeted stage and the canonical `PrimPath`. Live bindings are separate children and the intent is their concrete type, such as value-change telemetry, alarm, history or command binding. This lets a Server publish identity alone, add telemetry later, and implement optional command, composition and asset-delivery capabilities only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specification says a conforming Server exposes exactly one well-known Object named `OpenUSD` as a component of the Server Object. Under it, `Stages` organizes the `OpenUsdStageType` instances and `Representations` organizes every representation AddIn in the Server. A connector therefore does not scan the whole address space looking for a convention. It browses `Server/OpenUSD/Representations`, follows `Organizes` to each AddIn, reads the target stage and prim path, and then reads the concrete binding children to learn which OPC UA Variables drive which USD attributes.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Part 1 is strict about both ends of a binding. The source resolves to one OPC UA Variable, preferably by a portable RelativePath or semantic id when a type-level declaration should work across instances or vendors. The target declares the stage, prim path, USD property name and expected `Sdf` type; when a Part 2 materialized scene is the target, a `TargetNodeId` may point directly at the `UsdAttributeType` Variable. The connector validates rather than guessing: no nearest-prim fallback, no first compatible name, and no creation of a property unless an explicit authoring profile permits it. In the reverse direction, command bindings are declared deliberately and actuated only when connector configuration and RolePermissions allow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source specification identifies itself as `Release 0.6.0 — Draft` with namespace `http://opcfoundation.org/UA/OpenUSD/` and publication date 2026-07-31. It is one of the OpenUSD parts under OPC Foundation review and is maintained in `OPCF-Members/spec-drafts` while that review runs. The .NET stack guide says the implemented libraries include the generated model, client connector, server authoring helpers, connector tool and optional viewer under the `Opc.Ua.OpenUsd` package family. The demos that exercise it are the robot cell, where RSL and GPOS values drive a live USD view, and the pump/site composition flow. The spec explicitly reserves Part 14 Actions, PubSub realization and normative geometry/material/skeleton/physics profiles for later work.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Part 2 approaches the OpenUSD problem from the opposite end to Part 1. Part 1 tells an external connector which USD prim represents an OPC UA Object and which Variables drive USD attributes. Part 2 says the composed USD scene itself can be the OPC UA address space. Without that, a client can browse the machine model but cannot browse the prim tree, subscribe to a USD attribute as a normal Variable, or export a composed scene back to `.usd` through a defined contract. The draft makes Stage, Prim, Attribute, Relationship, composition arcs and variants first-class OPC UA nodes.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metaverse README and the Part 2 specification make the contrast explicit. Part 1 keeps the USD scene outside OPC UA and publishes the binding from domain Objects and Variables into that scene. Part 2 brings the composed USD scene graph into the AddressSpace and does not require Part 1. Its model covers `UsdStageType`, `UsdPrimType`, `UsdAttributeType`, `UsdRelationshipType`, composition arcs, variant sets, typed schemas and applied API schemas. The two parts interoperate when both are present, but neither model is a prerequisite for the other, and Part 2's NodeSet requires only the base OPC UA model.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import process opens and composes the USD stage, creates a `UsdStageType`, and then walks the composed prim tree depth first. Each prim becomes a `UsdPrimType` or a more specific typed-schema subtype, each attribute becomes a `UsdAttributeType` Variable, and each relationship becomes a `UsdRelationshipType` with ordered target paths and target references. The draft is explicit that importers do not discard what they do not understand. Unknown typed schemas degrade to the concrete base while retaining `TypeName`; unknown API schemas become generic `UsdApiSchemaType` AddIns carrying `SchemaName`; unknown values retain the exact `UsdTypeName` so export can reproduce them.</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conversion contract is precise. Import to export is composed-scene lossless: the exported composed stage is equivalent prim-for-prim, attribute-for-attribute, relationship-for-relationship, with metadata, variant selections, kind, specifier and the recorded composition arc list preserved. It is not authoring-layer lossless; per-layer opinions, sublayer structure and value clips are summarized as provenance metadata rather than reproduced layer by layer. Live data is the OPC UA addition: a materialized `UsdAttributeType` is just a Variable, so its Value can change, Subscriptions can deliver updates, and HistoryRead can expose a timeline when the Server retains samples.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source banner identifies Part 2 as `Release 0.4.0 — Draft`, namespace `http://opcfoundation.org/UA/OpenUSD/Scene/`, publication date 2026-07-29. Like Part 1, it is under OPC Foundation review in `OPCF-Members/spec-drafts`. The .NET stack guide documents `OPCFoundation.NetStandard.Opc.Ua.OpenUsdScene` and `.OpenUsdScene.Server`, including the scene document model, `.usda` reader/writer, materializer, exporter, discovery and Part 1 interop. The same robot and pump/site demos exercise the OpenUSD flow. The draft reserves value clips, per-layer opinion editing, full UsdShade/UsdLux/UsdSkel/UsdPhysics surfaces and renderer-specific semantics.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Emphasize ownership. The pump server is where the PumpType instances, live simulation, alarms,</a:t>
            </a:r>
          </a:p>
          <a:p>
            <a:r>
              <a:rPr sz="1100">
                <a:latin typeface="Segoe UI"/>
              </a:rPr>
              <a:t>and pump OpenUSD bindings live. The site server does not proxy those nodes and does not cache</a:t>
            </a:r>
          </a:p>
          <a:p>
            <a:r>
              <a:rPr sz="1100">
                <a:latin typeface="Segoe UI"/>
              </a:rPr>
              <a:t>those values; it publishes a site stage and a cross-server component binding that names the</a:t>
            </a:r>
          </a:p>
          <a:p>
            <a:r>
              <a:rPr sz="1100">
                <a:latin typeface="Segoe UI"/>
              </a:rPr>
              <a:t>pump server. When the connector runs with federation enabled, it opens the subordinate endpoint,</a:t>
            </a:r>
          </a:p>
          <a:p>
            <a:r>
              <a:rPr sz="1100">
                <a:latin typeface="Segoe UI"/>
              </a:rPr>
              <a:t>discovers that server's own representations, and writes them into the same stage. The demo is</a:t>
            </a:r>
          </a:p>
          <a:p>
            <a:r>
              <a:rPr sz="1100">
                <a:latin typeface="Segoe UI"/>
              </a:rPr>
              <a:t>about composition as a contract: the site assembles the scene while each machine remains owned by</a:t>
            </a:r>
          </a:p>
          <a:p>
            <a:r>
              <a:rPr sz="1100">
                <a:latin typeface="Segoe UI"/>
              </a:rPr>
              <a:t>the server that actually models and simulates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motivation clause is blunt: existing OPC UA vision and robotics companion specifications do</a:t>
            </a:r>
          </a:p>
          <a:p>
            <a:r>
              <a:rPr sz="1100">
                <a:latin typeface="Segoe UI"/>
              </a:rPr>
              <a:t>not describe the four things a client needs after a camera has looked at something. OPC 40100-1</a:t>
            </a:r>
          </a:p>
          <a:p>
            <a:r>
              <a:rPr sz="1100">
                <a:latin typeface="Segoe UI"/>
              </a:rPr>
              <a:t>can orchestrate a job, but its result content is application-specific. OPC 40100-2 has rich lens</a:t>
            </a:r>
          </a:p>
          <a:p>
            <a:r>
              <a:rPr sz="1100">
                <a:latin typeface="Segoe UI"/>
              </a:rPr>
              <a:t>and lamp vocabulary, but adds no members to its image sensor type. OPC 40010-1 is a robotics</a:t>
            </a:r>
          </a:p>
          <a:p>
            <a:r>
              <a:rPr sz="1100">
                <a:latin typeface="Segoe UI"/>
              </a:rPr>
              <a:t>topology model and has no camera, perception or calibration types. The draft says the consequence</a:t>
            </a:r>
          </a:p>
          <a:p>
            <a:r>
              <a:rPr sz="1100">
                <a:latin typeface="Segoe UI"/>
              </a:rPr>
              <a:t>is bespoke integration: two Servers can conform to existing specifications and still not agree on</a:t>
            </a:r>
          </a:p>
          <a:p>
            <a:r>
              <a:rPr sz="1100">
                <a:latin typeface="Segoe UI"/>
              </a:rPr>
              <a:t>what an inspection result or a grasp pose looks like.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5 groups the model into sensing, media, spatial, AI and outcome. `VisionRootType` is the</a:t>
            </a:r>
          </a:p>
          <a:p>
            <a:r>
              <a:rPr sz="1100">
                <a:latin typeface="Segoe UI"/>
              </a:rPr>
              <a:t>deterministic discovery point under the Server object. `VisionSensorType` is abstract so generic</a:t>
            </a:r>
          </a:p>
          <a:p>
            <a:r>
              <a:rPr sz="1100">
                <a:latin typeface="Segoe UI"/>
              </a:rPr>
              <a:t>clients can work against image, depth and later sensor kinds. `VisionMediaManagementType` owns the</a:t>
            </a:r>
          </a:p>
          <a:p>
            <a:r>
              <a:rPr sz="1100">
                <a:latin typeface="Segoe UI"/>
              </a:rPr>
              <a:t>stream and clip endpoints. `CoordinateFrameType` and calibration types make a pose meaningful.</a:t>
            </a:r>
          </a:p>
          <a:p>
            <a:r>
              <a:rPr sz="1100">
                <a:latin typeface="Segoe UI"/>
              </a:rPr>
              <a:t>`InferencePipelineType` is the bridge to the AI deployment, and the result types define the</a:t>
            </a:r>
          </a:p>
          <a:p>
            <a:r>
              <a:rPr sz="1100">
                <a:latin typeface="Segoe UI"/>
              </a:rPr>
              <a:t>inspection, detection and segmentation content that OPC 40100-1 leaves open. The diagram keeps the</a:t>
            </a:r>
          </a:p>
          <a:p>
            <a:r>
              <a:rPr sz="1100">
                <a:latin typeface="Segoe UI"/>
              </a:rPr>
              <a:t>model's important separation: models and learning jobs are not under Vision; they are reached via</a:t>
            </a:r>
          </a:p>
          <a:p>
            <a:r>
              <a:rPr sz="1100">
                <a:latin typeface="Segoe UI"/>
              </a:rPr>
              <a:t>AI Model Management.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4.2 fixes discovery: a Server exposes one well-known `Vision` object, with `Sensors` as the</a:t>
            </a:r>
          </a:p>
          <a:p>
            <a:r>
              <a:rPr sz="1100">
                <a:latin typeface="Segoe UI"/>
              </a:rPr>
              <a:t>mandatory folder and optional `Pipelines` and `Frames`. Clause 6 is the key mechanics slide. Media</a:t>
            </a:r>
          </a:p>
          <a:p>
            <a:r>
              <a:rPr sz="1100">
                <a:latin typeface="Segoe UI"/>
              </a:rPr>
              <a:t>is obtained out of band; OPC UA describes and controls the endpoint. A Server claiming the base</a:t>
            </a:r>
          </a:p>
          <a:p>
            <a:r>
              <a:rPr sz="1100">
                <a:latin typeface="Segoe UI"/>
              </a:rPr>
              <a:t>media facets offers RTSP for streams and JPEG for clips, while `GetStreamEndpoint` returns a leased</a:t>
            </a:r>
          </a:p>
          <a:p>
            <a:r>
              <a:rPr sz="1100">
                <a:latin typeface="Segoe UI"/>
              </a:rPr>
              <a:t>session URI and expiry rather than publishing credentials as browsable state. The optional inline</a:t>
            </a:r>
          </a:p>
          <a:p>
            <a:r>
              <a:rPr sz="1100">
                <a:latin typeface="Segoe UI"/>
              </a:rPr>
              <a:t>still path is bounded by `MaxByteStringLength`, channel and Session limits. The optional Data</a:t>
            </a:r>
          </a:p>
          <a:p>
            <a:r>
              <a:rPr sz="1100">
                <a:latin typeface="Segoe UI"/>
              </a:rPr>
              <a:t>Channels path is additive and only used by clients that explicitly ask for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banner names this as a working-group draft, Release 0.1.0, with provisional namespace URIs and</a:t>
            </a:r>
          </a:p>
          <a:p>
            <a:r>
              <a:rPr sz="1100">
                <a:latin typeface="Segoe UI"/>
              </a:rPr>
              <a:t>NodeIds. Clause 1.4 says the release covers sensors, media, coordinate frames and calibration,</a:t>
            </a:r>
          </a:p>
          <a:p>
            <a:r>
              <a:rPr sz="1100">
                <a:latin typeface="Segoe UI"/>
              </a:rPr>
              <a:t>inference pipelines, results and feedback, and that the NodeSet declares only the base OPC UA</a:t>
            </a:r>
          </a:p>
          <a:p>
            <a:r>
              <a:rPr sz="1100">
                <a:latin typeface="Segoe UI"/>
              </a:rPr>
              <a:t>namespace as a required model. The status slide should be explicit about the two deferrals in</a:t>
            </a:r>
          </a:p>
          <a:p>
            <a:r>
              <a:rPr sz="1100">
                <a:latin typeface="Segoe UI"/>
              </a:rPr>
              <a:t>clause 1.3: no portable inspection recipe format is defined, and interop with OPC 40100, OPC 40010,</a:t>
            </a:r>
          </a:p>
          <a:p>
            <a:r>
              <a:rPr sz="1100">
                <a:latin typeface="Segoe UI"/>
              </a:rPr>
              <a:t>DI, Machinery or OpenUSD remains optional profile material. For the deck, Demo 9 is only a</a:t>
            </a:r>
          </a:p>
          <a:p>
            <a:r>
              <a:rPr sz="1100">
                <a:latin typeface="Segoe UI"/>
              </a:rPr>
              <a:t>walkthrough of camera, inference and published result; there is no implementation to run yet.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Present this as paper. There is a draft and generated NodeSet in the drafts repository, but no</a:t>
            </a:r>
          </a:p>
          <a:p>
            <a:r>
              <a:rPr sz="1100">
                <a:latin typeface="Segoe UI"/>
              </a:rPr>
              <a:t>stack project or sample Server. The walkthrough fills the gap left by existing OPC UA vision</a:t>
            </a:r>
          </a:p>
          <a:p>
            <a:r>
              <a:rPr sz="1100">
                <a:latin typeface="Segoe UI"/>
              </a:rPr>
              <a:t>work: media location, calibration, inference pipeline and result content are described with a</a:t>
            </a:r>
          </a:p>
          <a:p>
            <a:r>
              <a:rPr sz="1100">
                <a:latin typeface="Segoe UI"/>
              </a:rPr>
              <a:t>standard shape. Tie it to Data Channels carefully. Vision brokers media by reference by</a:t>
            </a:r>
          </a:p>
          <a:p>
            <a:r>
              <a:rPr sz="1100">
                <a:latin typeface="Segoe UI"/>
              </a:rPr>
              <a:t>default; a Data Channel is only an optional in-band path. Tie it to AI Model Management because</a:t>
            </a:r>
          </a:p>
          <a:p>
            <a:r>
              <a:rPr sz="1100">
                <a:latin typeface="Segoe UI"/>
              </a:rPr>
              <a:t>the result is not auditable unless it can point at the deployment and model that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motivation clause separates two gaps. The first is vocabulary: OPC 40010-1 lets a client</a:t>
            </a:r>
          </a:p>
          <a:p>
            <a:r>
              <a:rPr sz="1100">
                <a:latin typeface="Segoe UI"/>
              </a:rPr>
              <a:t>discover a robot's construction, axes, power trains, controller and safety states, but it cannot ask</a:t>
            </a:r>
          </a:p>
          <a:p>
            <a:r>
              <a:rPr sz="1100">
                <a:latin typeface="Segoe UI"/>
              </a:rPr>
              <a:t>the robot to move to a pose. The vendor verbs exist, but only in URScript, RAPID, KRL, TP, INFORM</a:t>
            </a:r>
          </a:p>
          <a:p>
            <a:r>
              <a:rPr sz="1100">
                <a:latin typeface="Segoe UI"/>
              </a:rPr>
              <a:t>and similar languages. The second gap is lifecycle. OPC UA Method results are tied to the Session</a:t>
            </a:r>
          </a:p>
          <a:p>
            <a:r>
              <a:rPr sz="1100">
                <a:latin typeface="Segoe UI"/>
              </a:rPr>
              <a:t>and request; if the Session ends, the result is discarded even when the robot continues to move.</a:t>
            </a:r>
          </a:p>
          <a:p>
            <a:r>
              <a:rPr sz="1100">
                <a:latin typeface="Segoe UI"/>
              </a:rPr>
              <a:t>The draft therefore cannot be one long-running blocking `Call`. It has to admit work and then expose</a:t>
            </a:r>
          </a:p>
          <a:p>
            <a:r>
              <a:rPr sz="1100">
                <a:latin typeface="Segoe UI"/>
              </a:rPr>
              <a:t>a stateful operation the client observes.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5 gives the type hierarchy. The root holds controllers, and a controller holds the folders a</a:t>
            </a:r>
          </a:p>
          <a:p>
            <a:r>
              <a:rPr sz="1100">
                <a:latin typeface="Segoe UI"/>
              </a:rPr>
              <a:t>client browses: capabilities, frames, tools, locations, axes, intents and missions. The key design is</a:t>
            </a:r>
          </a:p>
          <a:p>
            <a:r>
              <a:rPr sz="1100">
                <a:latin typeface="Segoe UI"/>
              </a:rPr>
              <a:t>that the verbs are a DataType hierarchy, not one Method per verb. `IntentDataType` is abstract;</a:t>
            </a:r>
          </a:p>
          <a:p>
            <a:r>
              <a:rPr sz="1100">
                <a:latin typeface="Segoe UI"/>
              </a:rPr>
              <a:t>motion, process and manipulation requests derive from it, so a mission step and a single submitted</a:t>
            </a:r>
          </a:p>
          <a:p>
            <a:r>
              <a:rPr sz="1100">
                <a:latin typeface="Segoe UI"/>
              </a:rPr>
              <a:t>intent carry the same shape. Each admitted submission becomes an `IntentOperationType`, a subtype of</a:t>
            </a:r>
          </a:p>
          <a:p>
            <a:r>
              <a:rPr sz="1100">
                <a:latin typeface="Segoe UI"/>
              </a:rPr>
              <a:t>`ProgramStateMachineType`, and a mission is also a Part 10 program instance. The model adds safety</a:t>
            </a:r>
          </a:p>
          <a:p>
            <a:r>
              <a:rPr sz="1100">
                <a:latin typeface="Segoe UI"/>
              </a:rPr>
              <a:t>reports and real-time channel descriptors without claiming either as its own transport or safety</a:t>
            </a:r>
          </a:p>
          <a:p>
            <a:r>
              <a:rPr sz="1100">
                <a:latin typeface="Segoe UI"/>
              </a:rPr>
              <a:t>function.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6 explains why the operation is a program instance. `SubmitIntent` admits work and returns an</a:t>
            </a:r>
          </a:p>
          <a:p>
            <a:r>
              <a:rPr sz="1100">
                <a:latin typeface="Segoe UI"/>
              </a:rPr>
              <a:t>operation NodeId; the client subscribes to that node for progress and reads the terminal result. The</a:t>
            </a:r>
          </a:p>
          <a:p>
            <a:r>
              <a:rPr sz="1100">
                <a:latin typeface="Segoe UI"/>
              </a:rPr>
              <a:t>`ExecutionStateEnum` refines the Part 10 state so the client can distinguish accepted, queued,</a:t>
            </a:r>
          </a:p>
          <a:p>
            <a:r>
              <a:rPr sz="1100">
                <a:latin typeface="Segoe UI"/>
              </a:rPr>
              <a:t>executing, cancelling and terminal outcomes. Clause 6.2 fixes refusal order and says refusal is an</a:t>
            </a:r>
          </a:p>
          <a:p>
            <a:r>
              <a:rPr sz="1100">
                <a:latin typeface="Segoe UI"/>
              </a:rPr>
              <a:t>ordinary output from `SubmitIntent`, with `Accepted` false and an `IntentFailureEnum`, not a bad</a:t>
            </a:r>
          </a:p>
          <a:p>
            <a:r>
              <a:rPr sz="1100">
                <a:latin typeface="Segoe UI"/>
              </a:rPr>
              <a:t>Service StatusCode. Clause 6.5 is the other essential mechanic: OPC UA `Cancel` cancels an</a:t>
            </a:r>
          </a:p>
          <a:p>
            <a:r>
              <a:rPr sz="1100">
                <a:latin typeface="Segoe UI"/>
              </a:rPr>
              <a:t>outstanding service request; stopping a robot is `CancelIntent`, `CancelMission` or `CancelAll`.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10 says the important thing plainly: this specification defines a non-safety-rated</a:t>
            </a:r>
          </a:p>
          <a:p>
            <a:r>
              <a:rPr sz="1100">
                <a:latin typeface="Segoe UI"/>
              </a:rPr>
              <a:t>application interface. The draft ties that to the technology, not to a policy choice. OPC UA Safety</a:t>
            </a:r>
          </a:p>
          <a:p>
            <a:r>
              <a:rPr sz="1100">
                <a:latin typeface="Segoe UI"/>
              </a:rPr>
              <a:t>carries cyclic safety data, while a Method call has no channel for safety-rated arguments and no</a:t>
            </a:r>
          </a:p>
          <a:p>
            <a:r>
              <a:rPr sz="1100">
                <a:latin typeface="Segoe UI"/>
              </a:rPr>
              <a:t>defined fail-safe behaviour when it stops being called. What the model can do is report the safety</a:t>
            </a:r>
          </a:p>
          <a:p>
            <a:r>
              <a:rPr sz="1100">
                <a:latin typeface="Segoe UI"/>
              </a:rPr>
              <a:t>system's state and refuse work that contradicts it. `SafetyStateType` exposes active functions,</a:t>
            </a:r>
          </a:p>
          <a:p>
            <a:r>
              <a:rPr sz="1100">
                <a:latin typeface="Segoe UI"/>
              </a:rPr>
              <a:t>emergency or protective stops, safe speed limits and whether the safety controller is OK. The Server</a:t>
            </a:r>
          </a:p>
          <a:p>
            <a:r>
              <a:rPr sz="1100">
                <a:latin typeface="Segoe UI"/>
              </a:rPr>
              <a:t>refuses submissions in the wrong operational mode or when the request exceeds an enforced safe speed</a:t>
            </a:r>
          </a:p>
          <a:p>
            <a:r>
              <a:rPr sz="1100">
                <a:latin typeface="Segoe UI"/>
              </a:rPr>
              <a:t>limit.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specification banner states Release 0.1.0 and identifies the NodeSet and NodeIds for the Robot</a:t>
            </a:r>
          </a:p>
          <a:p>
            <a:r>
              <a:rPr sz="1100">
                <a:latin typeface="Segoe UI"/>
              </a:rPr>
              <a:t>Intent model. Clause 1.4 says the release covers the intent vocabulary, lifecycle, queueing,</a:t>
            </a:r>
          </a:p>
          <a:p>
            <a:r>
              <a:rPr sz="1100">
                <a:latin typeface="Segoe UI"/>
              </a:rPr>
              <a:t>blending, cancellation, missions, command authority, safety awareness, kinematics, real-time channel</a:t>
            </a:r>
          </a:p>
          <a:p>
            <a:r>
              <a:rPr sz="1100">
                <a:latin typeface="Segoe UI"/>
              </a:rPr>
              <a:t>brokerage and capability declaration. The implementation is reflected in the stack documentation:</a:t>
            </a:r>
          </a:p>
          <a:p>
            <a:r>
              <a:rPr sz="1100">
                <a:latin typeface="Segoe UI"/>
              </a:rPr>
              <a:t>`Opc.Ua.Robotics` carries the generated models and common contracts, `Opc.Ua.Robotics.Server` carries</a:t>
            </a:r>
          </a:p>
          <a:p>
            <a:r>
              <a:rPr sz="1100">
                <a:latin typeface="Segoe UI"/>
              </a:rPr>
              <a:t>the node managers and hosting extensions, and `Opc.Ua.Robotics.Client` carries discovery and the</a:t>
            </a:r>
          </a:p>
          <a:p>
            <a:r>
              <a:rPr sz="1100">
                <a:latin typeface="Segoe UI"/>
              </a:rPr>
              <a:t>awaitable operation handle. In this deck, demos 2 and 5 exercise 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Start by naming the three companion-model layers in the same server: OPC 40010 Robotics</a:t>
            </a:r>
          </a:p>
          <a:p>
            <a:r>
              <a:rPr sz="1100">
                <a:latin typeface="Segoe UI"/>
              </a:rPr>
              <a:t>describes the robot cell, OPC 10000-210 RSL gives the relative frame chain, and OPC</a:t>
            </a:r>
          </a:p>
          <a:p>
            <a:r>
              <a:rPr sz="1100">
                <a:latin typeface="Segoe UI"/>
              </a:rPr>
              <a:t>10000-211 GPOS gives the global position. Then point at the viewport. The connector is</a:t>
            </a:r>
          </a:p>
          <a:p>
            <a:r>
              <a:rPr sz="1100">
                <a:latin typeface="Segoe UI"/>
              </a:rPr>
              <a:t>generic; it discovers the OpenUSD representations under the Server object and streams</a:t>
            </a:r>
          </a:p>
          <a:p>
            <a:r>
              <a:rPr sz="1100">
                <a:latin typeface="Segoe UI"/>
              </a:rPr>
              <a:t>subscribed OPC UA values into the stage. The important claim is not that a robot can be</a:t>
            </a:r>
          </a:p>
          <a:p>
            <a:r>
              <a:rPr sz="1100">
                <a:latin typeface="Segoe UI"/>
              </a:rPr>
              <a:t>drawn. The claim is that the model, the spatial frame chain, the global position, and the</a:t>
            </a:r>
          </a:p>
          <a:p>
            <a:r>
              <a:rPr sz="1100">
                <a:latin typeface="Segoe UI"/>
              </a:rPr>
              <a:t>visual binding are all browseable OPC UA content, so another client can discover the same</a:t>
            </a:r>
          </a:p>
          <a:p>
            <a:r>
              <a:rPr sz="1100">
                <a:latin typeface="Segoe UI"/>
              </a:rPr>
              <a:t>contract without a private robot-viewer bridge.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presenter should keep the distinction crisp. OPC 40010 describes the robot, while Robot</a:t>
            </a:r>
          </a:p>
          <a:p>
            <a:r>
              <a:rPr sz="1100">
                <a:latin typeface="Segoe UI"/>
              </a:rPr>
              <a:t>Intent commands it with task-level DataTypes and tracks each submission as a Part 10 operation.</a:t>
            </a:r>
          </a:p>
          <a:p>
            <a:r>
              <a:rPr sz="1100">
                <a:latin typeface="Segoe UI"/>
              </a:rPr>
              <a:t>The viewer is a normal OPC UA client: it discovers the controller, reads capabilities and target</a:t>
            </a:r>
          </a:p>
          <a:p>
            <a:r>
              <a:rPr sz="1100">
                <a:latin typeface="Segoe UI"/>
              </a:rPr>
              <a:t>mappings, requests command authority and subscribes to operation state. MCP is just another</a:t>
            </a:r>
          </a:p>
          <a:p>
            <a:r>
              <a:rPr sz="1100">
                <a:latin typeface="Segoe UI"/>
              </a:rPr>
              <a:t>client path over the same services. Emphasize that safety is not commanded here; the server</a:t>
            </a:r>
          </a:p>
          <a:p>
            <a:r>
              <a:rPr sz="1100">
                <a:latin typeface="Segoe UI"/>
              </a:rPr>
              <a:t>observes safety state and refuses work with structured outcomes.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motivation clause states the gap in exactly those terms. A model is an artefact the operator or</a:t>
            </a:r>
          </a:p>
          <a:p>
            <a:r>
              <a:rPr sz="1100">
                <a:latin typeface="Segoe UI"/>
              </a:rPr>
              <a:t>integrator supplies, versions and approves; it is not factory nameplate data and not device firmware.</a:t>
            </a:r>
          </a:p>
          <a:p>
            <a:r>
              <a:rPr sz="1100">
                <a:latin typeface="Segoe UI"/>
              </a:rPr>
              <a:t>Over the life of a machine the same equipment can run several models. Today OPC UA has no common</a:t>
            </a:r>
          </a:p>
          <a:p>
            <a:r>
              <a:rPr sz="1100">
                <a:latin typeface="Segoe UI"/>
              </a:rPr>
              <a:t>model for which artefact ran, what dataset trained it, where it executed, how it was invoked or who</a:t>
            </a:r>
          </a:p>
          <a:p>
            <a:r>
              <a:rPr sz="1100">
                <a:latin typeface="Segoe UI"/>
              </a:rPr>
              <a:t>promoted it. The draft is domain-neutral by construction: `TaskKind` is a string, source kind</a:t>
            </a:r>
          </a:p>
          <a:p>
            <a:r>
              <a:rPr sz="1100">
                <a:latin typeface="Segoe UI"/>
              </a:rPr>
              <a:t>distinguishes real and synthetic data, and the learning loop is usable for vision, vibration,</a:t>
            </a:r>
          </a:p>
          <a:p>
            <a:r>
              <a:rPr sz="1100">
                <a:latin typeface="Segoe UI"/>
              </a:rPr>
              <a:t>soft-sensor and quality models without bringing in any lens or camera vocabulary.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6 lists the core ObjectTypes. `AiRootType` is the entry point with mandatory `Models` and</a:t>
            </a:r>
          </a:p>
          <a:p>
            <a:r>
              <a:rPr sz="1100">
                <a:latin typeface="Segoe UI"/>
              </a:rPr>
              <a:t>`Deployments` folders and optional datasets and jobs. `ModelType` describes a trained artefact; its</a:t>
            </a:r>
          </a:p>
          <a:p>
            <a:r>
              <a:rPr sz="1100">
                <a:latin typeface="Segoe UI"/>
              </a:rPr>
              <a:t>mandatory identity and digest fields make later provenance possible. `DatasetType` describes the</a:t>
            </a:r>
          </a:p>
          <a:p>
            <a:r>
              <a:rPr sz="1100">
                <a:latin typeface="Segoe UI"/>
              </a:rPr>
              <a:t>samples used for training or validation and records whether they are real, synthetic or mixed.</a:t>
            </a:r>
          </a:p>
          <a:p>
            <a:r>
              <a:rPr sz="1100">
                <a:latin typeface="Segoe UI"/>
              </a:rPr>
              <a:t>`DeploymentType` is the executable arrangement, with location, latency and state. `ModelSourceType`</a:t>
            </a:r>
          </a:p>
          <a:p>
            <a:r>
              <a:rPr sz="1100">
                <a:latin typeface="Segoe UI"/>
              </a:rPr>
              <a:t>describes a remote execution site. `LearningJobType`, `ModelImportJobType` and `InferenceJobType` are</a:t>
            </a:r>
          </a:p>
          <a:p>
            <a:r>
              <a:rPr sz="1100">
                <a:latin typeface="Segoe UI"/>
              </a:rPr>
              <a:t>Part 10 jobs. The catalogue types subtype xRegistry's registry, group and resource types rather than</a:t>
            </a:r>
          </a:p>
          <a:p>
            <a:r>
              <a:rPr sz="1100">
                <a:latin typeface="Segoe UI"/>
              </a:rPr>
              <a:t>inventing a private catalogue.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8 makes `DeploymentType` the invocation surface. `Invoke` is the shortcut for payloads that</a:t>
            </a:r>
          </a:p>
          <a:p>
            <a:r>
              <a:rPr sz="1100">
                <a:latin typeface="Segoe UI"/>
              </a:rPr>
              <a:t>fit inline; `MaxInlinePayloadSize` tells the client before it calls whether that path is available.</a:t>
            </a:r>
          </a:p>
          <a:p>
            <a:r>
              <a:rPr sz="1100">
                <a:latin typeface="Segoe UI"/>
              </a:rPr>
              <a:t>`BeginTransfer` creates an `InferenceTransferType` whose request and response are Part 5 `FileType`</a:t>
            </a:r>
          </a:p>
          <a:p>
            <a:r>
              <a:rPr sz="1100">
                <a:latin typeface="Segoe UI"/>
              </a:rPr>
              <a:t>objects, so OPC UA's existing Open/Write/Read/Close mechanics carry large payloads. `InvokeAsync`</a:t>
            </a:r>
          </a:p>
          <a:p>
            <a:r>
              <a:rPr sz="1100">
                <a:latin typeface="Segoe UI"/>
              </a:rPr>
              <a:t>returns an `InferenceJobType` for work that finishes later. Clause 9 then covers a deployment whose</a:t>
            </a:r>
          </a:p>
          <a:p>
            <a:r>
              <a:rPr sz="1100">
                <a:latin typeface="Segoe UI"/>
              </a:rPr>
              <a:t>execution site is remote: the source declares the API dialect, credential reference, capabilities,</a:t>
            </a:r>
          </a:p>
          <a:p>
            <a:r>
              <a:rPr sz="1100">
                <a:latin typeface="Segoe UI"/>
              </a:rPr>
              <a:t>reachability, rate limit and fallback data. The client still calls the deployment through the same</a:t>
            </a:r>
          </a:p>
          <a:p>
            <a:r>
              <a:rPr sz="1100">
                <a:latin typeface="Segoe UI"/>
              </a:rPr>
              <a:t>envelope.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12 says a published result is traceable through the consuming specification's deployment</a:t>
            </a:r>
          </a:p>
          <a:p>
            <a:r>
              <a:rPr sz="1100">
                <a:latin typeface="Segoe UI"/>
              </a:rPr>
              <a:t>property to `DeploymentType`, then through `UsesModel` to `ModelType`, and finally to `Digest`.</a:t>
            </a:r>
          </a:p>
          <a:p>
            <a:r>
              <a:rPr sz="1100">
                <a:latin typeface="Segoe UI"/>
              </a:rPr>
              <a:t>`DigestProvenance` exists because hosted endpoints often cannot provide a hash of the weights that</a:t>
            </a:r>
          </a:p>
          <a:p>
            <a:r>
              <a:rPr sz="1100">
                <a:latin typeface="Segoe UI"/>
              </a:rPr>
              <a:t>answered; absence must be recorded explicitly rather than disguised. Clause 9.3 distinguishes a</a:t>
            </a:r>
          </a:p>
          <a:p>
            <a:r>
              <a:rPr sz="1100">
                <a:latin typeface="Segoe UI"/>
              </a:rPr>
              <a:t>pinned immutable version from a followed reference that can move under the same deployment. Clause 7</a:t>
            </a:r>
          </a:p>
          <a:p>
            <a:r>
              <a:rPr sz="1100">
                <a:latin typeface="Segoe UI"/>
              </a:rPr>
              <a:t>defines the learning loop, with states from idle through collection, labelling, training, validation,</a:t>
            </a:r>
          </a:p>
          <a:p>
            <a:r>
              <a:rPr sz="1100">
                <a:latin typeface="Segoe UI"/>
              </a:rPr>
              <a:t>ready and promoted. The draft treats promotion as the operation that changes equipment behaviour and</a:t>
            </a:r>
          </a:p>
          <a:p>
            <a:r>
              <a:rPr sz="1100">
                <a:latin typeface="Segoe UI"/>
              </a:rPr>
              <a:t>requires authorization distinct from ordinary inference or data collection.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banner identifies Release 0.4.0. Clause 1.3 says the NodeSet requires both base OPC UA and the</a:t>
            </a:r>
          </a:p>
          <a:p>
            <a:r>
              <a:rPr sz="1100">
                <a:latin typeface="Segoe UI"/>
              </a:rPr>
              <a:t>OPC UA xRegistry draft because the model catalogue is a domain extension of the registry model. The</a:t>
            </a:r>
          </a:p>
          <a:p>
            <a:r>
              <a:rPr sz="1100">
                <a:latin typeface="Segoe UI"/>
              </a:rPr>
              <a:t>examples index contains eleven implementation guides: Azure AI Foundry, OpenAI, Amazon Bedrock,</a:t>
            </a:r>
          </a:p>
          <a:p>
            <a:r>
              <a:rPr sz="1100">
                <a:latin typeface="Segoe UI"/>
              </a:rPr>
              <a:t>Amazon SageMaker, NVIDIA NIM, NVIDIA Triton, Google Vertex AI, Hugging Face, KServe/Open Inference</a:t>
            </a:r>
          </a:p>
          <a:p>
            <a:r>
              <a:rPr sz="1100">
                <a:latin typeface="Segoe UI"/>
              </a:rPr>
              <a:t>Protocol, embedded runtimes such as ONNX Runtime and llama.cpp, and another OPC UA Server. The index</a:t>
            </a:r>
          </a:p>
          <a:p>
            <a:r>
              <a:rPr sz="1100">
                <a:latin typeface="Segoe UI"/>
              </a:rPr>
              <a:t>also states the important lesson from those mappings: many hosted systems give no artefact digest,</a:t>
            </a:r>
          </a:p>
          <a:p>
            <a:r>
              <a:rPr sz="1100">
                <a:latin typeface="Segoe UI"/>
              </a:rPr>
              <a:t>so evidence tracks custody. Demo 10 runs from the fork branch named in the deck input.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This demo needs the `fork/marcschier/ai-model-management` branch and does contain a runnable</a:t>
            </a:r>
          </a:p>
          <a:p>
            <a:r>
              <a:rPr sz="1100">
                <a:latin typeface="Segoe UI"/>
              </a:rPr>
              <a:t>sample. The script starts the branch's HTTP verification backend, starts the OPC UA Server and</a:t>
            </a:r>
          </a:p>
          <a:p>
            <a:r>
              <a:rPr sz="1100">
                <a:latin typeface="Segoe UI"/>
              </a:rPr>
              <a:t>runs the sample client. Be clear about what is real: the address space, Methods, provenance,</a:t>
            </a:r>
          </a:p>
          <a:p>
            <a:r>
              <a:rPr sz="1100">
                <a:latin typeface="Segoe UI"/>
              </a:rPr>
              <a:t>transfer path, async job path and OpenAI-compatible bridge are implemented. The backend is a</a:t>
            </a:r>
          </a:p>
          <a:p>
            <a:r>
              <a:rPr sz="1100">
                <a:latin typeface="Segoe UI"/>
              </a:rPr>
              <a:t>test double and the learning loop is simulated; it does not train or promote a real model.</a:t>
            </a:r>
          </a:p>
          <a:p>
            <a:r>
              <a:rPr sz="1100">
                <a:latin typeface="Segoe UI"/>
              </a:rPr>
              <a:t>The proof point is `ModelUsed` and the references that let an auditor trace an answer later.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xRegistry OpenUSD draft begins with USD's asset-resolution gap. A USD layer writes an asset identifier such as `@./pump.usda@` and delegates retrieval to an asset resolver. In practice every deployment invents its own backing store, and those answers do not tell a consumer whether it has all referenced layers, packages, textures, MaterialX documents, volumes and schema plugins. The registry exists to make that set discoverable, verifiable, versioned and federatable. It is proposed to xregistry.org rather than to the OPC Foundation, which is why this document remains in the public repository while the OPC UA OpenUSD parts are under review.</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This is a domain extension of the `core-specs/xregistry` base model, not a new OPC UA companion model. It subtypes the xRegistry concepts by defining OpenUSD-specific groups and resources. Asset Container Groups use the `usdassetgroups` collection and hold the artifacts that compose one scene unit. The resource collection is `usdassets`; a resource is a versioned umbrella over concrete artifact bytes. The `assetidentifier` is required and remains the authored USD identifier, while the `usdassetid` is a symbolic identifier derived from it. `assetkind` records the artifact's role in the composition closure, `dependson` records direct references, and `digest` plus `digestalg` let a consumer verify retrieved bytes.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document title is `OpenUSD Artifact Registry Service - Version 1.0-rc1`. The repository README explains that it is proposed to xregistry.org rather than to the OPC Foundation, so it remains in the public `metaverse-specs/openusd-binding` tree while the two OPC UA OpenUSD parts are reviewed privately. Its relationship to OPC UA is as a peer projection: the same collections, attribute names and identifier rules can appear in an OPC UA AddressSpace where each artifact is read through the OPC UA file-transfer interface. Part 1 uses that shape for optional asset content delivery, but this draft itself is an xRegistry document and API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Binding draft defines how a W3C Thing Description and Thing Model describe an OPC UA</a:t>
            </a:r>
          </a:p>
          <a:p>
            <a:r>
              <a:rPr sz="1100">
                <a:latin typeface="Segoe UI"/>
              </a:rPr>
              <a:t>interface, and how those documents convert to and from NodeSet2. Its problem statement is</a:t>
            </a:r>
          </a:p>
          <a:p>
            <a:r>
              <a:rPr sz="1100">
                <a:latin typeface="Segoe UI"/>
              </a:rPr>
              <a:t>that the published OPC 10101 vocabulary already carries enough metadata for a client to open</a:t>
            </a:r>
          </a:p>
          <a:p>
            <a:r>
              <a:rPr sz="1100">
                <a:latin typeface="Segoe UI"/>
              </a:rPr>
              <a:t>a session and use Read, Write, Observe and Call, but an OPC UA information model contains</a:t>
            </a:r>
          </a:p>
          <a:p>
            <a:r>
              <a:rPr sz="1100">
                <a:latin typeface="Segoe UI"/>
              </a:rPr>
              <a:t>structural facts that are not just endpoint metadata. The draft therefore requires portable</a:t>
            </a:r>
          </a:p>
          <a:p>
            <a:r>
              <a:rPr sz="1100">
                <a:latin typeface="Segoe UI"/>
              </a:rPr>
              <a:t>identifiers and names rather than session-local namespace indexes, and it provides readable</a:t>
            </a:r>
          </a:p>
          <a:p>
            <a:r>
              <a:rPr sz="1100">
                <a:latin typeface="Segoe UI"/>
              </a:rPr>
              <a:t>vocabulary for the model facts that have to survive storage, conversion and review.</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scope section names the three layers. The preserved protocol binding is byte-for-byte</a:t>
            </a:r>
          </a:p>
          <a:p>
            <a:r>
              <a:rPr sz="1100">
                <a:latin typeface="Segoe UI"/>
              </a:rPr>
              <a:t>compatible with the published baseline vocabulary and semantics: a TD can describe how to</a:t>
            </a:r>
          </a:p>
          <a:p>
            <a:r>
              <a:rPr sz="1100">
                <a:latin typeface="Segoe UI"/>
              </a:rPr>
              <a:t>open an OPC UA session, choose security, and Read, Write, Observe or Call an affordance. The</a:t>
            </a:r>
          </a:p>
          <a:p>
            <a:r>
              <a:rPr sz="1100">
                <a:latin typeface="Segoe UI"/>
              </a:rPr>
              <a:t>model and platform vocabulary adds the structural side: composition, references,</a:t>
            </a:r>
          </a:p>
          <a:p>
            <a:r>
              <a:rPr sz="1100">
                <a:latin typeface="Segoe UI"/>
              </a:rPr>
              <a:t>containment, units, scaling, configuration, metadata and modelling rules. The NodeSet2</a:t>
            </a:r>
          </a:p>
          <a:p>
            <a:r>
              <a:rPr sz="1100">
                <a:latin typeface="Segoe UI"/>
              </a:rPr>
              <a:t>conversion makes the readable vocabulary primary, uses `uav:nodes` when the readable terms</a:t>
            </a:r>
          </a:p>
          <a:p>
            <a:r>
              <a:rPr sz="1100">
                <a:latin typeface="Segoe UI"/>
              </a:rPr>
              <a:t>are not complete, and reserves `uav:nodeSet` for explicit byte-exact archival or unsupported</a:t>
            </a:r>
          </a:p>
          <a:p>
            <a:r>
              <a:rPr sz="1100">
                <a:latin typeface="Segoe UI"/>
              </a:rPr>
              <a:t>future constructs.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actual examples in the specification bind the base WoT context, bind `uav` to the OPC UA</a:t>
            </a:r>
          </a:p>
          <a:p>
            <a:r>
              <a:rPr sz="1100">
                <a:latin typeface="Segoe UI"/>
              </a:rPr>
              <a:t>WoT Binding namespace, and then use terms such as `uav:id`, `uav:browseName` and</a:t>
            </a:r>
          </a:p>
          <a:p>
            <a:r>
              <a:rPr sz="1100">
                <a:latin typeface="Segoe UI"/>
              </a:rPr>
              <a:t>`uav:browsePath` on the Thing or affordance. The important rule is portability. A persisted</a:t>
            </a:r>
          </a:p>
          <a:p>
            <a:r>
              <a:rPr sz="1100">
                <a:latin typeface="Segoe UI"/>
              </a:rPr>
              <a:t>readable `uav:id` is an ExpandedNodeId and must not use the session-local `ns=&lt;index&gt;` form;</a:t>
            </a:r>
          </a:p>
          <a:p>
            <a:r>
              <a:rPr sz="1100">
                <a:latin typeface="Segoe UI"/>
              </a:rPr>
              <a:t>a BrowseName can use a context-bound compact prefix or the `nsu=&lt;NamespaceUri&gt;;Name` form.</a:t>
            </a:r>
          </a:p>
          <a:p>
            <a:r>
              <a:rPr sz="1100">
                <a:latin typeface="Segoe UI"/>
              </a:rPr>
              <a:t>The form remains the route to the endpoint and operations, while the `uav` terms describe the</a:t>
            </a:r>
          </a:p>
          <a:p>
            <a:r>
              <a:rPr sz="1100">
                <a:latin typeface="Segoe UI"/>
              </a:rPr>
              <a:t>OPC UA node identity and model meaning that route reaches.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NodeSet conversion clauses make a strong distinction between ordinary readable mapping</a:t>
            </a:r>
          </a:p>
          <a:p>
            <a:r>
              <a:rPr sz="1100">
                <a:latin typeface="Segoe UI"/>
              </a:rPr>
              <a:t>and preservation. A converter emits semantic `uav` terms first. When a source NodeSet carries</a:t>
            </a:r>
          </a:p>
          <a:p>
            <a:r>
              <a:rPr sz="1100">
                <a:latin typeface="Segoe UI"/>
              </a:rPr>
              <a:t>information the readable vocabulary cannot express yet, the complete structured `uav:nodes`</a:t>
            </a:r>
          </a:p>
          <a:p>
            <a:r>
              <a:rPr sz="1100">
                <a:latin typeface="Segoe UI"/>
              </a:rPr>
              <a:t>projection carries the native model facts. The exceptional `uav:nodeSet` envelope is not the</a:t>
            </a:r>
          </a:p>
          <a:p>
            <a:r>
              <a:rPr sz="1100">
                <a:latin typeface="Segoe UI"/>
              </a:rPr>
              <a:t>default path; it is used for explicit byte-exact archival or future unsupported constructs</a:t>
            </a:r>
          </a:p>
          <a:p>
            <a:r>
              <a:rPr sz="1100">
                <a:latin typeface="Segoe UI"/>
              </a:rPr>
              <a:t>and is protected by a digest. The .NET implementation documents the same rule: the converter</a:t>
            </a:r>
          </a:p>
          <a:p>
            <a:r>
              <a:rPr sz="1100">
                <a:latin typeface="Segoe UI"/>
              </a:rPr>
              <a:t>preserves a byte-exact envelope when requested, otherwise uses `uav:nodes` or synthesizes</a:t>
            </a:r>
          </a:p>
          <a:p>
            <a:r>
              <a:rPr sz="1100">
                <a:latin typeface="Segoe UI"/>
              </a:rPr>
              <a:t>NodeSet2 from the readable terms, with invalid terms reported as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specification banner identifies the draft as `Release 1.1-draft3 — Draft`, a standalone</a:t>
            </a:r>
          </a:p>
          <a:p>
            <a:r>
              <a:rPr sz="1100">
                <a:latin typeface="Segoe UI"/>
              </a:rPr>
              <a:t>revision of OPC 10101 v1.00, namespace `http://opcfoundation.org/UA/WoT-Binding/`, prefix</a:t>
            </a:r>
          </a:p>
          <a:p>
            <a:r>
              <a:rPr sz="1100">
                <a:latin typeface="Segoe UI"/>
              </a:rPr>
              <a:t>`uav`, and publication date 2026-07-29. The repository overview says the WoT Binding is under</a:t>
            </a:r>
          </a:p>
          <a:p>
            <a:r>
              <a:rPr sz="1100">
                <a:latin typeface="Segoe UI"/>
              </a:rPr>
              <a:t>OPC Foundation review in `OPCF-Members/spec-drafts`. The .NET stack documents the current</a:t>
            </a:r>
          </a:p>
          <a:p>
            <a:r>
              <a:rPr sz="1100">
                <a:latin typeface="Segoe UI"/>
              </a:rPr>
              <a:t>implementation in `Opc.Ua.Wot.WotNodeSetConverter`, including `uav:nodes`, `uav:nodeSet`,</a:t>
            </a:r>
          </a:p>
          <a:p>
            <a:r>
              <a:rPr sz="1100">
                <a:latin typeface="Segoe UI"/>
              </a:rPr>
              <a:t>residue preservation, Section 6 model vocabulary validation and view projection support; the</a:t>
            </a:r>
          </a:p>
          <a:p>
            <a:r>
              <a:rPr sz="1100">
                <a:latin typeface="Segoe UI"/>
              </a:rPr>
              <a:t>binding runtime also ships HTTP, Modbus, OPC UA and MQTT execution paths for WoT forms.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connectivity draft opens by saying it is registry-first. It stores, validates, versions</a:t>
            </a:r>
          </a:p>
          <a:p>
            <a:r>
              <a:rPr sz="1100">
                <a:latin typeface="Segoe UI"/>
              </a:rPr>
              <a:t>and projects W3C Thing Model and Thing Description documents. The published OPC 10100-1 v1.02</a:t>
            </a:r>
          </a:p>
          <a:p>
            <a:r>
              <a:rPr sz="1100">
                <a:latin typeface="Segoe UI"/>
              </a:rPr>
              <a:t>model exposed a useful asset connection surface, but the draft identifies the documents and</a:t>
            </a:r>
          </a:p>
          <a:p>
            <a:r>
              <a:rPr sz="1100">
                <a:latin typeface="Segoe UI"/>
              </a:rPr>
              <a:t>their versions as the single source of truth. The AddressSpace that a client browses is a</a:t>
            </a:r>
          </a:p>
          <a:p>
            <a:r>
              <a:rPr sz="1100">
                <a:latin typeface="Segoe UI"/>
              </a:rPr>
              <a:t>derived projection: types from Thing Models, instances from Thing Descriptions, references</a:t>
            </a:r>
          </a:p>
          <a:p>
            <a:r>
              <a:rPr sz="1100">
                <a:latin typeface="Segoe UI"/>
              </a:rPr>
              <a:t>from links and monitored values from compiled form plans. That projected model can be rebuilt</a:t>
            </a:r>
          </a:p>
          <a:p>
            <a:r>
              <a:rPr sz="1100">
                <a:latin typeface="Segoe UI"/>
              </a:rPr>
              <a:t>from the stored documents, the pinned vocabulary and the registry model.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banner and scope are explicit that this is an additive revision in the same namespace,</a:t>
            </a:r>
          </a:p>
          <a:p>
            <a:r>
              <a:rPr sz="1100">
                <a:latin typeface="Segoe UI"/>
              </a:rPr>
              <a:t>not a replacement namespace. Revision 1.1 incorporates the full OPC 10100-1 v1.02 model into</a:t>
            </a:r>
          </a:p>
          <a:p>
            <a:r>
              <a:rPr sz="1100">
                <a:latin typeface="Segoe UI"/>
              </a:rPr>
              <a:t>one combined NodeSet, preserving every published NodeId, type and method signature. The 1.02</a:t>
            </a:r>
          </a:p>
          <a:p>
            <a:r>
              <a:rPr sz="1100">
                <a:latin typeface="Segoe UI"/>
              </a:rPr>
              <a:t>surface is not deprecated; it is a conformance profile named WoT-Con Minimal. The draft adds</a:t>
            </a:r>
          </a:p>
          <a:p>
            <a:r>
              <a:rPr sz="1100">
                <a:latin typeface="Segoe UI"/>
              </a:rPr>
              <a:t>the registry-first model beside it, where stored documents and versions are authoritative and</a:t>
            </a:r>
          </a:p>
          <a:p>
            <a:r>
              <a:rPr sz="1100">
                <a:latin typeface="Segoe UI"/>
              </a:rPr>
              <a:t>the AddressSpace is refreshed from them. This is why the same server can serve existing</a:t>
            </a:r>
          </a:p>
          <a:p>
            <a:r>
              <a:rPr sz="1100">
                <a:latin typeface="Segoe UI"/>
              </a:rPr>
              <a:t>clients while giving new clients a registry lifecycle and document API.</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normative node reference states that WoT Connectivity 1.1 extends the abstract OPC UA</a:t>
            </a:r>
          </a:p>
          <a:p>
            <a:r>
              <a:rPr sz="1100">
                <a:latin typeface="Segoe UI"/>
              </a:rPr>
              <a:t>xRegistry base types: `WoTRegistryType` subtypes `RegistryType`, the Thing Description and</a:t>
            </a:r>
          </a:p>
          <a:p>
            <a:r>
              <a:rPr sz="1100">
                <a:latin typeface="Segoe UI"/>
              </a:rPr>
              <a:t>Thing Model groups subtype `GroupType`, and `WoTDocumentType` subtypes `ResourceType`.</a:t>
            </a:r>
          </a:p>
          <a:p>
            <a:r>
              <a:rPr sz="1100">
                <a:latin typeface="Segoe UI"/>
              </a:rPr>
              <a:t>Because `ResourceType` is a FileType, the JSON-LD document bytes are transferred with the</a:t>
            </a:r>
          </a:p>
          <a:p>
            <a:r>
              <a:rPr sz="1100">
                <a:latin typeface="Segoe UI"/>
              </a:rPr>
              <a:t>inherited file methods rather than a new upload protocol. The well-known `WoTRegistry`</a:t>
            </a:r>
          </a:p>
          <a:p>
            <a:r>
              <a:rPr sz="1100">
                <a:latin typeface="Segoe UI"/>
              </a:rPr>
              <a:t>instance is a component of the Server object. Clients discover groups, documents and versions</a:t>
            </a:r>
          </a:p>
          <a:p>
            <a:r>
              <a:rPr sz="1100">
                <a:latin typeface="Segoe UI"/>
              </a:rPr>
              <a:t>there, and then read lifecycle and projection state from the registry and document nodes.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lifecycle section is the mechanics that make the inversion safe. A refresh constructs a</a:t>
            </a:r>
          </a:p>
          <a:p>
            <a:r>
              <a:rPr sz="1100">
                <a:latin typeface="Segoe UI"/>
              </a:rPr>
              <a:t>dependency graph before projection; Thing Descriptions depend on their Thing Models and</a:t>
            </a:r>
          </a:p>
          <a:p>
            <a:r>
              <a:rPr sz="1100">
                <a:latin typeface="Segoe UI"/>
              </a:rPr>
              <a:t>parent links, while Thing Models depend on extended or referenced models. The Binding's local</a:t>
            </a:r>
          </a:p>
          <a:p>
            <a:r>
              <a:rPr sz="1100">
                <a:latin typeface="Segoe UI"/>
              </a:rPr>
              <a:t>context becomes concrete here: the closure of the refresh is searched first and the loaded</a:t>
            </a:r>
          </a:p>
          <a:p>
            <a:r>
              <a:rPr sz="1100">
                <a:latin typeface="Segoe UI"/>
              </a:rPr>
              <a:t>AddressSpace is the fallback. If a desired version is invalid, it remains stored, its failure</a:t>
            </a:r>
          </a:p>
          <a:p>
            <a:r>
              <a:rPr sz="1100">
                <a:latin typeface="Segoe UI"/>
              </a:rPr>
              <a:t>state is visible, and the previous valid projection remains active. Projection is prepared as</a:t>
            </a:r>
          </a:p>
          <a:p>
            <a:r>
              <a:rPr sz="1100">
                <a:latin typeface="Segoe UI"/>
              </a:rPr>
              <a:t>a shadow generation, then switched atomically and retired under a documented graceful or</a:t>
            </a:r>
          </a:p>
          <a:p>
            <a:r>
              <a:rPr sz="1100">
                <a:latin typeface="Segoe UI"/>
              </a:rPr>
              <a:t>immediate policy.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source banner identifies this draft as `Release 1.1-draft3 — Draft`, an additive revision</a:t>
            </a:r>
          </a:p>
          <a:p>
            <a:r>
              <a:rPr sz="1100">
                <a:latin typeface="Segoe UI"/>
              </a:rPr>
              <a:t>of OPC 10100-1 v1.02, namespace `http://opcfoundation.org/UA/WoT-Con/`, publication date</a:t>
            </a:r>
          </a:p>
          <a:p>
            <a:r>
              <a:rPr sz="1100">
                <a:latin typeface="Segoe UI"/>
              </a:rPr>
              <a:t>2026-08-05. Its status line says it is intended for submission to the OPC Foundation Web of</a:t>
            </a:r>
          </a:p>
          <a:p>
            <a:r>
              <a:rPr sz="1100">
                <a:latin typeface="Segoe UI"/>
              </a:rPr>
              <a:t>Things Working Group and is registry-first over the abstract OPC UA xRegistry base model. The</a:t>
            </a:r>
          </a:p>
          <a:p>
            <a:r>
              <a:rPr sz="1100">
                <a:latin typeface="Segoe UI"/>
              </a:rPr>
              <a:t>repository overview says it is under OPC Foundation review in `OPCF-Members/spec-drafts`.</a:t>
            </a:r>
          </a:p>
          <a:p>
            <a:r>
              <a:rPr sz="1100">
                <a:latin typeface="Segoe UI"/>
              </a:rPr>
              <a:t>The annex states that additive registry NodeIds in the `64000+` block are provisional while</a:t>
            </a:r>
          </a:p>
          <a:p>
            <a:r>
              <a:rPr sz="1100">
                <a:latin typeface="Segoe UI"/>
              </a:rPr>
              <a:t>final identifiers are assigned by the OPC Foundation. Demos 4 and 7 exercise this model.</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Present the inversion clearly. The flat tag servers are intentionally unimpressive: they expose</a:t>
            </a:r>
          </a:p>
          <a:p>
            <a:r>
              <a:rPr sz="1100">
                <a:latin typeface="Segoe UI"/>
              </a:rPr>
              <a:t>source values and no Pump companion hierarchy. The Thing Models define DI, Machinery, and Pumps,</a:t>
            </a:r>
          </a:p>
          <a:p>
            <a:r>
              <a:rPr sz="1100">
                <a:latin typeface="Segoe UI"/>
              </a:rPr>
              <a:t>while the Sample Pump Thing Description says where this pump's values come from and where each</a:t>
            </a:r>
          </a:p>
          <a:p>
            <a:r>
              <a:rPr sz="1100">
                <a:latin typeface="Segoe UI"/>
              </a:rPr>
              <a:t>value maps in the projected namespace. The aggregation server stores those documents, refreshes</a:t>
            </a:r>
          </a:p>
          <a:p>
            <a:r>
              <a:rPr sz="1100">
                <a:latin typeface="Segoe UI"/>
              </a:rPr>
              <a:t>their dependency closure, materializes a runtime Pump address space, and binds the variables to</a:t>
            </a:r>
          </a:p>
          <a:p>
            <a:r>
              <a:rPr sz="1100">
                <a:latin typeface="Segoe UI"/>
              </a:rPr>
              <a:t>the upstream OPC UA forms. The client reads through the Pump nodes, not directly from the</a:t>
            </a:r>
          </a:p>
          <a:p>
            <a:r>
              <a:rPr sz="1100">
                <a:latin typeface="Segoe UI"/>
              </a:rPr>
              <a:t>sources, which is why the documents are the source of truth and the address space is a projection.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draft frames a generator set as two things at once: an automation asset with a nameplate,</a:t>
            </a:r>
          </a:p>
          <a:p>
            <a:r>
              <a:rPr sz="1100">
                <a:latin typeface="Segoe UI"/>
              </a:rPr>
              <a:t>health and lifecycle, and a machine built around a prime-mover engine coupled to an</a:t>
            </a:r>
          </a:p>
          <a:p>
            <a:r>
              <a:rPr sz="1100">
                <a:latin typeface="Segoe UI"/>
              </a:rPr>
              <a:t>alternator. The scope says that the engine typically exposes a CAN bus / SAE J1939 interface,</a:t>
            </a:r>
          </a:p>
          <a:p>
            <a:r>
              <a:rPr sz="1100">
                <a:latin typeface="Segoe UI"/>
              </a:rPr>
              <a:t>and the general description says every set exposes broadly the same information: identity,</a:t>
            </a:r>
          </a:p>
          <a:p>
            <a:r>
              <a:rPr sz="1100">
                <a:latin typeface="Segoe UI"/>
              </a:rPr>
              <a:t>ratings, operating state and mode, engine and alternator telemetry, fuel, cooling,</a:t>
            </a:r>
          </a:p>
          <a:p>
            <a:r>
              <a:rPr sz="1100">
                <a:latin typeface="Segoe UI"/>
              </a:rPr>
              <a:t>lubrication, battery status, protections, alarms and start/stop control. The problem is that</a:t>
            </a:r>
          </a:p>
          <a:p>
            <a:r>
              <a:rPr sz="1100">
                <a:latin typeface="Segoe UI"/>
              </a:rPr>
              <a:t>this common information is not standardized for an OPC UA client, especially once the plant</a:t>
            </a:r>
          </a:p>
          <a:p>
            <a:r>
              <a:rPr sz="1100">
                <a:latin typeface="Segoe UI"/>
              </a:rPr>
              <a:t>includes transfer switches, paralleling switchgear and several sets.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model deliberately layers on Devices, Machinery, Alarms and Conditions, and the state</a:t>
            </a:r>
          </a:p>
          <a:p>
            <a:r>
              <a:rPr sz="1100">
                <a:latin typeface="Segoe UI"/>
              </a:rPr>
              <a:t>machine parts of OPC UA rather than inventing a parallel machine model. `GeneratorSetType`</a:t>
            </a:r>
          </a:p>
          <a:p>
            <a:r>
              <a:rPr sz="1100">
                <a:latin typeface="Segoe UI"/>
              </a:rPr>
              <a:t>derives from DI `DeviceType`, so it inherits the ordinary device nameplate and `DeviceHealth`.</a:t>
            </a:r>
          </a:p>
          <a:p>
            <a:r>
              <a:rPr sz="1100">
                <a:latin typeface="Segoe UI"/>
              </a:rPr>
              <a:t>Components such as the engine, alternator, controller and support subsystems derive from DI</a:t>
            </a:r>
          </a:p>
          <a:p>
            <a:r>
              <a:rPr sz="1100">
                <a:latin typeface="Segoe UI"/>
              </a:rPr>
              <a:t>`ComponentType`. The set adds an `Identification` add-in, detailed `OperatingState`, an</a:t>
            </a:r>
          </a:p>
          <a:p>
            <a:r>
              <a:rPr sz="1100">
                <a:latin typeface="Segoe UI"/>
              </a:rPr>
              <a:t>`OperatingMode`, a ratings folder, optional start and stop methods, and an alarm event type.</a:t>
            </a:r>
          </a:p>
          <a:p>
            <a:r>
              <a:rPr sz="1100">
                <a:latin typeface="Segoe UI"/>
              </a:rPr>
              <a:t>A multi-set installation is represented separately by `GeneratorSystemType`, with optional</a:t>
            </a:r>
          </a:p>
          <a:p>
            <a:r>
              <a:rPr sz="1100">
                <a:latin typeface="Segoe UI"/>
              </a:rPr>
              <a:t>transfer switch and paralleling controller content, so a data-center or healthcare plant is</a:t>
            </a:r>
          </a:p>
          <a:p>
            <a:r>
              <a:rPr sz="1100">
                <a:latin typeface="Segoe UI"/>
              </a:rPr>
              <a:t>more than a list of individual generators.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6.2 makes the CAN bus explicit because a generator is part engine with a CAN bus</a:t>
            </a:r>
          </a:p>
          <a:p>
            <a:r>
              <a:rPr sz="1100">
                <a:latin typeface="Segoe UI"/>
              </a:rPr>
              <a:t>interface. `EngineType` exposes the classic engine telemetry and records the SAE J1939 SPN in</a:t>
            </a:r>
          </a:p>
          <a:p>
            <a:r>
              <a:rPr sz="1100">
                <a:latin typeface="Segoe UI"/>
              </a:rPr>
              <a:t>the variable description: speed is SPN 190, oil pressure SPN 100, coolant temperature SPN 110,</a:t>
            </a:r>
          </a:p>
          <a:p>
            <a:r>
              <a:rPr sz="1100">
                <a:latin typeface="Segoe UI"/>
              </a:rPr>
              <a:t>fuel rate SPN 183 and engine hours SPN 247. The `CanInterface` add-in is a</a:t>
            </a:r>
          </a:p>
          <a:p>
            <a:r>
              <a:rPr sz="1100">
                <a:latin typeface="Segoe UI"/>
              </a:rPr>
              <a:t>`J1939DiagnosticInterfaceType` with the protocol name, network parameters, bus state, the four</a:t>
            </a:r>
          </a:p>
          <a:p>
            <a:r>
              <a:rPr sz="1100">
                <a:latin typeface="Segoe UI"/>
              </a:rPr>
              <a:t>DM1 lamp states and arrays for active and previously active diagnostic trouble codes. Each DTC</a:t>
            </a:r>
          </a:p>
          <a:p>
            <a:r>
              <a:rPr sz="1100">
                <a:latin typeface="Segoe UI"/>
              </a:rPr>
              <a:t>carries the SPN, FMI, occurrence count, source address or name, and severity, so a gateway can</a:t>
            </a:r>
          </a:p>
          <a:p>
            <a:r>
              <a:rPr sz="1100">
                <a:latin typeface="Segoe UI"/>
              </a:rPr>
              <a:t>expose engine ECU diagnostics without hiding them behind a vendor-specific register map.</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version banner identifies the document as `Release 1.0.0 — Draft`, with namespace</a:t>
            </a:r>
          </a:p>
          <a:p>
            <a:r>
              <a:rPr sz="1100">
                <a:latin typeface="Segoe UI"/>
              </a:rPr>
              <a:t>`http://opcfoundation.org/UA/Generators/` and publication date 2026-07-01. Its status box</a:t>
            </a:r>
          </a:p>
          <a:p>
            <a:r>
              <a:rPr sz="1100">
                <a:latin typeface="Segoe UI"/>
              </a:rPr>
              <a:t>calls it a working-group draft and names the companion markdown, NodeSet and NodeIds CSV as</a:t>
            </a:r>
          </a:p>
          <a:p>
            <a:r>
              <a:rPr sz="1100">
                <a:latin typeface="Segoe UI"/>
              </a:rPr>
              <a:t>the information model deliverables. The deliverables clause says the NodeSet is generated from</a:t>
            </a:r>
          </a:p>
          <a:p>
            <a:r>
              <a:rPr sz="1100">
                <a:latin typeface="Segoe UI"/>
              </a:rPr>
              <a:t>`tools/build_model.py`, and the reproducibility clause says the generated model has passed</a:t>
            </a:r>
          </a:p>
          <a:p>
            <a:r>
              <a:rPr sz="1100">
                <a:latin typeface="Segoe UI"/>
              </a:rPr>
              <a:t>structural checks, CSV-to-NodeSet consistency, external NodeId resolution and selected OPC</a:t>
            </a:r>
          </a:p>
          <a:p>
            <a:r>
              <a:rPr sz="1100">
                <a:latin typeface="Segoe UI"/>
              </a:rPr>
              <a:t>Foundation modelling-validator checks with zero errors. The front-matter table lists no demo</a:t>
            </a:r>
          </a:p>
          <a:p>
            <a:r>
              <a:rPr sz="1100">
                <a:latin typeface="Segoe UI"/>
              </a:rPr>
              <a:t>for Generators, so the status slide does not imply one exists.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specification identifies itself as Draft 3.00 and says it supersedes OPC 30270 v1.00,</a:t>
            </a:r>
          </a:p>
          <a:p>
            <a:r>
              <a:rPr sz="1100">
                <a:latin typeface="Segoe UI"/>
              </a:rPr>
              <a:t>which mapped the AAS v1.x metamodel. Clause 4.3 explains why this is a breaking revision:</a:t>
            </a:r>
          </a:p>
          <a:p>
            <a:r>
              <a:rPr sz="1100">
                <a:latin typeface="Segoe UI"/>
              </a:rPr>
              <a:t>AAS V3 is not backward compatible with v1.x, `Asset` and `View` no longer exist,</a:t>
            </a:r>
          </a:p>
          <a:p>
            <a:r>
              <a:rPr sz="1100">
                <a:latin typeface="Segoe UI"/>
              </a:rPr>
              <a:t>`AssetInformation` and `SpecificAssetId` are new, the identifier discriminator is gone, and</a:t>
            </a:r>
          </a:p>
          <a:p>
            <a:r>
              <a:rPr sz="1100">
                <a:latin typeface="Segoe UI"/>
              </a:rPr>
              <a:t>the submodel element set has changed. The earlier mapping was not designed to be reversible,</a:t>
            </a:r>
          </a:p>
          <a:p>
            <a:r>
              <a:rPr sz="1100">
                <a:latin typeface="Segoe UI"/>
              </a:rPr>
              <a:t>while this one is lossless in both directions so a source generator can compile an AAS into a</a:t>
            </a:r>
          </a:p>
          <a:p>
            <a:r>
              <a:rPr sz="1100">
                <a:latin typeface="Segoe UI"/>
              </a:rPr>
              <a:t>Server and a client can read it back. The registry half addresses the other missing property:</a:t>
            </a:r>
          </a:p>
          <a:p>
            <a:r>
              <a:rPr sz="1100">
                <a:latin typeface="Segoe UI"/>
              </a:rPr>
              <a:t>the AAS metamodel has a current revision label but no history.</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metamodel half materializes an AAS `Environment` as an `AASEnvironmentType` folder. That</a:t>
            </a:r>
          </a:p>
          <a:p>
            <a:r>
              <a:rPr sz="1100">
                <a:latin typeface="Segoe UI"/>
              </a:rPr>
              <a:t>folder holds shells, submodels and concept descriptions directly, because submodels are not</a:t>
            </a:r>
          </a:p>
          <a:p>
            <a:r>
              <a:rPr sz="1100">
                <a:latin typeface="Segoe UI"/>
              </a:rPr>
              <a:t>owned by the shell that references them and one submodel may be referenced by several shells.</a:t>
            </a:r>
          </a:p>
          <a:p>
            <a:r>
              <a:rPr sz="1100">
                <a:latin typeface="Segoe UI"/>
              </a:rPr>
              <a:t>The shell type carries asset information and references to submodels; the submodel type holds</a:t>
            </a:r>
          </a:p>
          <a:p>
            <a:r>
              <a:rPr sz="1100">
                <a:latin typeface="Segoe UI"/>
              </a:rPr>
              <a:t>its submodel elements; and the concept-description type is the definition a semantic</a:t>
            </a:r>
          </a:p>
          <a:p>
            <a:r>
              <a:rPr sz="1100">
                <a:latin typeface="Segoe UI"/>
              </a:rPr>
              <a:t>identifier resolves to. The element hierarchy covers properties, ranges, files, blobs,</a:t>
            </a:r>
          </a:p>
          <a:p>
            <a:r>
              <a:rPr sz="1100">
                <a:latin typeface="Segoe UI"/>
              </a:rPr>
              <a:t>reference elements, relationship elements, collections, lists, entities, events, operations</a:t>
            </a:r>
          </a:p>
          <a:p>
            <a:r>
              <a:rPr sz="1100">
                <a:latin typeface="Segoe UI"/>
              </a:rPr>
              <a:t>and capabilities. Beside that live tree, `AASRegistryType` is an xRegistry domain extension:</a:t>
            </a:r>
          </a:p>
          <a:p>
            <a:r>
              <a:rPr sz="1100">
                <a:latin typeface="Segoe UI"/>
              </a:rPr>
              <a:t>a registry root, shell groups and file resources for versioned documents.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Clause 5 is the core of the mapping. Instance NodeIds are deterministic String identifiers:</a:t>
            </a:r>
          </a:p>
          <a:p>
            <a:r>
              <a:rPr sz="1100">
                <a:latin typeface="Segoe UI"/>
              </a:rPr>
              <a:t>a shell, submodel or concept description uses its AAS identifier verbatim, and an element uses</a:t>
            </a:r>
          </a:p>
          <a:p>
            <a:r>
              <a:rPr sz="1100">
                <a:latin typeface="Segoe UI"/>
              </a:rPr>
              <a:t>the owner identifier plus `#` and the metamodel's `idShortPath`. Values are represented once,</a:t>
            </a:r>
          </a:p>
          <a:p>
            <a:r>
              <a:rPr sz="1100">
                <a:latin typeface="Segoe UI"/>
              </a:rPr>
              <a:t>in a `Value` Variable whose DataType is the DataType assigned to the declared xsd type; the</a:t>
            </a:r>
          </a:p>
          <a:p>
            <a:r>
              <a:rPr sz="1100">
                <a:latin typeface="Segoe UI"/>
              </a:rPr>
              <a:t>declared `ValueType` remains mandatory even when a value is absent. The specification compares</a:t>
            </a:r>
          </a:p>
          <a:p>
            <a:r>
              <a:rPr sz="1100">
                <a:latin typeface="Segoe UI"/>
              </a:rPr>
              <a:t>values in the XML Schema value space and serializes them back in canonical lexical form, so a</a:t>
            </a:r>
          </a:p>
          <a:p>
            <a:r>
              <a:rPr sz="1100">
                <a:latin typeface="Segoe UI"/>
              </a:rPr>
              <a:t>decimal may return as `1.5` rather than the authored `1.500000` while still being the same</a:t>
            </a:r>
          </a:p>
          <a:p>
            <a:r>
              <a:rPr sz="1100">
                <a:latin typeface="Segoe UI"/>
              </a:rPr>
              <a:t>value. Lists use `HasOrderedComponent` only when order matters and carry an `Index` where a</a:t>
            </a:r>
          </a:p>
          <a:p>
            <a:r>
              <a:rPr sz="1100">
                <a:latin typeface="Segoe UI"/>
              </a:rPr>
              <a:t>lossless round trip needs position. Optional absent and present-but-empty fields are distinct.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AAS folder shows that this effort is more than one companion specification. The OPC UA</a:t>
            </a:r>
          </a:p>
          <a:p>
            <a:r>
              <a:rPr sz="1100">
                <a:latin typeface="Segoe UI"/>
              </a:rPr>
              <a:t>document maps the V3 metamodel onto nodes and includes the AAS Registry as an xRegistry</a:t>
            </a:r>
          </a:p>
          <a:p>
            <a:r>
              <a:rPr sz="1100">
                <a:latin typeface="Segoe UI"/>
              </a:rPr>
              <a:t>domain extension. `xRegistry-AAS.md` is the mirrored xRegistry submission, and</a:t>
            </a:r>
          </a:p>
          <a:p>
            <a:r>
              <a:rPr sz="1100">
                <a:latin typeface="Segoe UI"/>
              </a:rPr>
              <a:t>`AAS-xRegistry-Study.md` explains why the same registry shape is useful: it collapses the AAS</a:t>
            </a:r>
          </a:p>
          <a:p>
            <a:r>
              <a:rPr sz="1100">
                <a:latin typeface="Segoe UI"/>
              </a:rPr>
              <a:t>registry/repository split into xRegistry's document-versus-URL distinction and supplies the</a:t>
            </a:r>
          </a:p>
          <a:p>
            <a:r>
              <a:rPr sz="1100">
                <a:latin typeface="Segoe UI"/>
              </a:rPr>
              <a:t>version history the AAS metamodel does not have. `AAS-JsonLd.md` defines JSON-LD as an</a:t>
            </a:r>
          </a:p>
          <a:p>
            <a:r>
              <a:rPr sz="1100">
                <a:latin typeface="Segoe UI"/>
              </a:rPr>
              <a:t>authored AAS format using the IDTA vocabulary and an ordering graph, so it can export as JSON,</a:t>
            </a:r>
          </a:p>
          <a:p>
            <a:r>
              <a:rPr sz="1100">
                <a:latin typeface="Segoe UI"/>
              </a:rPr>
              <a:t>XML and AASX. Annex F and the folder README connect that authored form to WoT Thing</a:t>
            </a:r>
          </a:p>
          <a:p>
            <a:r>
              <a:rPr sz="1100">
                <a:latin typeface="Segoe UI"/>
              </a:rPr>
              <a:t>Descriptions using the WoT Binding type rule, which is why demo 7 can walk one asset across</a:t>
            </a:r>
          </a:p>
          <a:p>
            <a:r>
              <a:rPr sz="1100">
                <a:latin typeface="Segoe UI"/>
              </a:rPr>
              <a:t>AAS, WoT and xRegistry. `AAS-DPP-Vocabulary.md` maps DPP and battery-passport identifiers into</a:t>
            </a:r>
          </a:p>
          <a:p>
            <a:r>
              <a:rPr sz="1100">
                <a:latin typeface="Segoe UI"/>
              </a:rPr>
              <a:t>RDF resources and disclosure tiers.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version banner says `Draft 3.00` and the status box says this is a revision of OPC 30270</a:t>
            </a:r>
          </a:p>
          <a:p>
            <a:r>
              <a:rPr sz="1100">
                <a:latin typeface="Segoe UI"/>
              </a:rPr>
              <a:t>to version 3.00, not compatible with v1.00 and not normative, official or endorsed. The</a:t>
            </a:r>
          </a:p>
          <a:p>
            <a:r>
              <a:rPr sz="1100">
                <a:latin typeface="Segoe UI"/>
              </a:rPr>
              <a:t>repository folder README identifies `OPC-UA-AAS.md` as OPC 30270 v3.00, the AAS V3 metamodel</a:t>
            </a:r>
          </a:p>
          <a:p>
            <a:r>
              <a:rPr sz="1100">
                <a:latin typeface="Segoe UI"/>
              </a:rPr>
              <a:t>mapped losslessly onto OPC UA together with an AAS Registry built on the abstract xRegistry</a:t>
            </a:r>
          </a:p>
          <a:p>
            <a:r>
              <a:rPr sz="1100">
                <a:latin typeface="Segoe UI"/>
              </a:rPr>
              <a:t>base. It also names the mirrored xRegistry proposal, the AAS JSON-LD mapping, the DPP and</a:t>
            </a:r>
          </a:p>
          <a:p>
            <a:r>
              <a:rPr sz="1100">
                <a:latin typeface="Segoe UI"/>
              </a:rPr>
              <a:t>battery-passport identifier mapping, and the study behind them. GitHub reports PR #61 open</a:t>
            </a:r>
          </a:p>
          <a:p>
            <a:r>
              <a:rPr sz="1100">
                <a:latin typeface="Segoe UI"/>
              </a:rPr>
              <a:t>from `aas-opcua-v3`. Annex F says the Thing Description correspondence depends on the WoT</a:t>
            </a:r>
          </a:p>
          <a:p>
            <a:r>
              <a:rPr sz="1100">
                <a:latin typeface="Segoe UI"/>
              </a:rPr>
              <a:t>Binding and WoT Connectivity drafts as they stood at the document date, so review changes</a:t>
            </a:r>
          </a:p>
          <a:p>
            <a:r>
              <a:rPr sz="1100">
                <a:latin typeface="Segoe UI"/>
              </a:rPr>
              <a:t>there can invalidate that annex. The deck's front matter lists demo 7 as a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Be explicit that this is a walkthrough. The stack has the generic xRegistry base model today:</a:t>
            </a:r>
          </a:p>
          <a:p>
            <a:r>
              <a:rPr sz="1100">
                <a:latin typeface="Segoe UI"/>
              </a:rPr>
              <a:t>registry folders, resource versions as FileType, content identity, fast-path nodes and server</a:t>
            </a:r>
          </a:p>
          <a:p>
            <a:r>
              <a:rPr sz="1100">
                <a:latin typeface="Segoe UI"/>
              </a:rPr>
              <a:t>and client packages. The AAS model, NodeSet, JSON-LD tooling and WoT examples live in the</a:t>
            </a:r>
          </a:p>
          <a:p>
            <a:r>
              <a:rPr sz="1100">
                <a:latin typeface="Segoe UI"/>
              </a:rPr>
              <a:t>drafts repository and have not been integrated into the stack as a runnable Server. The point</a:t>
            </a:r>
          </a:p>
          <a:p>
            <a:r>
              <a:rPr sz="1100">
                <a:latin typeface="Segoe UI"/>
              </a:rPr>
              <a:t>of the slide is the shape: a shell browsed as live nodes, the same shell versioned as a</a:t>
            </a:r>
          </a:p>
          <a:p>
            <a:r>
              <a:rPr sz="1100">
                <a:latin typeface="Segoe UI"/>
              </a:rPr>
              <a:t>registry resource, and a Thing Description that lets a WoT client find the same asset without</a:t>
            </a:r>
          </a:p>
          <a:p>
            <a:r>
              <a:rPr sz="1100">
                <a:latin typeface="Segoe UI"/>
              </a:rPr>
              <a:t>inventing a second identifier.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This slide is the bridge between the specification half of the deck and the demo half. It</a:t>
            </a:r>
          </a:p>
          <a:p>
            <a:r>
              <a:rPr sz="1100">
                <a:latin typeface="Segoe UI"/>
              </a:rPr>
              <a:t>matters because it changes how the drafts should be read.</a:t>
            </a:r>
          </a:p>
          <a:p/>
          <a:p>
            <a:r>
              <a:rPr sz="1100">
                <a:latin typeface="Segoe UI"/>
              </a:rPr>
              <a:t>Every model in this repository that has an implementation was shaped by that implementation.</a:t>
            </a:r>
          </a:p>
          <a:p>
            <a:r>
              <a:rPr sz="1100">
                <a:latin typeface="Segoe UI"/>
              </a:rPr>
              <a:t>The xRegistry base model looks the way it does because three different domain registries were</a:t>
            </a:r>
          </a:p>
          <a:p>
            <a:r>
              <a:rPr sz="1100">
                <a:latin typeface="Segoe UI"/>
              </a:rPr>
              <a:t>built before it was abstracted. The WoT Connectivity inversion — documents canonical, address</a:t>
            </a:r>
          </a:p>
          <a:p>
            <a:r>
              <a:rPr sz="1100">
                <a:latin typeface="Segoe UI"/>
              </a:rPr>
              <a:t>space derived — came from discovering that the published 1.02 ordering could not round-trip.</a:t>
            </a:r>
          </a:p>
          <a:p>
            <a:r>
              <a:rPr sz="1100">
                <a:latin typeface="Segoe UI"/>
              </a:rPr>
              <a:t>Robot Intent has a Part 10 lifecycle rather than a blocking Method because a blocking Method</a:t>
            </a:r>
          </a:p>
          <a:p>
            <a:r>
              <a:rPr sz="1100">
                <a:latin typeface="Segoe UI"/>
              </a:rPr>
              <a:t>was tried first.</a:t>
            </a:r>
          </a:p>
          <a:p/>
          <a:p>
            <a:r>
              <a:rPr sz="1100">
                <a:latin typeface="Segoe UI"/>
              </a:rPr>
              <a:t>The source generators are worth a sentence of their own: a companion model arrives as a</a:t>
            </a:r>
          </a:p>
          <a:p>
            <a:r>
              <a:rPr sz="1100">
                <a:latin typeface="Segoe UI"/>
              </a:rPr>
              <a:t>NodeSet, and the generator emits typed proxies from it, so implementing a draft is mostly</a:t>
            </a:r>
          </a:p>
          <a:p>
            <a:r>
              <a:rPr sz="1100">
                <a:latin typeface="Segoe UI"/>
              </a:rPr>
              <a:t>writing the behaviour rather than the plumbing. That is why the turnaround from draft to</a:t>
            </a:r>
          </a:p>
          <a:p>
            <a:r>
              <a:rPr sz="1100">
                <a:latin typeface="Segoe UI"/>
              </a:rPr>
              <a:t>running sample is short enough to be useful during review.</a:t>
            </a:r>
          </a:p>
          <a:p/>
          <a:p>
            <a:r>
              <a:rPr sz="1100">
                <a:latin typeface="Segoe UI"/>
              </a:rPr>
              <a:t>Point at the two demos in this section. They show the platform rather than a draft, and both</a:t>
            </a:r>
          </a:p>
          <a:p>
            <a:r>
              <a:rPr sz="1100">
                <a:latin typeface="Segoe UI"/>
              </a:rPr>
              <a:t>answer questions an audience will otherwise ask during the specification slides: how do I</a:t>
            </a:r>
          </a:p>
          <a:p>
            <a:r>
              <a:rPr sz="1100">
                <a:latin typeface="Segoe UI"/>
              </a:rPr>
              <a:t>explore any of this, and what happens when the Server dies.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demo is deliberately plain. Start a normal OPC UA Reference Server, then put the MCP server</a:t>
            </a:r>
          </a:p>
          <a:p>
            <a:r>
              <a:rPr sz="1100">
                <a:latin typeface="Segoe UI"/>
              </a:rPr>
              <a:t>beside it. The model sees tools such as Connect, BrowseAll, ReadValue, WriteValue, CallMethod,</a:t>
            </a:r>
          </a:p>
          <a:p>
            <a:r>
              <a:rPr sz="1100">
                <a:latin typeface="Segoe UI"/>
              </a:rPr>
              <a:t>CreateSubscription, CreateMonitoredItems and Publish. It also sees MCP resources for sessions</a:t>
            </a:r>
          </a:p>
          <a:p>
            <a:r>
              <a:rPr sz="1100">
                <a:latin typeface="Segoe UI"/>
              </a:rPr>
              <a:t>and namespace tables. Stress that this does not add an AI protocol to the Server. The Server</a:t>
            </a:r>
          </a:p>
          <a:p>
            <a:r>
              <a:rPr sz="1100">
                <a:latin typeface="Segoe UI"/>
              </a:rPr>
              <a:t>still speaks OPC UA; MCP is a bounded client-side tool surface over the same Part 4 services.</a:t>
            </a:r>
          </a:p>
          <a:p>
            <a:r>
              <a:rPr sz="1100">
                <a:latin typeface="Segoe UI"/>
              </a:rPr>
              <a:t>That is why the same tool can later drive Robot Intent in demo 5.</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This slide is about cost, not magic. A client subscription continues only because the Server</a:t>
            </a:r>
          </a:p>
          <a:p>
            <a:r>
              <a:rPr sz="1100">
                <a:latin typeface="Segoe UI"/>
              </a:rPr>
              <a:t>set publishes redundancy metadata, peers have comparable address spaces, service level gives</a:t>
            </a:r>
          </a:p>
          <a:p>
            <a:r>
              <a:rPr sz="1100">
                <a:latin typeface="Segoe UI"/>
              </a:rPr>
              <a:t>the client a selection signal, shared state lets a standby continue useful values, and the</a:t>
            </a:r>
          </a:p>
          <a:p>
            <a:r>
              <a:rPr sz="1100">
                <a:latin typeface="Segoe UI"/>
              </a:rPr>
              <a:t>managed client has a failover policy. Point out the difference between availability and</a:t>
            </a:r>
          </a:p>
          <a:p>
            <a:r>
              <a:rPr sz="1100">
                <a:latin typeface="Segoe UI"/>
              </a:rPr>
              <a:t>losslessness. The client may log HA OK for preserved state or DATA LOSS for missed samples;</a:t>
            </a:r>
          </a:p>
          <a:p>
            <a:r>
              <a:rPr sz="1100">
                <a:latin typeface="Segoe UI"/>
              </a:rPr>
              <a:t>both are useful because the application sees what happened instead of silently assuming</a:t>
            </a:r>
          </a:p>
          <a:p>
            <a:r>
              <a:rPr sz="1100">
                <a:latin typeface="Segoe UI"/>
              </a:rPr>
              <a:t>continuity.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honest scoreboard. Use it to close, and do not soften it.</a:t>
            </a:r>
          </a:p>
          <a:p/>
          <a:p>
            <a:r>
              <a:rPr sz="1100">
                <a:latin typeface="Segoe UI"/>
              </a:rPr>
              <a:t>Nine of the eighteen have no implementation at all. That is not an oversight — a specification</a:t>
            </a:r>
          </a:p>
          <a:p>
            <a:r>
              <a:rPr sz="1100">
                <a:latin typeface="Segoe UI"/>
              </a:rPr>
              <a:t>written to be implemented later is a different and riskier thing than one extracted from</a:t>
            </a:r>
          </a:p>
          <a:p>
            <a:r>
              <a:rPr sz="1100">
                <a:latin typeface="Segoe UI"/>
              </a:rPr>
              <a:t>working code, and the deck says which is which so a reviewer can weight their reading</a:t>
            </a:r>
          </a:p>
          <a:p>
            <a:r>
              <a:rPr sz="1100">
                <a:latin typeface="Segoe UI"/>
              </a:rPr>
              <a:t>accordingly.</a:t>
            </a:r>
          </a:p>
          <a:p/>
          <a:p>
            <a:r>
              <a:rPr sz="1100">
                <a:latin typeface="Segoe UI"/>
              </a:rPr>
              <a:t>Two rows are aimed at xregistry.org rather than at the OPC Foundation: the xRegistry OPC UA</a:t>
            </a:r>
          </a:p>
          <a:p>
            <a:r>
              <a:rPr sz="1100">
                <a:latin typeface="Segoe UI"/>
              </a:rPr>
              <a:t>API and the OpenUSD Artifact Registry Service. They are peers of that project's HTTP binding,</a:t>
            </a:r>
          </a:p>
          <a:p>
            <a:r>
              <a:rPr sz="1100">
                <a:latin typeface="Segoe UI"/>
              </a:rPr>
              <a:t>defined on both sides of the boundary so the projection cannot drift.</a:t>
            </a:r>
          </a:p>
          <a:p/>
          <a:p>
            <a:r>
              <a:rPr sz="1100">
                <a:latin typeface="Segoe UI"/>
              </a:rPr>
              <a:t>Six sit under OPC Foundation member confidentiality while the review runs, which is why they</a:t>
            </a:r>
          </a:p>
          <a:p>
            <a:r>
              <a:rPr sz="1100">
                <a:latin typeface="Segoe UI"/>
              </a:rPr>
              <a:t>are not in the public repository right now. If someone in the room reviewed one of them there,</a:t>
            </a:r>
          </a:p>
          <a:p>
            <a:r>
              <a:rPr sz="1100">
                <a:latin typeface="Segoe UI"/>
              </a:rPr>
              <a:t>the discussion continues in the members' repository, not here.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Close on this, because the most common reason a draft goes unreviewed is that reviewing it</a:t>
            </a:r>
          </a:p>
          <a:p>
            <a:r>
              <a:rPr sz="1100">
                <a:latin typeface="Segoe UI"/>
              </a:rPr>
              <a:t>looks like work.</a:t>
            </a:r>
          </a:p>
          <a:p/>
          <a:p>
            <a:r>
              <a:rPr sz="1100">
                <a:latin typeface="Segoe UI"/>
              </a:rPr>
              <a:t>The left column is the ordinary open-source path, with one repository-specific rule that</a:t>
            </a:r>
          </a:p>
          <a:p>
            <a:r>
              <a:rPr sz="1100">
                <a:latin typeface="Segoe UI"/>
              </a:rPr>
              <a:t>catches everyone the first time: most specifications here are generated from a single source</a:t>
            </a:r>
          </a:p>
          <a:p>
            <a:r>
              <a:rPr sz="1100">
                <a:latin typeface="Segoe UI"/>
              </a:rPr>
              <a:t>of truth, so hand-editing a NodeSet or a NodeId CSV is the most common way to break the</a:t>
            </a:r>
          </a:p>
          <a:p>
            <a:r>
              <a:rPr sz="1100">
                <a:latin typeface="Segoe UI"/>
              </a:rPr>
              <a:t>repository. Edit the descriptor or the build script and regenerate.</a:t>
            </a:r>
          </a:p>
          <a:p/>
          <a:p>
            <a:r>
              <a:rPr sz="1100">
                <a:latin typeface="Segoe UI"/>
              </a:rPr>
              <a:t>The right column is the part worth emphasising to a working-group audience, who are used to</a:t>
            </a:r>
          </a:p>
          <a:p>
            <a:r>
              <a:rPr sz="1100">
                <a:latin typeface="Segoe UI"/>
              </a:rPr>
              <a:t>reviewing Word documents. Attach a marked-up `.docx` to an issue, a maintainer applies the</a:t>
            </a:r>
          </a:p>
          <a:p>
            <a:r>
              <a:rPr sz="1100">
                <a:latin typeface="Segoe UI"/>
              </a:rPr>
              <a:t>`word-review` label, and the tracked changes become a pull request diff with the comments as</a:t>
            </a:r>
          </a:p>
          <a:p>
            <a:r>
              <a:rPr sz="1100">
                <a:latin typeface="Segoe UI"/>
              </a:rPr>
              <a:t>a review on it. Nothing about how a reviewer gives feedback has to change.</a:t>
            </a:r>
          </a:p>
          <a:p/>
          <a:p>
            <a:r>
              <a:rPr sz="1100">
                <a:latin typeface="Segoe UI"/>
              </a:rPr>
              <a:t>Say the security sentence out loud. Only a maintainer can apply a label, so running an agent</a:t>
            </a:r>
          </a:p>
          <a:p>
            <a:r>
              <a:rPr sz="1100">
                <a:latin typeface="Segoe UI"/>
              </a:rPr>
              <a:t>is always a deliberate decision; the agent has no write credential, is handed the issue text</a:t>
            </a:r>
          </a:p>
          <a:p>
            <a:r>
              <a:rPr sz="1100">
                <a:latin typeface="Segoe UI"/>
              </a:rPr>
              <a:t>as a file marked untrusted rather than as instructions, and can only propose changes under the</a:t>
            </a:r>
          </a:p>
          <a:p>
            <a:r>
              <a:rPr sz="1100">
                <a:latin typeface="Segoe UI"/>
              </a:rPr>
              <a:t>specification trees.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Segoe UI"/>
              </a:rPr>
              <a:t>The practical close. Leave this on screen while questions run.</a:t>
            </a:r>
          </a:p>
          <a:p/>
          <a:p>
            <a:r>
              <a:rPr sz="1100">
                <a:latin typeface="Segoe UI"/>
              </a:rPr>
              <a:t>Three repositories. The public drafts repository holds twelve of the eighteen plus the Word</a:t>
            </a:r>
          </a:p>
          <a:p>
            <a:r>
              <a:rPr sz="1100">
                <a:latin typeface="Segoe UI"/>
              </a:rPr>
              <a:t>renderings, which are the format a submission is actually reviewed in and are rebuilt</a:t>
            </a:r>
          </a:p>
          <a:p>
            <a:r>
              <a:rPr sz="1100">
                <a:latin typeface="Segoe UI"/>
              </a:rPr>
              <a:t>automatically whenever a specification changes on `main`. The members' repository holds the</a:t>
            </a:r>
          </a:p>
          <a:p>
            <a:r>
              <a:rPr sz="1100">
                <a:latin typeface="Segoe UI"/>
              </a:rPr>
              <a:t>six under review and carries the identical contribution model — same Word round trip, same</a:t>
            </a:r>
          </a:p>
          <a:p>
            <a:r>
              <a:rPr sz="1100">
                <a:latin typeface="Segoe UI"/>
              </a:rPr>
              <a:t>label-driven agents, same validation. The stack repository holds the implementations and the</a:t>
            </a:r>
          </a:p>
          <a:p>
            <a:r>
              <a:rPr sz="1100">
                <a:latin typeface="Segoe UI"/>
              </a:rPr>
              <a:t>samples the demos drive.</a:t>
            </a:r>
          </a:p>
          <a:p/>
          <a:p>
            <a:r>
              <a:rPr sz="1100">
                <a:latin typeface="Segoe UI"/>
              </a:rPr>
              <a:t>If someone asks how to get both specification repositories side by side: clone with</a:t>
            </a:r>
          </a:p>
          <a:p>
            <a:r>
              <a:rPr sz="1100">
                <a:latin typeface="Segoe UI"/>
              </a:rPr>
              <a:t>`--recurse-submodules`, or run `git submodule update --init spec-drafts` in a checkout you</a:t>
            </a:r>
          </a:p>
          <a:p>
            <a:r>
              <a:rPr sz="1100">
                <a:latin typeface="Segoe UI"/>
              </a:rPr>
              <a:t>already have. If they are not a member, nothing changes — only the submodule fetch fails, and</a:t>
            </a:r>
          </a:p>
          <a:p>
            <a:r>
              <a:rPr sz="1100">
                <a:latin typeface="Segoe UI"/>
              </a:rPr>
              <a:t>only if they ask for it.</a:t>
            </a:r>
          </a:p>
          <a:p/>
          <a:p>
            <a:r>
              <a:rPr sz="1100">
                <a:latin typeface="Segoe UI"/>
              </a:rPr>
              <a:t>Finally, the deck itself is a build artifact of the YAML beside it, exactly like the Word</a:t>
            </a:r>
          </a:p>
          <a:p>
            <a:r>
              <a:rPr sz="1100">
                <a:latin typeface="Segoe UI"/>
              </a:rPr>
              <a:t>renderings. If a slide is wrong, fix the YAML and rebuild rather than editing the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103120"/>
            <a:ext cx="1463040" cy="82296"/>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395728"/>
            <a:ext cx="10820095" cy="1554480"/>
          </a:xfrm>
          <a:prstGeom prst="rect">
            <a:avLst/>
          </a:prstGeom>
          <a:noFill/>
        </p:spPr>
        <p:txBody>
          <a:bodyPr wrap="square" lIns="0" rIns="0" tIns="0" bIns="0">
            <a:spAutoFit/>
          </a:bodyPr>
          <a:lstStyle/>
          <a:p>
            <a:r>
              <a:rPr sz="4600" b="1" i="0">
                <a:solidFill>
                  <a:srgbClr val="FFFFFF"/>
                </a:solidFill>
                <a:latin typeface="Segoe UI Semibold"/>
              </a:rPr>
              <a:t>Eighteen OPC UA drafts, and what they run on</a:t>
            </a:r>
          </a:p>
        </p:txBody>
      </p:sp>
      <p:sp>
        <p:nvSpPr>
          <p:cNvPr id="5" name="TextBox 4"/>
          <p:cNvSpPr txBox="1"/>
          <p:nvPr/>
        </p:nvSpPr>
        <p:spPr>
          <a:xfrm>
            <a:off x="685800" y="3858768"/>
            <a:ext cx="10820095" cy="914400"/>
          </a:xfrm>
          <a:prstGeom prst="rect">
            <a:avLst/>
          </a:prstGeom>
          <a:noFill/>
        </p:spPr>
        <p:txBody>
          <a:bodyPr wrap="square" lIns="0" rIns="0" tIns="0" bIns="0">
            <a:spAutoFit/>
          </a:bodyPr>
          <a:lstStyle/>
          <a:p>
            <a:r>
              <a:rPr sz="1900" b="0" i="0">
                <a:solidFill>
                  <a:srgbClr val="4A90C2"/>
                </a:solidFill>
                <a:latin typeface="Segoe UI"/>
              </a:rPr>
              <a:t>Working drafts from </a:t>
            </a:r>
            <a:r>
              <a:rPr sz="1800" b="0" i="0">
                <a:solidFill>
                  <a:srgbClr val="002B49"/>
                </a:solidFill>
                <a:latin typeface="Consolas"/>
              </a:rPr>
              <a:t>marcschier/opcua-drafts</a:t>
            </a:r>
            <a:r>
              <a:rPr sz="1900" b="0" i="0">
                <a:solidFill>
                  <a:srgbClr val="4A90C2"/>
                </a:solidFill>
                <a:latin typeface="Segoe UI"/>
              </a:rPr>
              <a:t> — what each one is, the gap in OPC UA it closes, and ten demos showing them on the OPC UA .NET Standard stack</a:t>
            </a:r>
          </a:p>
        </p:txBody>
      </p:sp>
      <p:sp>
        <p:nvSpPr>
          <p:cNvPr id="6" name="TextBox 5"/>
          <p:cNvSpPr txBox="1"/>
          <p:nvPr/>
        </p:nvSpPr>
        <p:spPr>
          <a:xfrm>
            <a:off x="685800" y="5074920"/>
            <a:ext cx="10820095" cy="292608"/>
          </a:xfrm>
          <a:prstGeom prst="rect">
            <a:avLst/>
          </a:prstGeom>
          <a:noFill/>
        </p:spPr>
        <p:txBody>
          <a:bodyPr wrap="square" lIns="0" rIns="0" tIns="0" bIns="0">
            <a:spAutoFit/>
          </a:bodyPr>
          <a:lstStyle/>
          <a:p>
            <a:r>
              <a:rPr sz="1200" b="0" i="0">
                <a:solidFill>
                  <a:srgbClr val="D5DBE1"/>
                </a:solidFill>
                <a:latin typeface="Segoe UI"/>
              </a:rPr>
              <a:t>Public drafts: github.com/marcschier/opcua-drafts  ·  Under OPC Foundation review: github.com/OPCF-Members/spec-drafts</a:t>
            </a:r>
          </a:p>
        </p:txBody>
      </p:sp>
      <p:sp>
        <p:nvSpPr>
          <p:cNvPr id="7" name="TextBox 6"/>
          <p:cNvSpPr txBox="1"/>
          <p:nvPr/>
        </p:nvSpPr>
        <p:spPr>
          <a:xfrm>
            <a:off x="685800" y="5367528"/>
            <a:ext cx="10820095" cy="292608"/>
          </a:xfrm>
          <a:prstGeom prst="rect">
            <a:avLst/>
          </a:prstGeom>
          <a:noFill/>
        </p:spPr>
        <p:txBody>
          <a:bodyPr wrap="square" lIns="0" rIns="0" tIns="0" bIns="0">
            <a:spAutoFit/>
          </a:bodyPr>
          <a:lstStyle/>
          <a:p>
            <a:r>
              <a:rPr sz="1200" b="0" i="0">
                <a:solidFill>
                  <a:srgbClr val="D5DBE1"/>
                </a:solidFill>
                <a:latin typeface="Segoe UI"/>
              </a:rPr>
              <a:t>Reference implementation: github.com/OPCFoundation/UA-.NETStandard</a:t>
            </a:r>
          </a:p>
        </p:txBody>
      </p:sp>
      <p:sp>
        <p:nvSpPr>
          <p:cNvPr id="8" name="TextBox 7"/>
          <p:cNvSpPr txBox="1"/>
          <p:nvPr/>
        </p:nvSpPr>
        <p:spPr>
          <a:xfrm>
            <a:off x="685800" y="6263640"/>
            <a:ext cx="10820095" cy="365760"/>
          </a:xfrm>
          <a:prstGeom prst="rect">
            <a:avLst/>
          </a:prstGeom>
          <a:noFill/>
        </p:spPr>
        <p:txBody>
          <a:bodyPr wrap="square" lIns="0" rIns="0" tIns="0" bIns="0">
            <a:spAutoFit/>
          </a:bodyPr>
          <a:lstStyle/>
          <a:p>
            <a:r>
              <a:rPr sz="1000" b="0" i="1">
                <a:solidFill>
                  <a:srgbClr val="6B7480"/>
                </a:solidFill>
                <a:latin typeface="Segoe UI"/>
              </a:rPr>
              <a:t>Working draft — not normative, not endorsed by the OPC Foundation. Namespace URIs and NodeIds are provisional.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2148840"/>
            <a:ext cx="9966960" cy="2194560"/>
          </a:xfrm>
          <a:prstGeom prst="rect">
            <a:avLst/>
          </a:prstGeom>
          <a:noFill/>
        </p:spPr>
        <p:txBody>
          <a:bodyPr wrap="square" lIns="0" rIns="0" tIns="0" bIns="0">
            <a:spAutoFit/>
          </a:bodyPr>
          <a:lstStyle/>
          <a:p>
            <a:r>
              <a:rPr sz="3000" b="1" i="0">
                <a:solidFill>
                  <a:srgbClr val="002B49"/>
                </a:solidFill>
                <a:latin typeface="Segoe UI Semibold"/>
              </a:rPr>
              <a:t>Every draft here started the same way: something that ought to be one line of OPC UA turned out to need a bridge, a second port, or a private invention.</a:t>
            </a:r>
          </a:p>
          <a:p>
            <a:pPr>
              <a:spcBef>
                <a:spcPts val="1800"/>
              </a:spcBef>
            </a:pPr>
            <a:r>
              <a:rPr sz="1400" b="0" i="1">
                <a:solidFill>
                  <a:srgbClr val="6B7480"/>
                </a:solidFill>
                <a:latin typeface="Segoe UI"/>
              </a:rPr>
              <a:t>The eighteen documents are eighteen answers to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this deck covers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2B49"/>
                </a:solidFill>
                <a:latin typeface="Segoe UI"/>
              </a:rPr>
              <a:t>Eighteen working drafts across five trees, and the ten demos that exercise them</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specification drafts — overview</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Five trees, one argument</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core</a:t>
            </a:r>
            <a:r>
              <a:rPr sz="1400" b="0" i="0">
                <a:solidFill>
                  <a:srgbClr val="333B44"/>
                </a:solidFill>
                <a:latin typeface="Segoe UI"/>
              </a:rPr>
              <a:t> — proposed additions to the base OPC UA namespace: Data Channels, Arrow, Async Services, Avro, xRegistry</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cloud</a:t>
            </a:r>
            <a:r>
              <a:rPr sz="1400" b="0" i="0">
                <a:solidFill>
                  <a:srgbClr val="333B44"/>
                </a:solidFill>
                <a:latin typeface="Segoe UI"/>
              </a:rPr>
              <a:t> — a Server's cloud-facing surface: Schema Registry, Observability Export</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metaverse</a:t>
            </a:r>
            <a:r>
              <a:rPr sz="1400" b="0" i="0">
                <a:solidFill>
                  <a:srgbClr val="333B44"/>
                </a:solidFill>
                <a:latin typeface="Segoe UI"/>
              </a:rPr>
              <a:t> — worlds, perception, robot control: OpenUSD Parts 1 and 2, Vision, Robot Intent, AI Model Management, USD Artifact Registry</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wot</a:t>
            </a:r>
            <a:r>
              <a:rPr sz="1400" b="0" i="0">
                <a:solidFill>
                  <a:srgbClr val="333B44"/>
                </a:solidFill>
                <a:latin typeface="Segoe UI"/>
              </a:rPr>
              <a:t> — Web of Things: WoT Binding, WoT Connectivity</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companion</a:t>
            </a:r>
            <a:r>
              <a:rPr sz="1400" b="0" i="0">
                <a:solidFill>
                  <a:srgbClr val="333B44"/>
                </a:solidFill>
                <a:latin typeface="Segoe UI"/>
              </a:rPr>
              <a:t> — domain models: Generators (GenSets), Asset Administration Shell 3.0</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Ten demos</a:t>
            </a:r>
            <a:r>
              <a:rPr sz="1700" b="1" i="0">
                <a:solidFill>
                  <a:srgbClr val="002B49"/>
                </a:solidFill>
                <a:latin typeface="Segoe UI"/>
              </a:rPr>
              <a:t>, each next to the draft it demonstrates</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Six run on the stack's </a:t>
            </a:r>
            <a:r>
              <a:rPr sz="1300" b="0" i="0">
                <a:solidFill>
                  <a:srgbClr val="002B49"/>
                </a:solidFill>
                <a:latin typeface="Consolas"/>
              </a:rPr>
              <a:t>master</a:t>
            </a:r>
            <a:r>
              <a:rPr sz="1400" b="0" i="0">
                <a:solidFill>
                  <a:srgbClr val="333B44"/>
                </a:solidFill>
                <a:latin typeface="Segoe UI"/>
              </a:rPr>
              <a:t> today; two need a feature branch; two are walkthroughs while the code catches up</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Every effort gets the same four beats</a:t>
            </a:r>
            <a:r>
              <a:rPr sz="1700" b="1" i="0">
                <a:solidFill>
                  <a:srgbClr val="002B49"/>
                </a:solidFill>
                <a:latin typeface="Segoe UI"/>
              </a:rPr>
              <a:t> — why it exists, what it adds, how it works, where it stands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Nothing here is normative. Namespace URIs and NodeIds are provisional, and six drafts are under OPC Foundation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all fits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2B49"/>
                </a:solidFill>
                <a:latin typeface="Segoe UI"/>
              </a:rPr>
              <a:t>xRegistry is the spine — almost everything else is a domain extension of it or an encoding beside it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specification drafts — overview</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a:t>
            </a:r>
          </a:p>
        </p:txBody>
      </p:sp>
      <p:sp>
        <p:nvSpPr>
          <p:cNvPr id="8" name="Rounded Rectangle 7"/>
          <p:cNvSpPr/>
          <p:nvPr/>
        </p:nvSpPr>
        <p:spPr>
          <a:xfrm>
            <a:off x="685800" y="1591056"/>
            <a:ext cx="10820095" cy="642518"/>
          </a:xfrm>
          <a:prstGeom prst="roundRect">
            <a:avLst/>
          </a:prstGeom>
          <a:solidFill>
            <a:srgbClr val="002B49"/>
          </a:solidFill>
          <a:ln w="9525">
            <a:solidFill>
              <a:srgbClr val="002B4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Segoe UI"/>
              </a:rPr>
              <a:t>OPC UA AddressSpace — Parts 3, 4, 5, 6, 11, 14</a:t>
            </a:r>
          </a:p>
        </p:txBody>
      </p:sp>
      <p:sp>
        <p:nvSpPr>
          <p:cNvPr id="9" name="Rounded Rectangle 8"/>
          <p:cNvSpPr/>
          <p:nvPr/>
        </p:nvSpPr>
        <p:spPr>
          <a:xfrm>
            <a:off x="3751493" y="2535936"/>
            <a:ext cx="4688707" cy="718108"/>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Segoe UI"/>
              </a:rPr>
              <a:t>xRegistry base model</a:t>
            </a:r>
          </a:p>
          <a:p>
            <a:pPr algn="ctr">
              <a:spcBef>
                <a:spcPts val="100"/>
              </a:spcBef>
            </a:pPr>
            <a:r>
              <a:rPr sz="1000" b="0" i="0">
                <a:solidFill>
                  <a:srgbClr val="FFFFFF"/>
                </a:solidFill>
                <a:latin typeface="Segoe UI"/>
              </a:rPr>
              <a:t>registry = FolderType · version = FileType</a:t>
            </a:r>
          </a:p>
        </p:txBody>
      </p:sp>
      <p:sp>
        <p:nvSpPr>
          <p:cNvPr id="10" name="Rounded Rectangle 9"/>
          <p:cNvSpPr/>
          <p:nvPr/>
        </p:nvSpPr>
        <p:spPr>
          <a:xfrm>
            <a:off x="685800" y="3858768"/>
            <a:ext cx="2434521" cy="869289"/>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002B49"/>
                </a:solidFill>
                <a:latin typeface="Segoe UI"/>
              </a:rPr>
              <a:t>Schema Registry</a:t>
            </a:r>
          </a:p>
          <a:p>
            <a:pPr algn="ctr">
              <a:spcBef>
                <a:spcPts val="100"/>
              </a:spcBef>
            </a:pPr>
            <a:r>
              <a:rPr sz="1000" b="0" i="0">
                <a:solidFill>
                  <a:srgbClr val="002B49"/>
                </a:solidFill>
                <a:latin typeface="Segoe UI"/>
              </a:rPr>
              <a:t>schemas for Avro and Arrow</a:t>
            </a:r>
          </a:p>
        </p:txBody>
      </p:sp>
      <p:sp>
        <p:nvSpPr>
          <p:cNvPr id="11" name="Rounded Rectangle 10"/>
          <p:cNvSpPr/>
          <p:nvPr/>
        </p:nvSpPr>
        <p:spPr>
          <a:xfrm>
            <a:off x="3390823" y="3858768"/>
            <a:ext cx="2434521" cy="869289"/>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002B49"/>
                </a:solidFill>
                <a:latin typeface="Segoe UI"/>
              </a:rPr>
              <a:t>WoT Connectivity</a:t>
            </a:r>
          </a:p>
          <a:p>
            <a:pPr algn="ctr">
              <a:spcBef>
                <a:spcPts val="100"/>
              </a:spcBef>
            </a:pPr>
            <a:r>
              <a:rPr sz="1000" b="0" i="0">
                <a:solidFill>
                  <a:srgbClr val="002B49"/>
                </a:solidFill>
                <a:latin typeface="Segoe UI"/>
              </a:rPr>
              <a:t>TM / TD documents</a:t>
            </a:r>
          </a:p>
        </p:txBody>
      </p:sp>
      <p:sp>
        <p:nvSpPr>
          <p:cNvPr id="12" name="Rounded Rectangle 11"/>
          <p:cNvSpPr/>
          <p:nvPr/>
        </p:nvSpPr>
        <p:spPr>
          <a:xfrm>
            <a:off x="6095847" y="3858768"/>
            <a:ext cx="2434521" cy="869289"/>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002B49"/>
                </a:solidFill>
                <a:latin typeface="Segoe UI"/>
              </a:rPr>
              <a:t>USD Artifact Registry</a:t>
            </a:r>
          </a:p>
          <a:p>
            <a:pPr algn="ctr">
              <a:spcBef>
                <a:spcPts val="100"/>
              </a:spcBef>
            </a:pPr>
            <a:r>
              <a:rPr sz="1000" b="0" i="0">
                <a:solidFill>
                  <a:srgbClr val="002B49"/>
                </a:solidFill>
                <a:latin typeface="Segoe UI"/>
              </a:rPr>
              <a:t>layers, assets, textures</a:t>
            </a:r>
          </a:p>
        </p:txBody>
      </p:sp>
      <p:sp>
        <p:nvSpPr>
          <p:cNvPr id="13" name="Rounded Rectangle 12"/>
          <p:cNvSpPr/>
          <p:nvPr/>
        </p:nvSpPr>
        <p:spPr>
          <a:xfrm>
            <a:off x="8800871" y="3858768"/>
            <a:ext cx="2705023" cy="869289"/>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002B49"/>
                </a:solidFill>
                <a:latin typeface="Segoe UI"/>
              </a:rPr>
              <a:t>AAS Registry</a:t>
            </a:r>
          </a:p>
          <a:p>
            <a:pPr algn="ctr">
              <a:spcBef>
                <a:spcPts val="100"/>
              </a:spcBef>
            </a:pPr>
            <a:r>
              <a:rPr sz="1000" b="0" i="0">
                <a:solidFill>
                  <a:srgbClr val="002B49"/>
                </a:solidFill>
                <a:latin typeface="Segoe UI"/>
              </a:rPr>
              <a:t>shells and submodels</a:t>
            </a:r>
          </a:p>
        </p:txBody>
      </p:sp>
      <p:sp>
        <p:nvSpPr>
          <p:cNvPr id="14" name="Rounded Rectangle 13"/>
          <p:cNvSpPr/>
          <p:nvPr/>
        </p:nvSpPr>
        <p:spPr>
          <a:xfrm>
            <a:off x="8800871" y="2535936"/>
            <a:ext cx="2705023" cy="718108"/>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Encodings</a:t>
            </a:r>
          </a:p>
          <a:p>
            <a:pPr algn="ctr">
              <a:spcBef>
                <a:spcPts val="100"/>
              </a:spcBef>
            </a:pPr>
            <a:r>
              <a:rPr sz="1000" b="0" i="0">
                <a:solidFill>
                  <a:srgbClr val="002B49"/>
                </a:solidFill>
                <a:latin typeface="Segoe UI"/>
              </a:rPr>
              <a:t>Avro · Arrow · Data Channels</a:t>
            </a:r>
          </a:p>
        </p:txBody>
      </p:sp>
      <p:sp>
        <p:nvSpPr>
          <p:cNvPr id="15" name="Rounded Rectangle 14"/>
          <p:cNvSpPr/>
          <p:nvPr/>
        </p:nvSpPr>
        <p:spPr>
          <a:xfrm>
            <a:off x="685800" y="5068214"/>
            <a:ext cx="5049377" cy="718108"/>
          </a:xfrm>
          <a:prstGeom prst="roundRect">
            <a:avLst/>
          </a:prstGeom>
          <a:solidFill>
            <a:srgbClr val="5B3E96"/>
          </a:solidFill>
          <a:ln w="9525">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Segoe UI"/>
              </a:rPr>
              <a:t>OpenUSD Parts 1 &amp; 2 · Vision · Robot Intent</a:t>
            </a:r>
          </a:p>
        </p:txBody>
      </p:sp>
      <p:sp>
        <p:nvSpPr>
          <p:cNvPr id="16" name="Rounded Rectangle 15"/>
          <p:cNvSpPr/>
          <p:nvPr/>
        </p:nvSpPr>
        <p:spPr>
          <a:xfrm>
            <a:off x="6456517" y="5068214"/>
            <a:ext cx="5049377" cy="718108"/>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Segoe UI"/>
              </a:rPr>
              <a:t>Observability Export · AI Model Management</a:t>
            </a:r>
          </a:p>
        </p:txBody>
      </p:sp>
      <p:cxnSp>
        <p:nvCxnSpPr>
          <p:cNvPr id="17" name="Connector 16"/>
          <p:cNvCxnSpPr>
            <a:stCxn id="8" idx="2"/>
            <a:endCxn id="9" idx="0"/>
          </p:cNvCxnSpPr>
          <p:nvPr/>
        </p:nvCxnSpPr>
        <p:spPr>
          <a:xfrm flipH="1">
            <a:off x="6095846" y="2233574"/>
            <a:ext cx="1" cy="302362"/>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9" idx="1"/>
            <a:endCxn id="10" idx="3"/>
          </p:cNvCxnSpPr>
          <p:nvPr/>
        </p:nvCxnSpPr>
        <p:spPr>
          <a:xfrm flipH="1">
            <a:off x="3120321" y="2894990"/>
            <a:ext cx="631172" cy="1398422"/>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9" idx="2"/>
            <a:endCxn id="11" idx="0"/>
          </p:cNvCxnSpPr>
          <p:nvPr/>
        </p:nvCxnSpPr>
        <p:spPr>
          <a:xfrm flipH="1">
            <a:off x="4608083" y="3254044"/>
            <a:ext cx="1487763" cy="604724"/>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9" idx="2"/>
            <a:endCxn id="12" idx="0"/>
          </p:cNvCxnSpPr>
          <p:nvPr/>
        </p:nvCxnSpPr>
        <p:spPr>
          <a:xfrm>
            <a:off x="6095846" y="3254044"/>
            <a:ext cx="1217261" cy="604724"/>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a:stCxn id="9" idx="2"/>
            <a:endCxn id="13" idx="0"/>
          </p:cNvCxnSpPr>
          <p:nvPr/>
        </p:nvCxnSpPr>
        <p:spPr>
          <a:xfrm>
            <a:off x="6095846" y="3254044"/>
            <a:ext cx="4057536" cy="604724"/>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5914826"/>
            <a:ext cx="10820095" cy="365760"/>
          </a:xfrm>
          <a:prstGeom prst="rect">
            <a:avLst/>
          </a:prstGeom>
          <a:noFill/>
        </p:spPr>
        <p:txBody>
          <a:bodyPr wrap="square" lIns="0" rIns="0" tIns="0" bIns="0">
            <a:spAutoFit/>
          </a:bodyPr>
          <a:lstStyle/>
          <a:p>
            <a:pPr algn="ctr"/>
            <a:r>
              <a:rPr sz="1100" b="0" i="1">
                <a:solidFill>
                  <a:srgbClr val="6B7480"/>
                </a:solidFill>
                <a:latin typeface="Segoe UI"/>
              </a:rPr>
              <a:t>One projection, defined once — every domain registry is the same shape rather than a private invention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The eighteen at a glance</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2B49"/>
                </a:solidFill>
                <a:latin typeface="Segoe UI"/>
              </a:rPr>
              <a:t>Status, target body and whether there is running code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specification drafts — overview</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a:t>
            </a:r>
          </a:p>
        </p:txBody>
      </p:sp>
      <p:graphicFrame>
        <p:nvGraphicFramePr>
          <p:cNvPr id="8" name="Table 7"/>
          <p:cNvGraphicFramePr>
            <a:graphicFrameLocks noGrp="1"/>
          </p:cNvGraphicFramePr>
          <p:nvPr/>
        </p:nvGraphicFramePr>
        <p:xfrm>
          <a:off x="685800" y="1591056"/>
          <a:ext cx="10820093" cy="4535414"/>
        </p:xfrm>
        <a:graphic>
          <a:graphicData uri="http://schemas.openxmlformats.org/drawingml/2006/table">
            <a:tbl>
              <a:tblPr firstRow="1" bandRow="1">
                <a:tableStyleId>{5C22544A-7EE6-4342-B048-85BDC9FD1C3A}</a:tableStyleId>
              </a:tblPr>
              <a:tblGrid>
                <a:gridCol w="4760841"/>
                <a:gridCol w="1731215"/>
                <a:gridCol w="2380420"/>
                <a:gridCol w="1947617"/>
              </a:tblGrid>
              <a:tr h="238706">
                <a:tc>
                  <a:txBody>
                    <a:bodyPr/>
                    <a:lstStyle/>
                    <a:p>
                      <a:r>
                        <a:rPr sz="1100" b="1" i="0">
                          <a:solidFill>
                            <a:srgbClr val="FFFFFF"/>
                          </a:solidFill>
                          <a:latin typeface="Segoe UI Semibold"/>
                        </a:rPr>
                        <a:t>Draft</a:t>
                      </a:r>
                    </a:p>
                  </a:txBody>
                  <a:tcPr marL="73152" marR="73152" anchor="ctr">
                    <a:solidFill>
                      <a:srgbClr val="002B49"/>
                    </a:solidFill>
                  </a:tcPr>
                </a:tc>
                <a:tc>
                  <a:txBody>
                    <a:bodyPr/>
                    <a:lstStyle/>
                    <a:p>
                      <a:r>
                        <a:rPr sz="1100" b="1" i="0">
                          <a:solidFill>
                            <a:srgbClr val="FFFFFF"/>
                          </a:solidFill>
                          <a:latin typeface="Segoe UI Semibold"/>
                        </a:rPr>
                        <a:t>Tree</a:t>
                      </a:r>
                    </a:p>
                  </a:txBody>
                  <a:tcPr marL="73152" marR="73152" anchor="ctr">
                    <a:solidFill>
                      <a:srgbClr val="002B49"/>
                    </a:solidFill>
                  </a:tcPr>
                </a:tc>
                <a:tc>
                  <a:txBody>
                    <a:bodyPr/>
                    <a:lstStyle/>
                    <a:p>
                      <a:r>
                        <a:rPr sz="1100" b="1" i="0">
                          <a:solidFill>
                            <a:srgbClr val="FFFFFF"/>
                          </a:solidFill>
                          <a:latin typeface="Segoe UI Semibold"/>
                        </a:rPr>
                        <a:t>Status</a:t>
                      </a:r>
                    </a:p>
                  </a:txBody>
                  <a:tcPr marL="73152" marR="73152" anchor="ctr">
                    <a:solidFill>
                      <a:srgbClr val="002B49"/>
                    </a:solidFill>
                  </a:tcPr>
                </a:tc>
                <a:tc>
                  <a:txBody>
                    <a:bodyPr/>
                    <a:lstStyle/>
                    <a:p>
                      <a:r>
                        <a:rPr sz="1100" b="1" i="0">
                          <a:solidFill>
                            <a:srgbClr val="FFFFFF"/>
                          </a:solidFill>
                          <a:latin typeface="Segoe UI Semibold"/>
                        </a:rPr>
                        <a:t>Demo</a:t>
                      </a:r>
                    </a:p>
                  </a:txBody>
                  <a:tcPr marL="73152" marR="73152" anchor="ctr">
                    <a:solidFill>
                      <a:srgbClr val="002B49"/>
                    </a:solidFill>
                  </a:tcPr>
                </a:tc>
              </a:tr>
              <a:tr h="238706">
                <a:tc>
                  <a:txBody>
                    <a:bodyPr/>
                    <a:lstStyle/>
                    <a:p>
                      <a:r>
                        <a:rPr sz="1100" b="0" i="0">
                          <a:solidFill>
                            <a:srgbClr val="333B44"/>
                          </a:solidFill>
                          <a:latin typeface="Segoe UI"/>
                        </a:rPr>
                        <a:t>Data Channels</a:t>
                      </a:r>
                    </a:p>
                  </a:txBody>
                  <a:tcPr marL="73152" marR="73152" marT="27432" marB="27432" anchor="ctr">
                    <a:solidFill>
                      <a:srgbClr val="FFFFFF"/>
                    </a:solidFill>
                  </a:tcPr>
                </a:tc>
                <a:tc>
                  <a:txBody>
                    <a:bodyPr/>
                    <a:lstStyle/>
                    <a:p>
                      <a:r>
                        <a:rPr sz="1100" b="0" i="0">
                          <a:solidFill>
                            <a:srgbClr val="333B44"/>
                          </a:solidFill>
                          <a:latin typeface="Segoe UI"/>
                        </a:rPr>
                        <a:t>core</a:t>
                      </a:r>
                    </a:p>
                  </a:txBody>
                  <a:tcPr marL="73152" marR="73152" marT="27432" marB="27432" anchor="ctr">
                    <a:solidFill>
                      <a:srgbClr val="FFFFFF"/>
                    </a:solidFill>
                  </a:tcPr>
                </a:tc>
                <a:tc>
                  <a:txBody>
                    <a:bodyPr/>
                    <a:lstStyle/>
                    <a:p>
                      <a:r>
                        <a:rPr sz="1100" b="0" i="0">
                          <a:solidFill>
                            <a:srgbClr val="333B44"/>
                          </a:solidFill>
                          <a:latin typeface="Segoe UI"/>
                        </a:rPr>
                        <a:t>Draft 0.1.1</a:t>
                      </a:r>
                    </a:p>
                  </a:txBody>
                  <a:tcPr marL="73152" marR="73152" marT="27432" marB="27432" anchor="ctr">
                    <a:solidFill>
                      <a:srgbClr val="FFFFFF"/>
                    </a:solidFill>
                  </a:tcPr>
                </a:tc>
                <a:tc>
                  <a:txBody>
                    <a:bodyPr/>
                    <a:lstStyle/>
                    <a:p>
                      <a:r>
                        <a:rPr sz="1100" b="0" i="0">
                          <a:solidFill>
                            <a:srgbClr val="333B44"/>
                          </a:solidFill>
                          <a:latin typeface="Segoe UI"/>
                        </a:rPr>
                        <a:t>8 — media</a:t>
                      </a:r>
                    </a:p>
                  </a:txBody>
                  <a:tcPr marL="73152" marR="73152" marT="27432" marB="27432" anchor="ctr">
                    <a:solidFill>
                      <a:srgbClr val="FFFFFF"/>
                    </a:solidFill>
                  </a:tcPr>
                </a:tc>
              </a:tr>
              <a:tr h="238706">
                <a:tc>
                  <a:txBody>
                    <a:bodyPr/>
                    <a:lstStyle/>
                    <a:p>
                      <a:r>
                        <a:rPr sz="1100" b="0" i="0">
                          <a:solidFill>
                            <a:srgbClr val="333B44"/>
                          </a:solidFill>
                          <a:latin typeface="Segoe UI"/>
                        </a:rPr>
                        <a:t>Apache Arrow Encoding</a:t>
                      </a:r>
                    </a:p>
                  </a:txBody>
                  <a:tcPr marL="73152" marR="73152" marT="27432" marB="27432" anchor="ctr">
                    <a:solidFill>
                      <a:srgbClr val="F4F6F8"/>
                    </a:solidFill>
                  </a:tcPr>
                </a:tc>
                <a:tc>
                  <a:txBody>
                    <a:bodyPr/>
                    <a:lstStyle/>
                    <a:p>
                      <a:r>
                        <a:rPr sz="1100" b="0" i="0">
                          <a:solidFill>
                            <a:srgbClr val="333B44"/>
                          </a:solidFill>
                          <a:latin typeface="Segoe UI"/>
                        </a:rPr>
                        <a:t>core</a:t>
                      </a:r>
                    </a:p>
                  </a:txBody>
                  <a:tcPr marL="73152" marR="73152" marT="27432" marB="27432" anchor="ctr">
                    <a:solidFill>
                      <a:srgbClr val="F4F6F8"/>
                    </a:solidFill>
                  </a:tcPr>
                </a:tc>
                <a:tc>
                  <a:txBody>
                    <a:bodyPr/>
                    <a:lstStyle/>
                    <a:p>
                      <a:r>
                        <a:rPr sz="1100" b="0" i="0">
                          <a:solidFill>
                            <a:srgbClr val="333B44"/>
                          </a:solidFill>
                          <a:latin typeface="Segoe UI"/>
                        </a:rPr>
                        <a:t>Draft 0.1.0</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r>
              <a:tr h="238706">
                <a:tc>
                  <a:txBody>
                    <a:bodyPr/>
                    <a:lstStyle/>
                    <a:p>
                      <a:r>
                        <a:rPr sz="1100" b="0" i="0">
                          <a:solidFill>
                            <a:srgbClr val="333B44"/>
                          </a:solidFill>
                          <a:latin typeface="Segoe UI"/>
                        </a:rPr>
                        <a:t>Asynchronous Service Execution</a:t>
                      </a:r>
                    </a:p>
                  </a:txBody>
                  <a:tcPr marL="73152" marR="73152" marT="27432" marB="27432" anchor="ctr">
                    <a:solidFill>
                      <a:srgbClr val="FFFFFF"/>
                    </a:solidFill>
                  </a:tcPr>
                </a:tc>
                <a:tc>
                  <a:txBody>
                    <a:bodyPr/>
                    <a:lstStyle/>
                    <a:p>
                      <a:r>
                        <a:rPr sz="1100" b="0" i="0">
                          <a:solidFill>
                            <a:srgbClr val="333B44"/>
                          </a:solidFill>
                          <a:latin typeface="Segoe UI"/>
                        </a:rPr>
                        <a:t>core</a:t>
                      </a:r>
                    </a:p>
                  </a:txBody>
                  <a:tcPr marL="73152" marR="73152" marT="27432" marB="27432" anchor="ctr">
                    <a:solidFill>
                      <a:srgbClr val="FFFFFF"/>
                    </a:solidFill>
                  </a:tcPr>
                </a:tc>
                <a:tc>
                  <a:txBody>
                    <a:bodyPr/>
                    <a:lstStyle/>
                    <a:p>
                      <a:r>
                        <a:rPr sz="1100" b="0" i="0">
                          <a:solidFill>
                            <a:srgbClr val="333B44"/>
                          </a:solidFill>
                          <a:latin typeface="Segoe UI"/>
                        </a:rPr>
                        <a:t>Draft 0.1.0</a:t>
                      </a:r>
                    </a:p>
                  </a:txBody>
                  <a:tcPr marL="73152" marR="73152" marT="27432" marB="27432" anchor="ctr">
                    <a:solidFill>
                      <a:srgbClr val="FFFFFF"/>
                    </a:solidFill>
                  </a:tcPr>
                </a:tc>
                <a:tc>
                  <a:txBody>
                    <a:bodyPr/>
                    <a:lstStyle/>
                    <a:p>
                      <a:r>
                        <a:rPr sz="1100" b="0" i="0">
                          <a:solidFill>
                            <a:srgbClr val="333B44"/>
                          </a:solidFill>
                          <a:latin typeface="Segoe UI"/>
                        </a:rPr>
                        <a:t>—</a:t>
                      </a:r>
                    </a:p>
                  </a:txBody>
                  <a:tcPr marL="73152" marR="73152" marT="27432" marB="27432" anchor="ctr">
                    <a:solidFill>
                      <a:srgbClr val="FFFFFF"/>
                    </a:solidFill>
                  </a:tcPr>
                </a:tc>
              </a:tr>
              <a:tr h="238706">
                <a:tc>
                  <a:txBody>
                    <a:bodyPr/>
                    <a:lstStyle/>
                    <a:p>
                      <a:r>
                        <a:rPr sz="1100" b="0" i="0">
                          <a:solidFill>
                            <a:srgbClr val="333B44"/>
                          </a:solidFill>
                          <a:latin typeface="Segoe UI"/>
                        </a:rPr>
                        <a:t>Apache Avro DataEncoding</a:t>
                      </a:r>
                    </a:p>
                  </a:txBody>
                  <a:tcPr marL="73152" marR="73152" marT="27432" marB="27432" anchor="ctr">
                    <a:solidFill>
                      <a:srgbClr val="F4F6F8"/>
                    </a:solidFill>
                  </a:tcPr>
                </a:tc>
                <a:tc>
                  <a:txBody>
                    <a:bodyPr/>
                    <a:lstStyle/>
                    <a:p>
                      <a:r>
                        <a:rPr sz="1100" b="0" i="0">
                          <a:solidFill>
                            <a:srgbClr val="333B44"/>
                          </a:solidFill>
                          <a:latin typeface="Segoe UI"/>
                        </a:rPr>
                        <a:t>core</a:t>
                      </a:r>
                    </a:p>
                  </a:txBody>
                  <a:tcPr marL="73152" marR="73152" marT="27432" marB="27432" anchor="ctr">
                    <a:solidFill>
                      <a:srgbClr val="F4F6F8"/>
                    </a:solidFill>
                  </a:tcPr>
                </a:tc>
                <a:tc>
                  <a:txBody>
                    <a:bodyPr/>
                    <a:lstStyle/>
                    <a:p>
                      <a:r>
                        <a:rPr sz="1100" b="0" i="0">
                          <a:solidFill>
                            <a:srgbClr val="333B44"/>
                          </a:solidFill>
                          <a:latin typeface="Segoe UI"/>
                        </a:rPr>
                        <a:t>Under OPCF review</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r>
              <a:tr h="238706">
                <a:tc>
                  <a:txBody>
                    <a:bodyPr/>
                    <a:lstStyle/>
                    <a:p>
                      <a:r>
                        <a:rPr sz="1100" b="0" i="0">
                          <a:solidFill>
                            <a:srgbClr val="333B44"/>
                          </a:solidFill>
                          <a:latin typeface="Segoe UI"/>
                        </a:rPr>
                        <a:t>xRegistry (base model)</a:t>
                      </a:r>
                    </a:p>
                  </a:txBody>
                  <a:tcPr marL="73152" marR="73152" marT="27432" marB="27432" anchor="ctr">
                    <a:solidFill>
                      <a:srgbClr val="FFFFFF"/>
                    </a:solidFill>
                  </a:tcPr>
                </a:tc>
                <a:tc>
                  <a:txBody>
                    <a:bodyPr/>
                    <a:lstStyle/>
                    <a:p>
                      <a:r>
                        <a:rPr sz="1100" b="0" i="0">
                          <a:solidFill>
                            <a:srgbClr val="333B44"/>
                          </a:solidFill>
                          <a:latin typeface="Segoe UI"/>
                        </a:rPr>
                        <a:t>core</a:t>
                      </a:r>
                    </a:p>
                  </a:txBody>
                  <a:tcPr marL="73152" marR="73152" marT="27432" marB="27432" anchor="ctr">
                    <a:solidFill>
                      <a:srgbClr val="FFFFFF"/>
                    </a:solidFill>
                  </a:tcPr>
                </a:tc>
                <a:tc>
                  <a:txBody>
                    <a:bodyPr/>
                    <a:lstStyle/>
                    <a:p>
                      <a:r>
                        <a:rPr sz="1100" b="0" i="0">
                          <a:solidFill>
                            <a:srgbClr val="333B44"/>
                          </a:solidFill>
                          <a:latin typeface="Segoe UI"/>
                        </a:rPr>
                        <a:t>Under OPCF review</a:t>
                      </a:r>
                    </a:p>
                  </a:txBody>
                  <a:tcPr marL="73152" marR="73152" marT="27432" marB="27432" anchor="ctr">
                    <a:solidFill>
                      <a:srgbClr val="FFFFFF"/>
                    </a:solidFill>
                  </a:tcPr>
                </a:tc>
                <a:tc>
                  <a:txBody>
                    <a:bodyPr/>
                    <a:lstStyle/>
                    <a:p>
                      <a:r>
                        <a:rPr sz="1100" b="0" i="0">
                          <a:solidFill>
                            <a:srgbClr val="333B44"/>
                          </a:solidFill>
                          <a:latin typeface="Segoe UI"/>
                        </a:rPr>
                        <a:t>7 — AAS/WoT</a:t>
                      </a:r>
                    </a:p>
                  </a:txBody>
                  <a:tcPr marL="73152" marR="73152" marT="27432" marB="27432" anchor="ctr">
                    <a:solidFill>
                      <a:srgbClr val="FFFFFF"/>
                    </a:solidFill>
                  </a:tcPr>
                </a:tc>
              </a:tr>
              <a:tr h="238706">
                <a:tc>
                  <a:txBody>
                    <a:bodyPr/>
                    <a:lstStyle/>
                    <a:p>
                      <a:r>
                        <a:rPr sz="1100" b="0" i="0">
                          <a:solidFill>
                            <a:srgbClr val="333B44"/>
                          </a:solidFill>
                          <a:latin typeface="Segoe UI"/>
                        </a:rPr>
                        <a:t>xRegistry — OPC UA API</a:t>
                      </a:r>
                    </a:p>
                  </a:txBody>
                  <a:tcPr marL="73152" marR="73152" marT="27432" marB="27432" anchor="ctr">
                    <a:solidFill>
                      <a:srgbClr val="F4F6F8"/>
                    </a:solidFill>
                  </a:tcPr>
                </a:tc>
                <a:tc>
                  <a:txBody>
                    <a:bodyPr/>
                    <a:lstStyle/>
                    <a:p>
                      <a:r>
                        <a:rPr sz="1100" b="0" i="0">
                          <a:solidFill>
                            <a:srgbClr val="333B44"/>
                          </a:solidFill>
                          <a:latin typeface="Segoe UI"/>
                        </a:rPr>
                        <a:t>core</a:t>
                      </a:r>
                    </a:p>
                  </a:txBody>
                  <a:tcPr marL="73152" marR="73152" marT="27432" marB="27432" anchor="ctr">
                    <a:solidFill>
                      <a:srgbClr val="F4F6F8"/>
                    </a:solidFill>
                  </a:tcPr>
                </a:tc>
                <a:tc>
                  <a:txBody>
                    <a:bodyPr/>
                    <a:lstStyle/>
                    <a:p>
                      <a:r>
                        <a:rPr sz="1100" b="0" i="0">
                          <a:solidFill>
                            <a:srgbClr val="333B44"/>
                          </a:solidFill>
                          <a:latin typeface="Segoe UI"/>
                        </a:rPr>
                        <a:t>Draft 0.1.0 → xregistry.org</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r>
              <a:tr h="238706">
                <a:tc>
                  <a:txBody>
                    <a:bodyPr/>
                    <a:lstStyle/>
                    <a:p>
                      <a:r>
                        <a:rPr sz="1100" b="0" i="0">
                          <a:solidFill>
                            <a:srgbClr val="333B44"/>
                          </a:solidFill>
                          <a:latin typeface="Segoe UI"/>
                        </a:rPr>
                        <a:t>Schema Registry</a:t>
                      </a:r>
                    </a:p>
                  </a:txBody>
                  <a:tcPr marL="73152" marR="73152" marT="27432" marB="27432" anchor="ctr">
                    <a:solidFill>
                      <a:srgbClr val="FFFFFF"/>
                    </a:solidFill>
                  </a:tcPr>
                </a:tc>
                <a:tc>
                  <a:txBody>
                    <a:bodyPr/>
                    <a:lstStyle/>
                    <a:p>
                      <a:r>
                        <a:rPr sz="1100" b="0" i="0">
                          <a:solidFill>
                            <a:srgbClr val="333B44"/>
                          </a:solidFill>
                          <a:latin typeface="Segoe UI"/>
                        </a:rPr>
                        <a:t>cloud</a:t>
                      </a:r>
                    </a:p>
                  </a:txBody>
                  <a:tcPr marL="73152" marR="73152" marT="27432" marB="27432" anchor="ctr">
                    <a:solidFill>
                      <a:srgbClr val="FFFFFF"/>
                    </a:solidFill>
                  </a:tcPr>
                </a:tc>
                <a:tc>
                  <a:txBody>
                    <a:bodyPr/>
                    <a:lstStyle/>
                    <a:p>
                      <a:r>
                        <a:rPr sz="1100" b="0" i="0">
                          <a:solidFill>
                            <a:srgbClr val="333B44"/>
                          </a:solidFill>
                          <a:latin typeface="Segoe UI"/>
                        </a:rPr>
                        <a:t>Draft 0.5.0</a:t>
                      </a:r>
                    </a:p>
                  </a:txBody>
                  <a:tcPr marL="73152" marR="73152" marT="27432" marB="27432" anchor="ctr">
                    <a:solidFill>
                      <a:srgbClr val="FFFFFF"/>
                    </a:solidFill>
                  </a:tcPr>
                </a:tc>
                <a:tc>
                  <a:txBody>
                    <a:bodyPr/>
                    <a:lstStyle/>
                    <a:p>
                      <a:r>
                        <a:rPr sz="1100" b="0" i="0">
                          <a:solidFill>
                            <a:srgbClr val="333B44"/>
                          </a:solidFill>
                          <a:latin typeface="Segoe UI"/>
                        </a:rPr>
                        <a:t>—</a:t>
                      </a:r>
                    </a:p>
                  </a:txBody>
                  <a:tcPr marL="73152" marR="73152" marT="27432" marB="27432" anchor="ctr">
                    <a:solidFill>
                      <a:srgbClr val="FFFFFF"/>
                    </a:solidFill>
                  </a:tcPr>
                </a:tc>
              </a:tr>
              <a:tr h="238706">
                <a:tc>
                  <a:txBody>
                    <a:bodyPr/>
                    <a:lstStyle/>
                    <a:p>
                      <a:r>
                        <a:rPr sz="1100" b="0" i="0">
                          <a:solidFill>
                            <a:srgbClr val="333B44"/>
                          </a:solidFill>
                          <a:latin typeface="Segoe UI"/>
                        </a:rPr>
                        <a:t>Observability Export</a:t>
                      </a:r>
                    </a:p>
                  </a:txBody>
                  <a:tcPr marL="73152" marR="73152" marT="27432" marB="27432" anchor="ctr">
                    <a:solidFill>
                      <a:srgbClr val="F4F6F8"/>
                    </a:solidFill>
                  </a:tcPr>
                </a:tc>
                <a:tc>
                  <a:txBody>
                    <a:bodyPr/>
                    <a:lstStyle/>
                    <a:p>
                      <a:r>
                        <a:rPr sz="1100" b="0" i="0">
                          <a:solidFill>
                            <a:srgbClr val="333B44"/>
                          </a:solidFill>
                          <a:latin typeface="Segoe UI"/>
                        </a:rPr>
                        <a:t>cloud</a:t>
                      </a:r>
                    </a:p>
                  </a:txBody>
                  <a:tcPr marL="73152" marR="73152" marT="27432" marB="27432" anchor="ctr">
                    <a:solidFill>
                      <a:srgbClr val="F4F6F8"/>
                    </a:solidFill>
                  </a:tcPr>
                </a:tc>
                <a:tc>
                  <a:txBody>
                    <a:bodyPr/>
                    <a:lstStyle/>
                    <a:p>
                      <a:r>
                        <a:rPr sz="1100" b="0" i="0">
                          <a:solidFill>
                            <a:srgbClr val="333B44"/>
                          </a:solidFill>
                          <a:latin typeface="Segoe UI"/>
                        </a:rPr>
                        <a:t>Draft 0.1.0</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r>
              <a:tr h="238706">
                <a:tc>
                  <a:txBody>
                    <a:bodyPr/>
                    <a:lstStyle/>
                    <a:p>
                      <a:r>
                        <a:rPr sz="1100" b="0" i="0">
                          <a:solidFill>
                            <a:srgbClr val="333B44"/>
                          </a:solidFill>
                          <a:latin typeface="Segoe UI"/>
                        </a:rPr>
                        <a:t>OpenUSD Part 1 — Binding</a:t>
                      </a:r>
                    </a:p>
                  </a:txBody>
                  <a:tcPr marL="73152" marR="73152" marT="27432" marB="27432" anchor="ctr">
                    <a:solidFill>
                      <a:srgbClr val="FFFFFF"/>
                    </a:solidFill>
                  </a:tcPr>
                </a:tc>
                <a:tc>
                  <a:txBody>
                    <a:bodyPr/>
                    <a:lstStyle/>
                    <a:p>
                      <a:r>
                        <a:rPr sz="1100" b="0" i="0">
                          <a:solidFill>
                            <a:srgbClr val="333B44"/>
                          </a:solidFill>
                          <a:latin typeface="Segoe UI"/>
                        </a:rPr>
                        <a:t>metaverse</a:t>
                      </a:r>
                    </a:p>
                  </a:txBody>
                  <a:tcPr marL="73152" marR="73152" marT="27432" marB="27432" anchor="ctr">
                    <a:solidFill>
                      <a:srgbClr val="FFFFFF"/>
                    </a:solidFill>
                  </a:tcPr>
                </a:tc>
                <a:tc>
                  <a:txBody>
                    <a:bodyPr/>
                    <a:lstStyle/>
                    <a:p>
                      <a:r>
                        <a:rPr sz="1100" b="0" i="0">
                          <a:solidFill>
                            <a:srgbClr val="333B44"/>
                          </a:solidFill>
                          <a:latin typeface="Segoe UI"/>
                        </a:rPr>
                        <a:t>Under OPCF review</a:t>
                      </a:r>
                    </a:p>
                  </a:txBody>
                  <a:tcPr marL="73152" marR="73152" marT="27432" marB="27432" anchor="ctr">
                    <a:solidFill>
                      <a:srgbClr val="FFFFFF"/>
                    </a:solidFill>
                  </a:tcPr>
                </a:tc>
                <a:tc>
                  <a:txBody>
                    <a:bodyPr/>
                    <a:lstStyle/>
                    <a:p>
                      <a:r>
                        <a:rPr sz="1100" b="0" i="0">
                          <a:solidFill>
                            <a:srgbClr val="333B44"/>
                          </a:solidFill>
                          <a:latin typeface="Segoe UI"/>
                        </a:rPr>
                        <a:t>2, 3</a:t>
                      </a:r>
                    </a:p>
                  </a:txBody>
                  <a:tcPr marL="73152" marR="73152" marT="27432" marB="27432" anchor="ctr">
                    <a:solidFill>
                      <a:srgbClr val="FFFFFF"/>
                    </a:solidFill>
                  </a:tcPr>
                </a:tc>
              </a:tr>
              <a:tr h="238706">
                <a:tc>
                  <a:txBody>
                    <a:bodyPr/>
                    <a:lstStyle/>
                    <a:p>
                      <a:r>
                        <a:rPr sz="1100" b="0" i="0">
                          <a:solidFill>
                            <a:srgbClr val="333B44"/>
                          </a:solidFill>
                          <a:latin typeface="Segoe UI"/>
                        </a:rPr>
                        <a:t>OpenUSD Part 2 — Scene Materialization</a:t>
                      </a:r>
                    </a:p>
                  </a:txBody>
                  <a:tcPr marL="73152" marR="73152" marT="27432" marB="27432" anchor="ctr">
                    <a:solidFill>
                      <a:srgbClr val="F4F6F8"/>
                    </a:solidFill>
                  </a:tcPr>
                </a:tc>
                <a:tc>
                  <a:txBody>
                    <a:bodyPr/>
                    <a:lstStyle/>
                    <a:p>
                      <a:r>
                        <a:rPr sz="1100" b="0" i="0">
                          <a:solidFill>
                            <a:srgbClr val="333B44"/>
                          </a:solidFill>
                          <a:latin typeface="Segoe UI"/>
                        </a:rPr>
                        <a:t>metaverse</a:t>
                      </a:r>
                    </a:p>
                  </a:txBody>
                  <a:tcPr marL="73152" marR="73152" marT="27432" marB="27432" anchor="ctr">
                    <a:solidFill>
                      <a:srgbClr val="F4F6F8"/>
                    </a:solidFill>
                  </a:tcPr>
                </a:tc>
                <a:tc>
                  <a:txBody>
                    <a:bodyPr/>
                    <a:lstStyle/>
                    <a:p>
                      <a:r>
                        <a:rPr sz="1100" b="0" i="0">
                          <a:solidFill>
                            <a:srgbClr val="333B44"/>
                          </a:solidFill>
                          <a:latin typeface="Segoe UI"/>
                        </a:rPr>
                        <a:t>Under OPCF review</a:t>
                      </a:r>
                    </a:p>
                  </a:txBody>
                  <a:tcPr marL="73152" marR="73152" marT="27432" marB="27432" anchor="ctr">
                    <a:solidFill>
                      <a:srgbClr val="F4F6F8"/>
                    </a:solidFill>
                  </a:tcPr>
                </a:tc>
                <a:tc>
                  <a:txBody>
                    <a:bodyPr/>
                    <a:lstStyle/>
                    <a:p>
                      <a:r>
                        <a:rPr sz="1100" b="0" i="0">
                          <a:solidFill>
                            <a:srgbClr val="333B44"/>
                          </a:solidFill>
                          <a:latin typeface="Segoe UI"/>
                        </a:rPr>
                        <a:t>2, 3</a:t>
                      </a:r>
                    </a:p>
                  </a:txBody>
                  <a:tcPr marL="73152" marR="73152" marT="27432" marB="27432" anchor="ctr">
                    <a:solidFill>
                      <a:srgbClr val="F4F6F8"/>
                    </a:solidFill>
                  </a:tcPr>
                </a:tc>
              </a:tr>
              <a:tr h="238706">
                <a:tc>
                  <a:txBody>
                    <a:bodyPr/>
                    <a:lstStyle/>
                    <a:p>
                      <a:r>
                        <a:rPr sz="1100" b="0" i="0">
                          <a:solidFill>
                            <a:srgbClr val="333B44"/>
                          </a:solidFill>
                          <a:latin typeface="Segoe UI"/>
                        </a:rPr>
                        <a:t>Vision</a:t>
                      </a:r>
                    </a:p>
                  </a:txBody>
                  <a:tcPr marL="73152" marR="73152" marT="27432" marB="27432" anchor="ctr">
                    <a:solidFill>
                      <a:srgbClr val="FFFFFF"/>
                    </a:solidFill>
                  </a:tcPr>
                </a:tc>
                <a:tc>
                  <a:txBody>
                    <a:bodyPr/>
                    <a:lstStyle/>
                    <a:p>
                      <a:r>
                        <a:rPr sz="1100" b="0" i="0">
                          <a:solidFill>
                            <a:srgbClr val="333B44"/>
                          </a:solidFill>
                          <a:latin typeface="Segoe UI"/>
                        </a:rPr>
                        <a:t>metaverse</a:t>
                      </a:r>
                    </a:p>
                  </a:txBody>
                  <a:tcPr marL="73152" marR="73152" marT="27432" marB="27432" anchor="ctr">
                    <a:solidFill>
                      <a:srgbClr val="FFFFFF"/>
                    </a:solidFill>
                  </a:tcPr>
                </a:tc>
                <a:tc>
                  <a:txBody>
                    <a:bodyPr/>
                    <a:lstStyle/>
                    <a:p>
                      <a:r>
                        <a:rPr sz="1100" b="0" i="0">
                          <a:solidFill>
                            <a:srgbClr val="333B44"/>
                          </a:solidFill>
                          <a:latin typeface="Segoe UI"/>
                        </a:rPr>
                        <a:t>Draft 0.1.0</a:t>
                      </a:r>
                    </a:p>
                  </a:txBody>
                  <a:tcPr marL="73152" marR="73152" marT="27432" marB="27432" anchor="ctr">
                    <a:solidFill>
                      <a:srgbClr val="FFFFFF"/>
                    </a:solidFill>
                  </a:tcPr>
                </a:tc>
                <a:tc>
                  <a:txBody>
                    <a:bodyPr/>
                    <a:lstStyle/>
                    <a:p>
                      <a:r>
                        <a:rPr sz="1100" b="0" i="0">
                          <a:solidFill>
                            <a:srgbClr val="333B44"/>
                          </a:solidFill>
                          <a:latin typeface="Segoe UI"/>
                        </a:rPr>
                        <a:t>9 — walkthrough</a:t>
                      </a:r>
                    </a:p>
                  </a:txBody>
                  <a:tcPr marL="73152" marR="73152" marT="27432" marB="27432" anchor="ctr">
                    <a:solidFill>
                      <a:srgbClr val="FFFFFF"/>
                    </a:solidFill>
                  </a:tcPr>
                </a:tc>
              </a:tr>
              <a:tr h="238706">
                <a:tc>
                  <a:txBody>
                    <a:bodyPr/>
                    <a:lstStyle/>
                    <a:p>
                      <a:r>
                        <a:rPr sz="1100" b="0" i="0">
                          <a:solidFill>
                            <a:srgbClr val="333B44"/>
                          </a:solidFill>
                          <a:latin typeface="Segoe UI"/>
                        </a:rPr>
                        <a:t>Robot Intent</a:t>
                      </a:r>
                    </a:p>
                  </a:txBody>
                  <a:tcPr marL="73152" marR="73152" marT="27432" marB="27432" anchor="ctr">
                    <a:solidFill>
                      <a:srgbClr val="F4F6F8"/>
                    </a:solidFill>
                  </a:tcPr>
                </a:tc>
                <a:tc>
                  <a:txBody>
                    <a:bodyPr/>
                    <a:lstStyle/>
                    <a:p>
                      <a:r>
                        <a:rPr sz="1100" b="0" i="0">
                          <a:solidFill>
                            <a:srgbClr val="333B44"/>
                          </a:solidFill>
                          <a:latin typeface="Segoe UI"/>
                        </a:rPr>
                        <a:t>metaverse</a:t>
                      </a:r>
                    </a:p>
                  </a:txBody>
                  <a:tcPr marL="73152" marR="73152" marT="27432" marB="27432" anchor="ctr">
                    <a:solidFill>
                      <a:srgbClr val="F4F6F8"/>
                    </a:solidFill>
                  </a:tcPr>
                </a:tc>
                <a:tc>
                  <a:txBody>
                    <a:bodyPr/>
                    <a:lstStyle/>
                    <a:p>
                      <a:r>
                        <a:rPr sz="1100" b="0" i="0">
                          <a:solidFill>
                            <a:srgbClr val="333B44"/>
                          </a:solidFill>
                          <a:latin typeface="Segoe UI"/>
                        </a:rPr>
                        <a:t>Draft 0.1.0</a:t>
                      </a:r>
                    </a:p>
                  </a:txBody>
                  <a:tcPr marL="73152" marR="73152" marT="27432" marB="27432" anchor="ctr">
                    <a:solidFill>
                      <a:srgbClr val="F4F6F8"/>
                    </a:solidFill>
                  </a:tcPr>
                </a:tc>
                <a:tc>
                  <a:txBody>
                    <a:bodyPr/>
                    <a:lstStyle/>
                    <a:p>
                      <a:r>
                        <a:rPr sz="1100" b="0" i="0">
                          <a:solidFill>
                            <a:srgbClr val="333B44"/>
                          </a:solidFill>
                          <a:latin typeface="Segoe UI"/>
                        </a:rPr>
                        <a:t>2, 5</a:t>
                      </a:r>
                    </a:p>
                  </a:txBody>
                  <a:tcPr marL="73152" marR="73152" marT="27432" marB="27432" anchor="ctr">
                    <a:solidFill>
                      <a:srgbClr val="F4F6F8"/>
                    </a:solidFill>
                  </a:tcPr>
                </a:tc>
              </a:tr>
              <a:tr h="238706">
                <a:tc>
                  <a:txBody>
                    <a:bodyPr/>
                    <a:lstStyle/>
                    <a:p>
                      <a:r>
                        <a:rPr sz="1100" b="0" i="0">
                          <a:solidFill>
                            <a:srgbClr val="333B44"/>
                          </a:solidFill>
                          <a:latin typeface="Segoe UI"/>
                        </a:rPr>
                        <a:t>AI Model Management and Inference</a:t>
                      </a:r>
                    </a:p>
                  </a:txBody>
                  <a:tcPr marL="73152" marR="73152" marT="27432" marB="27432" anchor="ctr">
                    <a:solidFill>
                      <a:srgbClr val="FFFFFF"/>
                    </a:solidFill>
                  </a:tcPr>
                </a:tc>
                <a:tc>
                  <a:txBody>
                    <a:bodyPr/>
                    <a:lstStyle/>
                    <a:p>
                      <a:r>
                        <a:rPr sz="1100" b="0" i="0">
                          <a:solidFill>
                            <a:srgbClr val="333B44"/>
                          </a:solidFill>
                          <a:latin typeface="Segoe UI"/>
                        </a:rPr>
                        <a:t>metaverse</a:t>
                      </a:r>
                    </a:p>
                  </a:txBody>
                  <a:tcPr marL="73152" marR="73152" marT="27432" marB="27432" anchor="ctr">
                    <a:solidFill>
                      <a:srgbClr val="FFFFFF"/>
                    </a:solidFill>
                  </a:tcPr>
                </a:tc>
                <a:tc>
                  <a:txBody>
                    <a:bodyPr/>
                    <a:lstStyle/>
                    <a:p>
                      <a:r>
                        <a:rPr sz="1100" b="0" i="0">
                          <a:solidFill>
                            <a:srgbClr val="333B44"/>
                          </a:solidFill>
                          <a:latin typeface="Segoe UI"/>
                        </a:rPr>
                        <a:t>Draft 0.4.0</a:t>
                      </a:r>
                    </a:p>
                  </a:txBody>
                  <a:tcPr marL="73152" marR="73152" marT="27432" marB="27432" anchor="ctr">
                    <a:solidFill>
                      <a:srgbClr val="FFFFFF"/>
                    </a:solidFill>
                  </a:tcPr>
                </a:tc>
                <a:tc>
                  <a:txBody>
                    <a:bodyPr/>
                    <a:lstStyle/>
                    <a:p>
                      <a:r>
                        <a:rPr sz="1100" b="0" i="0">
                          <a:solidFill>
                            <a:srgbClr val="333B44"/>
                          </a:solidFill>
                          <a:latin typeface="Segoe UI"/>
                        </a:rPr>
                        <a:t>10 — branch</a:t>
                      </a:r>
                    </a:p>
                  </a:txBody>
                  <a:tcPr marL="73152" marR="73152" marT="27432" marB="27432" anchor="ctr">
                    <a:solidFill>
                      <a:srgbClr val="FFFFFF"/>
                    </a:solidFill>
                  </a:tcPr>
                </a:tc>
              </a:tr>
              <a:tr h="238706">
                <a:tc>
                  <a:txBody>
                    <a:bodyPr/>
                    <a:lstStyle/>
                    <a:p>
                      <a:r>
                        <a:rPr sz="1100" b="0" i="0">
                          <a:solidFill>
                            <a:srgbClr val="333B44"/>
                          </a:solidFill>
                          <a:latin typeface="Segoe UI"/>
                        </a:rPr>
                        <a:t>OpenUSD Artifact Registry</a:t>
                      </a:r>
                    </a:p>
                  </a:txBody>
                  <a:tcPr marL="73152" marR="73152" marT="27432" marB="27432" anchor="ctr">
                    <a:solidFill>
                      <a:srgbClr val="F4F6F8"/>
                    </a:solidFill>
                  </a:tcPr>
                </a:tc>
                <a:tc>
                  <a:txBody>
                    <a:bodyPr/>
                    <a:lstStyle/>
                    <a:p>
                      <a:r>
                        <a:rPr sz="1100" b="0" i="0">
                          <a:solidFill>
                            <a:srgbClr val="333B44"/>
                          </a:solidFill>
                          <a:latin typeface="Segoe UI"/>
                        </a:rPr>
                        <a:t>metaverse</a:t>
                      </a:r>
                    </a:p>
                  </a:txBody>
                  <a:tcPr marL="73152" marR="73152" marT="27432" marB="27432" anchor="ctr">
                    <a:solidFill>
                      <a:srgbClr val="F4F6F8"/>
                    </a:solidFill>
                  </a:tcPr>
                </a:tc>
                <a:tc>
                  <a:txBody>
                    <a:bodyPr/>
                    <a:lstStyle/>
                    <a:p>
                      <a:r>
                        <a:rPr sz="1100" b="0" i="0">
                          <a:solidFill>
                            <a:srgbClr val="333B44"/>
                          </a:solidFill>
                          <a:latin typeface="Segoe UI"/>
                        </a:rPr>
                        <a:t>Draft → xregistry.org</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r>
              <a:tr h="238706">
                <a:tc>
                  <a:txBody>
                    <a:bodyPr/>
                    <a:lstStyle/>
                    <a:p>
                      <a:r>
                        <a:rPr sz="1100" b="0" i="0">
                          <a:solidFill>
                            <a:srgbClr val="333B44"/>
                          </a:solidFill>
                          <a:latin typeface="Segoe UI"/>
                        </a:rPr>
                        <a:t>WoT Binding</a:t>
                      </a:r>
                    </a:p>
                  </a:txBody>
                  <a:tcPr marL="73152" marR="73152" marT="27432" marB="27432" anchor="ctr">
                    <a:solidFill>
                      <a:srgbClr val="FFFFFF"/>
                    </a:solidFill>
                  </a:tcPr>
                </a:tc>
                <a:tc>
                  <a:txBody>
                    <a:bodyPr/>
                    <a:lstStyle/>
                    <a:p>
                      <a:r>
                        <a:rPr sz="1100" b="0" i="0">
                          <a:solidFill>
                            <a:srgbClr val="333B44"/>
                          </a:solidFill>
                          <a:latin typeface="Segoe UI"/>
                        </a:rPr>
                        <a:t>wot</a:t>
                      </a:r>
                    </a:p>
                  </a:txBody>
                  <a:tcPr marL="73152" marR="73152" marT="27432" marB="27432" anchor="ctr">
                    <a:solidFill>
                      <a:srgbClr val="FFFFFF"/>
                    </a:solidFill>
                  </a:tcPr>
                </a:tc>
                <a:tc>
                  <a:txBody>
                    <a:bodyPr/>
                    <a:lstStyle/>
                    <a:p>
                      <a:r>
                        <a:rPr sz="1100" b="0" i="0">
                          <a:solidFill>
                            <a:srgbClr val="333B44"/>
                          </a:solidFill>
                          <a:latin typeface="Segoe UI"/>
                        </a:rPr>
                        <a:t>Under OPCF review</a:t>
                      </a:r>
                    </a:p>
                  </a:txBody>
                  <a:tcPr marL="73152" marR="73152" marT="27432" marB="27432" anchor="ctr">
                    <a:solidFill>
                      <a:srgbClr val="FFFFFF"/>
                    </a:solidFill>
                  </a:tcPr>
                </a:tc>
                <a:tc>
                  <a:txBody>
                    <a:bodyPr/>
                    <a:lstStyle/>
                    <a:p>
                      <a:r>
                        <a:rPr sz="1100" b="0" i="0">
                          <a:solidFill>
                            <a:srgbClr val="333B44"/>
                          </a:solidFill>
                          <a:latin typeface="Segoe UI"/>
                        </a:rPr>
                        <a:t>4, 7</a:t>
                      </a:r>
                    </a:p>
                  </a:txBody>
                  <a:tcPr marL="73152" marR="73152" marT="27432" marB="27432" anchor="ctr">
                    <a:solidFill>
                      <a:srgbClr val="FFFFFF"/>
                    </a:solidFill>
                  </a:tcPr>
                </a:tc>
              </a:tr>
              <a:tr h="238706">
                <a:tc>
                  <a:txBody>
                    <a:bodyPr/>
                    <a:lstStyle/>
                    <a:p>
                      <a:r>
                        <a:rPr sz="1100" b="0" i="0">
                          <a:solidFill>
                            <a:srgbClr val="333B44"/>
                          </a:solidFill>
                          <a:latin typeface="Segoe UI"/>
                        </a:rPr>
                        <a:t>WoT Connectivity</a:t>
                      </a:r>
                    </a:p>
                  </a:txBody>
                  <a:tcPr marL="73152" marR="73152" marT="27432" marB="27432" anchor="ctr">
                    <a:solidFill>
                      <a:srgbClr val="F4F6F8"/>
                    </a:solidFill>
                  </a:tcPr>
                </a:tc>
                <a:tc>
                  <a:txBody>
                    <a:bodyPr/>
                    <a:lstStyle/>
                    <a:p>
                      <a:r>
                        <a:rPr sz="1100" b="0" i="0">
                          <a:solidFill>
                            <a:srgbClr val="333B44"/>
                          </a:solidFill>
                          <a:latin typeface="Segoe UI"/>
                        </a:rPr>
                        <a:t>wot</a:t>
                      </a:r>
                    </a:p>
                  </a:txBody>
                  <a:tcPr marL="73152" marR="73152" marT="27432" marB="27432" anchor="ctr">
                    <a:solidFill>
                      <a:srgbClr val="F4F6F8"/>
                    </a:solidFill>
                  </a:tcPr>
                </a:tc>
                <a:tc>
                  <a:txBody>
                    <a:bodyPr/>
                    <a:lstStyle/>
                    <a:p>
                      <a:r>
                        <a:rPr sz="1100" b="0" i="0">
                          <a:solidFill>
                            <a:srgbClr val="333B44"/>
                          </a:solidFill>
                          <a:latin typeface="Segoe UI"/>
                        </a:rPr>
                        <a:t>Under OPCF review</a:t>
                      </a:r>
                    </a:p>
                  </a:txBody>
                  <a:tcPr marL="73152" marR="73152" marT="27432" marB="27432" anchor="ctr">
                    <a:solidFill>
                      <a:srgbClr val="F4F6F8"/>
                    </a:solidFill>
                  </a:tcPr>
                </a:tc>
                <a:tc>
                  <a:txBody>
                    <a:bodyPr/>
                    <a:lstStyle/>
                    <a:p>
                      <a:r>
                        <a:rPr sz="1100" b="0" i="0">
                          <a:solidFill>
                            <a:srgbClr val="333B44"/>
                          </a:solidFill>
                          <a:latin typeface="Segoe UI"/>
                        </a:rPr>
                        <a:t>4, 7</a:t>
                      </a:r>
                    </a:p>
                  </a:txBody>
                  <a:tcPr marL="73152" marR="73152" marT="27432" marB="27432" anchor="ctr">
                    <a:solidFill>
                      <a:srgbClr val="F4F6F8"/>
                    </a:solidFill>
                  </a:tcPr>
                </a:tc>
              </a:tr>
              <a:tr h="238706">
                <a:tc>
                  <a:txBody>
                    <a:bodyPr/>
                    <a:lstStyle/>
                    <a:p>
                      <a:r>
                        <a:rPr sz="1100" b="0" i="0">
                          <a:solidFill>
                            <a:srgbClr val="333B44"/>
                          </a:solidFill>
                          <a:latin typeface="Segoe UI"/>
                        </a:rPr>
                        <a:t>Generators (GenSets)</a:t>
                      </a:r>
                    </a:p>
                  </a:txBody>
                  <a:tcPr marL="73152" marR="73152" marT="27432" marB="27432" anchor="ctr">
                    <a:solidFill>
                      <a:srgbClr val="FFFFFF"/>
                    </a:solidFill>
                  </a:tcPr>
                </a:tc>
                <a:tc>
                  <a:txBody>
                    <a:bodyPr/>
                    <a:lstStyle/>
                    <a:p>
                      <a:r>
                        <a:rPr sz="1100" b="0" i="0">
                          <a:solidFill>
                            <a:srgbClr val="333B44"/>
                          </a:solidFill>
                          <a:latin typeface="Segoe UI"/>
                        </a:rPr>
                        <a:t>companion</a:t>
                      </a:r>
                    </a:p>
                  </a:txBody>
                  <a:tcPr marL="73152" marR="73152" marT="27432" marB="27432" anchor="ctr">
                    <a:solidFill>
                      <a:srgbClr val="FFFFFF"/>
                    </a:solidFill>
                  </a:tcPr>
                </a:tc>
                <a:tc>
                  <a:txBody>
                    <a:bodyPr/>
                    <a:lstStyle/>
                    <a:p>
                      <a:r>
                        <a:rPr sz="1100" b="0" i="0">
                          <a:solidFill>
                            <a:srgbClr val="333B44"/>
                          </a:solidFill>
                          <a:latin typeface="Segoe UI"/>
                        </a:rPr>
                        <a:t>Draft 1.0.0</a:t>
                      </a:r>
                    </a:p>
                  </a:txBody>
                  <a:tcPr marL="73152" marR="73152" marT="27432" marB="27432" anchor="ctr">
                    <a:solidFill>
                      <a:srgbClr val="FFFFFF"/>
                    </a:solidFill>
                  </a:tcPr>
                </a:tc>
                <a:tc>
                  <a:txBody>
                    <a:bodyPr/>
                    <a:lstStyle/>
                    <a:p>
                      <a:r>
                        <a:rPr sz="1100" b="0" i="0">
                          <a:solidFill>
                            <a:srgbClr val="333B44"/>
                          </a:solidFill>
                          <a:latin typeface="Segoe UI"/>
                        </a:rPr>
                        <a:t>—</a:t>
                      </a:r>
                    </a:p>
                  </a:txBody>
                  <a:tcPr marL="73152" marR="73152" marT="27432" marB="27432" anchor="ctr">
                    <a:solidFill>
                      <a:srgbClr val="FFFFFF"/>
                    </a:solidFill>
                  </a:tcPr>
                </a:tc>
              </a:tr>
              <a:tr h="238706">
                <a:tc>
                  <a:txBody>
                    <a:bodyPr/>
                    <a:lstStyle/>
                    <a:p>
                      <a:r>
                        <a:rPr sz="1100" b="0" i="0">
                          <a:solidFill>
                            <a:srgbClr val="333B44"/>
                          </a:solidFill>
                          <a:latin typeface="Segoe UI"/>
                        </a:rPr>
                        <a:t>Asset Administration Shell 3.0</a:t>
                      </a:r>
                    </a:p>
                  </a:txBody>
                  <a:tcPr marL="73152" marR="73152" marT="27432" marB="27432" anchor="ctr">
                    <a:solidFill>
                      <a:srgbClr val="F4F6F8"/>
                    </a:solidFill>
                  </a:tcPr>
                </a:tc>
                <a:tc>
                  <a:txBody>
                    <a:bodyPr/>
                    <a:lstStyle/>
                    <a:p>
                      <a:r>
                        <a:rPr sz="1100" b="0" i="0">
                          <a:solidFill>
                            <a:srgbClr val="333B44"/>
                          </a:solidFill>
                          <a:latin typeface="Segoe UI"/>
                        </a:rPr>
                        <a:t>companion</a:t>
                      </a:r>
                    </a:p>
                  </a:txBody>
                  <a:tcPr marL="73152" marR="73152" marT="27432" marB="27432" anchor="ctr">
                    <a:solidFill>
                      <a:srgbClr val="F4F6F8"/>
                    </a:solidFill>
                  </a:tcPr>
                </a:tc>
                <a:tc>
                  <a:txBody>
                    <a:bodyPr/>
                    <a:lstStyle/>
                    <a:p>
                      <a:r>
                        <a:rPr sz="1100" b="0" i="0">
                          <a:solidFill>
                            <a:srgbClr val="333B44"/>
                          </a:solidFill>
                          <a:latin typeface="Segoe UI"/>
                        </a:rPr>
                        <a:t>Draft 3.0.0 — open PR</a:t>
                      </a:r>
                    </a:p>
                  </a:txBody>
                  <a:tcPr marL="73152" marR="73152" marT="27432" marB="27432" anchor="ctr">
                    <a:solidFill>
                      <a:srgbClr val="F4F6F8"/>
                    </a:solidFill>
                  </a:tcPr>
                </a:tc>
                <a:tc>
                  <a:txBody>
                    <a:bodyPr/>
                    <a:lstStyle/>
                    <a:p>
                      <a:r>
                        <a:rPr sz="1100" b="0" i="0">
                          <a:solidFill>
                            <a:srgbClr val="333B44"/>
                          </a:solidFill>
                          <a:latin typeface="Segoe UI"/>
                        </a:rPr>
                        <a:t>7 — walkthrough</a:t>
                      </a:r>
                    </a:p>
                  </a:txBody>
                  <a:tcPr marL="73152" marR="73152" marT="27432" marB="27432" anchor="ctr">
                    <a:solidFill>
                      <a:srgbClr val="F4F6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The ten demos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2B49"/>
                </a:solidFill>
                <a:latin typeface="Segoe UI"/>
              </a:rPr>
              <a:t>What runs today, what needs a branch, what is still a walkthrough</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specification drafts — overview</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a:t>
            </a:r>
          </a:p>
        </p:txBody>
      </p:sp>
      <p:graphicFrame>
        <p:nvGraphicFramePr>
          <p:cNvPr id="8" name="Table 7"/>
          <p:cNvGraphicFramePr>
            <a:graphicFrameLocks noGrp="1"/>
          </p:cNvGraphicFramePr>
          <p:nvPr/>
        </p:nvGraphicFramePr>
        <p:xfrm>
          <a:off x="685800" y="1591056"/>
          <a:ext cx="10820093" cy="4224528"/>
        </p:xfrm>
        <a:graphic>
          <a:graphicData uri="http://schemas.openxmlformats.org/drawingml/2006/table">
            <a:tbl>
              <a:tblPr firstRow="1" bandRow="1">
                <a:tableStyleId>{5C22544A-7EE6-4342-B048-85BDC9FD1C3A}</a:tableStyleId>
              </a:tblPr>
              <a:tblGrid>
                <a:gridCol w="541004"/>
                <a:gridCol w="3678832"/>
                <a:gridCol w="4328038"/>
                <a:gridCol w="2272219"/>
              </a:tblGrid>
              <a:tr h="384048">
                <a:tc>
                  <a:txBody>
                    <a:bodyPr/>
                    <a:lstStyle/>
                    <a:p>
                      <a:r>
                        <a:rPr sz="1100" b="1" i="0">
                          <a:solidFill>
                            <a:srgbClr val="FFFFFF"/>
                          </a:solidFill>
                          <a:latin typeface="Segoe UI Semibold"/>
                        </a:rPr>
                        <a:t>#</a:t>
                      </a:r>
                    </a:p>
                  </a:txBody>
                  <a:tcPr marL="73152" marR="73152" anchor="ctr">
                    <a:solidFill>
                      <a:srgbClr val="002B49"/>
                    </a:solidFill>
                  </a:tcPr>
                </a:tc>
                <a:tc>
                  <a:txBody>
                    <a:bodyPr/>
                    <a:lstStyle/>
                    <a:p>
                      <a:r>
                        <a:rPr sz="1100" b="1" i="0">
                          <a:solidFill>
                            <a:srgbClr val="FFFFFF"/>
                          </a:solidFill>
                          <a:latin typeface="Segoe UI Semibold"/>
                        </a:rPr>
                        <a:t>Demo</a:t>
                      </a:r>
                    </a:p>
                  </a:txBody>
                  <a:tcPr marL="73152" marR="73152" anchor="ctr">
                    <a:solidFill>
                      <a:srgbClr val="002B49"/>
                    </a:solidFill>
                  </a:tcPr>
                </a:tc>
                <a:tc>
                  <a:txBody>
                    <a:bodyPr/>
                    <a:lstStyle/>
                    <a:p>
                      <a:r>
                        <a:rPr sz="1100" b="1" i="0">
                          <a:solidFill>
                            <a:srgbClr val="FFFFFF"/>
                          </a:solidFill>
                          <a:latin typeface="Segoe UI Semibold"/>
                        </a:rPr>
                        <a:t>Shows</a:t>
                      </a:r>
                    </a:p>
                  </a:txBody>
                  <a:tcPr marL="73152" marR="73152" anchor="ctr">
                    <a:solidFill>
                      <a:srgbClr val="002B49"/>
                    </a:solidFill>
                  </a:tcPr>
                </a:tc>
                <a:tc>
                  <a:txBody>
                    <a:bodyPr/>
                    <a:lstStyle/>
                    <a:p>
                      <a:r>
                        <a:rPr sz="1100" b="1" i="0">
                          <a:solidFill>
                            <a:srgbClr val="FFFFFF"/>
                          </a:solidFill>
                          <a:latin typeface="Segoe UI Semibold"/>
                        </a:rPr>
                        <a:t>State</a:t>
                      </a:r>
                    </a:p>
                  </a:txBody>
                  <a:tcPr marL="73152" marR="73152" anchor="ctr">
                    <a:solidFill>
                      <a:srgbClr val="002B49"/>
                    </a:solidFill>
                  </a:tcPr>
                </a:tc>
              </a:tr>
              <a:tr h="384048">
                <a:tc>
                  <a:txBody>
                    <a:bodyPr/>
                    <a:lstStyle/>
                    <a:p>
                      <a:r>
                        <a:rPr sz="1100" b="0" i="0">
                          <a:solidFill>
                            <a:srgbClr val="333B44"/>
                          </a:solidFill>
                          <a:latin typeface="Segoe UI"/>
                        </a:rPr>
                        <a:t>1</a:t>
                      </a:r>
                    </a:p>
                  </a:txBody>
                  <a:tcPr marL="73152" marR="73152" marT="27432" marB="27432" anchor="ctr">
                    <a:solidFill>
                      <a:srgbClr val="FFFFFF"/>
                    </a:solidFill>
                  </a:tcPr>
                </a:tc>
                <a:tc>
                  <a:txBody>
                    <a:bodyPr/>
                    <a:lstStyle/>
                    <a:p>
                      <a:r>
                        <a:rPr sz="1100" b="0" i="0">
                          <a:solidFill>
                            <a:srgbClr val="333B44"/>
                          </a:solidFill>
                          <a:latin typeface="Segoe UI"/>
                        </a:rPr>
                        <a:t>OPC UA MCP server</a:t>
                      </a:r>
                    </a:p>
                  </a:txBody>
                  <a:tcPr marL="73152" marR="73152" marT="27432" marB="27432" anchor="ctr">
                    <a:solidFill>
                      <a:srgbClr val="FFFFFF"/>
                    </a:solidFill>
                  </a:tcPr>
                </a:tc>
                <a:tc>
                  <a:txBody>
                    <a:bodyPr/>
                    <a:lstStyle/>
                    <a:p>
                      <a:r>
                        <a:rPr sz="1100" b="0" i="0">
                          <a:solidFill>
                            <a:srgbClr val="333B44"/>
                          </a:solidFill>
                          <a:latin typeface="Segoe UI"/>
                        </a:rPr>
                        <a:t>Any address space, driven by a language model</a:t>
                      </a:r>
                    </a:p>
                  </a:txBody>
                  <a:tcPr marL="73152" marR="73152" marT="27432" marB="27432" anchor="ctr">
                    <a:solidFill>
                      <a:srgbClr val="FFFFFF"/>
                    </a:solidFill>
                  </a:tcPr>
                </a:tc>
                <a:tc>
                  <a:txBody>
                    <a:bodyPr/>
                    <a:lstStyle/>
                    <a:p>
                      <a:r>
                        <a:rPr sz="1100" b="0" i="0">
                          <a:solidFill>
                            <a:srgbClr val="333B44"/>
                          </a:solidFill>
                          <a:latin typeface="Segoe UI"/>
                        </a:rPr>
                        <a:t>Runs on </a:t>
                      </a:r>
                      <a:r>
                        <a:rPr sz="1000" b="0" i="0">
                          <a:solidFill>
                            <a:srgbClr val="002B49"/>
                          </a:solidFill>
                          <a:latin typeface="Consolas"/>
                        </a:rPr>
                        <a:t>master</a:t>
                      </a:r>
                    </a:p>
                  </a:txBody>
                  <a:tcPr marL="73152" marR="73152" marT="27432" marB="27432" anchor="ctr">
                    <a:solidFill>
                      <a:srgbClr val="FFFFFF"/>
                    </a:solidFill>
                  </a:tcPr>
                </a:tc>
              </a:tr>
              <a:tr h="384048">
                <a:tc>
                  <a:txBody>
                    <a:bodyPr/>
                    <a:lstStyle/>
                    <a:p>
                      <a:r>
                        <a:rPr sz="1100" b="0" i="0">
                          <a:solidFill>
                            <a:srgbClr val="333B44"/>
                          </a:solidFill>
                          <a:latin typeface="Segoe UI"/>
                        </a:rPr>
                        <a:t>2</a:t>
                      </a:r>
                    </a:p>
                  </a:txBody>
                  <a:tcPr marL="73152" marR="73152" marT="27432" marB="27432" anchor="ctr">
                    <a:solidFill>
                      <a:srgbClr val="F4F6F8"/>
                    </a:solidFill>
                  </a:tcPr>
                </a:tc>
                <a:tc>
                  <a:txBody>
                    <a:bodyPr/>
                    <a:lstStyle/>
                    <a:p>
                      <a:r>
                        <a:rPr sz="1100" b="0" i="0">
                          <a:solidFill>
                            <a:srgbClr val="333B44"/>
                          </a:solidFill>
                          <a:latin typeface="Segoe UI"/>
                        </a:rPr>
                        <a:t>Robot + GPOS/RSL + USD</a:t>
                      </a:r>
                    </a:p>
                  </a:txBody>
                  <a:tcPr marL="73152" marR="73152" marT="27432" marB="27432" anchor="ctr">
                    <a:solidFill>
                      <a:srgbClr val="F4F6F8"/>
                    </a:solidFill>
                  </a:tcPr>
                </a:tc>
                <a:tc>
                  <a:txBody>
                    <a:bodyPr/>
                    <a:lstStyle/>
                    <a:p>
                      <a:r>
                        <a:rPr sz="1100" b="0" i="0">
                          <a:solidFill>
                            <a:srgbClr val="333B44"/>
                          </a:solidFill>
                          <a:latin typeface="Segoe UI"/>
                        </a:rPr>
                        <a:t>Robot Intent, OpenUSD, Parts 210/211</a:t>
                      </a:r>
                    </a:p>
                  </a:txBody>
                  <a:tcPr marL="73152" marR="73152" marT="27432" marB="27432" anchor="ctr">
                    <a:solidFill>
                      <a:srgbClr val="F4F6F8"/>
                    </a:solidFill>
                  </a:tcPr>
                </a:tc>
                <a:tc>
                  <a:txBody>
                    <a:bodyPr/>
                    <a:lstStyle/>
                    <a:p>
                      <a:r>
                        <a:rPr sz="1100" b="0" i="0">
                          <a:solidFill>
                            <a:srgbClr val="333B44"/>
                          </a:solidFill>
                          <a:latin typeface="Segoe UI"/>
                        </a:rPr>
                        <a:t>Runs on </a:t>
                      </a:r>
                      <a:r>
                        <a:rPr sz="1000" b="0" i="0">
                          <a:solidFill>
                            <a:srgbClr val="002B49"/>
                          </a:solidFill>
                          <a:latin typeface="Consolas"/>
                        </a:rPr>
                        <a:t>master</a:t>
                      </a:r>
                    </a:p>
                  </a:txBody>
                  <a:tcPr marL="73152" marR="73152" marT="27432" marB="27432" anchor="ctr">
                    <a:solidFill>
                      <a:srgbClr val="F4F6F8"/>
                    </a:solidFill>
                  </a:tcPr>
                </a:tc>
              </a:tr>
              <a:tr h="384048">
                <a:tc>
                  <a:txBody>
                    <a:bodyPr/>
                    <a:lstStyle/>
                    <a:p>
                      <a:r>
                        <a:rPr sz="1100" b="0" i="0">
                          <a:solidFill>
                            <a:srgbClr val="333B44"/>
                          </a:solidFill>
                          <a:latin typeface="Segoe UI"/>
                        </a:rPr>
                        <a:t>3</a:t>
                      </a:r>
                    </a:p>
                  </a:txBody>
                  <a:tcPr marL="73152" marR="73152" marT="27432" marB="27432" anchor="ctr">
                    <a:solidFill>
                      <a:srgbClr val="FFFFFF"/>
                    </a:solidFill>
                  </a:tcPr>
                </a:tc>
                <a:tc>
                  <a:txBody>
                    <a:bodyPr/>
                    <a:lstStyle/>
                    <a:p>
                      <a:r>
                        <a:rPr sz="1100" b="0" i="0">
                          <a:solidFill>
                            <a:srgbClr val="333B44"/>
                          </a:solidFill>
                          <a:latin typeface="Segoe UI"/>
                        </a:rPr>
                        <a:t>Pump USD and composition</a:t>
                      </a:r>
                    </a:p>
                  </a:txBody>
                  <a:tcPr marL="73152" marR="73152" marT="27432" marB="27432" anchor="ctr">
                    <a:solidFill>
                      <a:srgbClr val="FFFFFF"/>
                    </a:solidFill>
                  </a:tcPr>
                </a:tc>
                <a:tc>
                  <a:txBody>
                    <a:bodyPr/>
                    <a:lstStyle/>
                    <a:p>
                      <a:r>
                        <a:rPr sz="1100" b="0" i="0">
                          <a:solidFill>
                            <a:srgbClr val="333B44"/>
                          </a:solidFill>
                          <a:latin typeface="Segoe UI"/>
                        </a:rPr>
                        <a:t>OpenUSD Parts 1 and 2, site composition</a:t>
                      </a:r>
                    </a:p>
                  </a:txBody>
                  <a:tcPr marL="73152" marR="73152" marT="27432" marB="27432" anchor="ctr">
                    <a:solidFill>
                      <a:srgbClr val="FFFFFF"/>
                    </a:solidFill>
                  </a:tcPr>
                </a:tc>
                <a:tc>
                  <a:txBody>
                    <a:bodyPr/>
                    <a:lstStyle/>
                    <a:p>
                      <a:r>
                        <a:rPr sz="1100" b="0" i="0">
                          <a:solidFill>
                            <a:srgbClr val="333B44"/>
                          </a:solidFill>
                          <a:latin typeface="Segoe UI"/>
                        </a:rPr>
                        <a:t>Runs on </a:t>
                      </a:r>
                      <a:r>
                        <a:rPr sz="1000" b="0" i="0">
                          <a:solidFill>
                            <a:srgbClr val="002B49"/>
                          </a:solidFill>
                          <a:latin typeface="Consolas"/>
                        </a:rPr>
                        <a:t>master</a:t>
                      </a:r>
                    </a:p>
                  </a:txBody>
                  <a:tcPr marL="73152" marR="73152" marT="27432" marB="27432" anchor="ctr">
                    <a:solidFill>
                      <a:srgbClr val="FFFFFF"/>
                    </a:solidFill>
                  </a:tcPr>
                </a:tc>
              </a:tr>
              <a:tr h="384048">
                <a:tc>
                  <a:txBody>
                    <a:bodyPr/>
                    <a:lstStyle/>
                    <a:p>
                      <a:r>
                        <a:rPr sz="1100" b="0" i="0">
                          <a:solidFill>
                            <a:srgbClr val="333B44"/>
                          </a:solidFill>
                          <a:latin typeface="Segoe UI"/>
                        </a:rPr>
                        <a:t>4</a:t>
                      </a:r>
                    </a:p>
                  </a:txBody>
                  <a:tcPr marL="73152" marR="73152" marT="27432" marB="27432" anchor="ctr">
                    <a:solidFill>
                      <a:srgbClr val="F4F6F8"/>
                    </a:solidFill>
                  </a:tcPr>
                </a:tc>
                <a:tc>
                  <a:txBody>
                    <a:bodyPr/>
                    <a:lstStyle/>
                    <a:p>
                      <a:r>
                        <a:rPr sz="1100" b="0" i="0">
                          <a:solidFill>
                            <a:srgbClr val="333B44"/>
                          </a:solidFill>
                          <a:latin typeface="Segoe UI"/>
                        </a:rPr>
                        <a:t>Pumps via WoT Connectivity</a:t>
                      </a:r>
                    </a:p>
                  </a:txBody>
                  <a:tcPr marL="73152" marR="73152" marT="27432" marB="27432" anchor="ctr">
                    <a:solidFill>
                      <a:srgbClr val="F4F6F8"/>
                    </a:solidFill>
                  </a:tcPr>
                </a:tc>
                <a:tc>
                  <a:txBody>
                    <a:bodyPr/>
                    <a:lstStyle/>
                    <a:p>
                      <a:r>
                        <a:rPr sz="1100" b="0" i="0">
                          <a:solidFill>
                            <a:srgbClr val="333B44"/>
                          </a:solidFill>
                          <a:latin typeface="Segoe UI"/>
                        </a:rPr>
                        <a:t>WoT Binding and Connectivity, TD-driven aggregation</a:t>
                      </a:r>
                    </a:p>
                  </a:txBody>
                  <a:tcPr marL="73152" marR="73152" marT="27432" marB="27432" anchor="ctr">
                    <a:solidFill>
                      <a:srgbClr val="F4F6F8"/>
                    </a:solidFill>
                  </a:tcPr>
                </a:tc>
                <a:tc>
                  <a:txBody>
                    <a:bodyPr/>
                    <a:lstStyle/>
                    <a:p>
                      <a:r>
                        <a:rPr sz="1100" b="0" i="0">
                          <a:solidFill>
                            <a:srgbClr val="333B44"/>
                          </a:solidFill>
                          <a:latin typeface="Segoe UI"/>
                        </a:rPr>
                        <a:t>Runs on </a:t>
                      </a:r>
                      <a:r>
                        <a:rPr sz="1000" b="0" i="0">
                          <a:solidFill>
                            <a:srgbClr val="002B49"/>
                          </a:solidFill>
                          <a:latin typeface="Consolas"/>
                        </a:rPr>
                        <a:t>master</a:t>
                      </a:r>
                    </a:p>
                  </a:txBody>
                  <a:tcPr marL="73152" marR="73152" marT="27432" marB="27432" anchor="ctr">
                    <a:solidFill>
                      <a:srgbClr val="F4F6F8"/>
                    </a:solidFill>
                  </a:tcPr>
                </a:tc>
              </a:tr>
              <a:tr h="384048">
                <a:tc>
                  <a:txBody>
                    <a:bodyPr/>
                    <a:lstStyle/>
                    <a:p>
                      <a:r>
                        <a:rPr sz="1100" b="0" i="0">
                          <a:solidFill>
                            <a:srgbClr val="333B44"/>
                          </a:solidFill>
                          <a:latin typeface="Segoe UI"/>
                        </a:rPr>
                        <a:t>5</a:t>
                      </a:r>
                    </a:p>
                  </a:txBody>
                  <a:tcPr marL="73152" marR="73152" marT="27432" marB="27432" anchor="ctr">
                    <a:solidFill>
                      <a:srgbClr val="FFFFFF"/>
                    </a:solidFill>
                  </a:tcPr>
                </a:tc>
                <a:tc>
                  <a:txBody>
                    <a:bodyPr/>
                    <a:lstStyle/>
                    <a:p>
                      <a:r>
                        <a:rPr sz="1100" b="0" i="0">
                          <a:solidFill>
                            <a:srgbClr val="333B44"/>
                          </a:solidFill>
                          <a:latin typeface="Segoe UI"/>
                        </a:rPr>
                        <a:t>Robot intent viewer plus MCP</a:t>
                      </a:r>
                    </a:p>
                  </a:txBody>
                  <a:tcPr marL="73152" marR="73152" marT="27432" marB="27432" anchor="ctr">
                    <a:solidFill>
                      <a:srgbClr val="FFFFFF"/>
                    </a:solidFill>
                  </a:tcPr>
                </a:tc>
                <a:tc>
                  <a:txBody>
                    <a:bodyPr/>
                    <a:lstStyle/>
                    <a:p>
                      <a:r>
                        <a:rPr sz="1100" b="0" i="0">
                          <a:solidFill>
                            <a:srgbClr val="333B44"/>
                          </a:solidFill>
                          <a:latin typeface="Segoe UI"/>
                        </a:rPr>
                        <a:t>Robot Intent lifecycle, live viewer</a:t>
                      </a:r>
                    </a:p>
                  </a:txBody>
                  <a:tcPr marL="73152" marR="73152" marT="27432" marB="27432" anchor="ctr">
                    <a:solidFill>
                      <a:srgbClr val="FFFFFF"/>
                    </a:solidFill>
                  </a:tcPr>
                </a:tc>
                <a:tc>
                  <a:txBody>
                    <a:bodyPr/>
                    <a:lstStyle/>
                    <a:p>
                      <a:r>
                        <a:rPr sz="1100" b="0" i="0">
                          <a:solidFill>
                            <a:srgbClr val="333B44"/>
                          </a:solidFill>
                          <a:latin typeface="Segoe UI"/>
                        </a:rPr>
                        <a:t>Runs on </a:t>
                      </a:r>
                      <a:r>
                        <a:rPr sz="1000" b="0" i="0">
                          <a:solidFill>
                            <a:srgbClr val="002B49"/>
                          </a:solidFill>
                          <a:latin typeface="Consolas"/>
                        </a:rPr>
                        <a:t>master</a:t>
                      </a:r>
                    </a:p>
                  </a:txBody>
                  <a:tcPr marL="73152" marR="73152" marT="27432" marB="27432" anchor="ctr">
                    <a:solidFill>
                      <a:srgbClr val="FFFFFF"/>
                    </a:solidFill>
                  </a:tcPr>
                </a:tc>
              </a:tr>
              <a:tr h="384048">
                <a:tc>
                  <a:txBody>
                    <a:bodyPr/>
                    <a:lstStyle/>
                    <a:p>
                      <a:r>
                        <a:rPr sz="1100" b="0" i="0">
                          <a:solidFill>
                            <a:srgbClr val="333B44"/>
                          </a:solidFill>
                          <a:latin typeface="Segoe UI"/>
                        </a:rPr>
                        <a:t>6</a:t>
                      </a:r>
                    </a:p>
                  </a:txBody>
                  <a:tcPr marL="73152" marR="73152" marT="27432" marB="27432" anchor="ctr">
                    <a:solidFill>
                      <a:srgbClr val="F4F6F8"/>
                    </a:solidFill>
                  </a:tcPr>
                </a:tc>
                <a:tc>
                  <a:txBody>
                    <a:bodyPr/>
                    <a:lstStyle/>
                    <a:p>
                      <a:r>
                        <a:rPr sz="1100" b="0" i="0">
                          <a:solidFill>
                            <a:srgbClr val="333B44"/>
                          </a:solidFill>
                          <a:latin typeface="Segoe UI"/>
                        </a:rPr>
                        <a:t>Server redundancy</a:t>
                      </a:r>
                    </a:p>
                  </a:txBody>
                  <a:tcPr marL="73152" marR="73152" marT="27432" marB="27432" anchor="ctr">
                    <a:solidFill>
                      <a:srgbClr val="F4F6F8"/>
                    </a:solidFill>
                  </a:tcPr>
                </a:tc>
                <a:tc>
                  <a:txBody>
                    <a:bodyPr/>
                    <a:lstStyle/>
                    <a:p>
                      <a:r>
                        <a:rPr sz="1100" b="0" i="0">
                          <a:solidFill>
                            <a:srgbClr val="333B44"/>
                          </a:solidFill>
                          <a:latin typeface="Segoe UI"/>
                        </a:rPr>
                        <a:t>Transparent failover, subscription transfer</a:t>
                      </a:r>
                    </a:p>
                  </a:txBody>
                  <a:tcPr marL="73152" marR="73152" marT="27432" marB="27432" anchor="ctr">
                    <a:solidFill>
                      <a:srgbClr val="F4F6F8"/>
                    </a:solidFill>
                  </a:tcPr>
                </a:tc>
                <a:tc>
                  <a:txBody>
                    <a:bodyPr/>
                    <a:lstStyle/>
                    <a:p>
                      <a:r>
                        <a:rPr sz="1100" b="0" i="0">
                          <a:solidFill>
                            <a:srgbClr val="333B44"/>
                          </a:solidFill>
                          <a:latin typeface="Segoe UI"/>
                        </a:rPr>
                        <a:t>Runs on </a:t>
                      </a:r>
                      <a:r>
                        <a:rPr sz="1000" b="0" i="0">
                          <a:solidFill>
                            <a:srgbClr val="002B49"/>
                          </a:solidFill>
                          <a:latin typeface="Consolas"/>
                        </a:rPr>
                        <a:t>master</a:t>
                      </a:r>
                    </a:p>
                  </a:txBody>
                  <a:tcPr marL="73152" marR="73152" marT="27432" marB="27432" anchor="ctr">
                    <a:solidFill>
                      <a:srgbClr val="F4F6F8"/>
                    </a:solidFill>
                  </a:tcPr>
                </a:tc>
              </a:tr>
              <a:tr h="384048">
                <a:tc>
                  <a:txBody>
                    <a:bodyPr/>
                    <a:lstStyle/>
                    <a:p>
                      <a:r>
                        <a:rPr sz="1100" b="0" i="0">
                          <a:solidFill>
                            <a:srgbClr val="333B44"/>
                          </a:solidFill>
                          <a:latin typeface="Segoe UI"/>
                        </a:rPr>
                        <a:t>7</a:t>
                      </a:r>
                    </a:p>
                  </a:txBody>
                  <a:tcPr marL="73152" marR="73152" marT="27432" marB="27432" anchor="ctr">
                    <a:solidFill>
                      <a:srgbClr val="FFFFFF"/>
                    </a:solidFill>
                  </a:tcPr>
                </a:tc>
                <a:tc>
                  <a:txBody>
                    <a:bodyPr/>
                    <a:lstStyle/>
                    <a:p>
                      <a:r>
                        <a:rPr sz="1100" b="0" i="0">
                          <a:solidFill>
                            <a:srgbClr val="333B44"/>
                          </a:solidFill>
                          <a:latin typeface="Segoe UI"/>
                        </a:rPr>
                        <a:t>AAS + WoT + xRegistry</a:t>
                      </a:r>
                    </a:p>
                  </a:txBody>
                  <a:tcPr marL="73152" marR="73152" marT="27432" marB="27432" anchor="ctr">
                    <a:solidFill>
                      <a:srgbClr val="FFFFFF"/>
                    </a:solidFill>
                  </a:tcPr>
                </a:tc>
                <a:tc>
                  <a:txBody>
                    <a:bodyPr/>
                    <a:lstStyle/>
                    <a:p>
                      <a:r>
                        <a:rPr sz="1100" b="0" i="0">
                          <a:solidFill>
                            <a:srgbClr val="333B44"/>
                          </a:solidFill>
                          <a:latin typeface="Segoe UI"/>
                        </a:rPr>
                        <a:t>One asset, three projections</a:t>
                      </a:r>
                    </a:p>
                  </a:txBody>
                  <a:tcPr marL="73152" marR="73152" marT="27432" marB="27432" anchor="ctr">
                    <a:solidFill>
                      <a:srgbClr val="FFFFFF"/>
                    </a:solidFill>
                  </a:tcPr>
                </a:tc>
                <a:tc>
                  <a:txBody>
                    <a:bodyPr/>
                    <a:lstStyle/>
                    <a:p>
                      <a:r>
                        <a:rPr sz="1100" b="0" i="0">
                          <a:solidFill>
                            <a:srgbClr val="333B44"/>
                          </a:solidFill>
                          <a:latin typeface="Segoe UI"/>
                        </a:rPr>
                        <a:t>Walkthrough</a:t>
                      </a:r>
                    </a:p>
                  </a:txBody>
                  <a:tcPr marL="73152" marR="73152" marT="27432" marB="27432" anchor="ctr">
                    <a:solidFill>
                      <a:srgbClr val="FFFFFF"/>
                    </a:solidFill>
                  </a:tcPr>
                </a:tc>
              </a:tr>
              <a:tr h="384048">
                <a:tc>
                  <a:txBody>
                    <a:bodyPr/>
                    <a:lstStyle/>
                    <a:p>
                      <a:r>
                        <a:rPr sz="1100" b="0" i="0">
                          <a:solidFill>
                            <a:srgbClr val="333B44"/>
                          </a:solidFill>
                          <a:latin typeface="Segoe UI"/>
                        </a:rPr>
                        <a:t>8</a:t>
                      </a:r>
                    </a:p>
                  </a:txBody>
                  <a:tcPr marL="73152" marR="73152" marT="27432" marB="27432" anchor="ctr">
                    <a:solidFill>
                      <a:srgbClr val="F4F6F8"/>
                    </a:solidFill>
                  </a:tcPr>
                </a:tc>
                <a:tc>
                  <a:txBody>
                    <a:bodyPr/>
                    <a:lstStyle/>
                    <a:p>
                      <a:r>
                        <a:rPr sz="1100" b="0" i="0">
                          <a:solidFill>
                            <a:srgbClr val="333B44"/>
                          </a:solidFill>
                          <a:latin typeface="Segoe UI"/>
                        </a:rPr>
                        <a:t>Media over Data Channels</a:t>
                      </a:r>
                    </a:p>
                  </a:txBody>
                  <a:tcPr marL="73152" marR="73152" marT="27432" marB="27432" anchor="ctr">
                    <a:solidFill>
                      <a:srgbClr val="F4F6F8"/>
                    </a:solidFill>
                  </a:tcPr>
                </a:tc>
                <a:tc>
                  <a:txBody>
                    <a:bodyPr/>
                    <a:lstStyle/>
                    <a:p>
                      <a:r>
                        <a:rPr sz="1100" b="0" i="0">
                          <a:solidFill>
                            <a:srgbClr val="333B44"/>
                          </a:solidFill>
                          <a:latin typeface="Segoe UI"/>
                        </a:rPr>
                        <a:t>Video on an open SecureChannel</a:t>
                      </a:r>
                    </a:p>
                  </a:txBody>
                  <a:tcPr marL="73152" marR="73152" marT="27432" marB="27432" anchor="ctr">
                    <a:solidFill>
                      <a:srgbClr val="F4F6F8"/>
                    </a:solidFill>
                  </a:tcPr>
                </a:tc>
                <a:tc>
                  <a:txBody>
                    <a:bodyPr/>
                    <a:lstStyle/>
                    <a:p>
                      <a:r>
                        <a:rPr sz="1100" b="0" i="0">
                          <a:solidFill>
                            <a:srgbClr val="333B44"/>
                          </a:solidFill>
                          <a:latin typeface="Segoe UI"/>
                        </a:rPr>
                        <a:t>Feature branch</a:t>
                      </a:r>
                    </a:p>
                  </a:txBody>
                  <a:tcPr marL="73152" marR="73152" marT="27432" marB="27432" anchor="ctr">
                    <a:solidFill>
                      <a:srgbClr val="F4F6F8"/>
                    </a:solidFill>
                  </a:tcPr>
                </a:tc>
              </a:tr>
              <a:tr h="384048">
                <a:tc>
                  <a:txBody>
                    <a:bodyPr/>
                    <a:lstStyle/>
                    <a:p>
                      <a:r>
                        <a:rPr sz="1100" b="0" i="0">
                          <a:solidFill>
                            <a:srgbClr val="333B44"/>
                          </a:solidFill>
                          <a:latin typeface="Segoe UI"/>
                        </a:rPr>
                        <a:t>9</a:t>
                      </a:r>
                    </a:p>
                  </a:txBody>
                  <a:tcPr marL="73152" marR="73152" marT="27432" marB="27432" anchor="ctr">
                    <a:solidFill>
                      <a:srgbClr val="FFFFFF"/>
                    </a:solidFill>
                  </a:tcPr>
                </a:tc>
                <a:tc>
                  <a:txBody>
                    <a:bodyPr/>
                    <a:lstStyle/>
                    <a:p>
                      <a:r>
                        <a:rPr sz="1100" b="0" i="0">
                          <a:solidFill>
                            <a:srgbClr val="333B44"/>
                          </a:solidFill>
                          <a:latin typeface="Segoe UI"/>
                        </a:rPr>
                        <a:t>Vision</a:t>
                      </a:r>
                    </a:p>
                  </a:txBody>
                  <a:tcPr marL="73152" marR="73152" marT="27432" marB="27432" anchor="ctr">
                    <a:solidFill>
                      <a:srgbClr val="FFFFFF"/>
                    </a:solidFill>
                  </a:tcPr>
                </a:tc>
                <a:tc>
                  <a:txBody>
                    <a:bodyPr/>
                    <a:lstStyle/>
                    <a:p>
                      <a:r>
                        <a:rPr sz="1100" b="0" i="0">
                          <a:solidFill>
                            <a:srgbClr val="333B44"/>
                          </a:solidFill>
                          <a:latin typeface="Segoe UI"/>
                        </a:rPr>
                        <a:t>Camera, inference, published result</a:t>
                      </a:r>
                    </a:p>
                  </a:txBody>
                  <a:tcPr marL="73152" marR="73152" marT="27432" marB="27432" anchor="ctr">
                    <a:solidFill>
                      <a:srgbClr val="FFFFFF"/>
                    </a:solidFill>
                  </a:tcPr>
                </a:tc>
                <a:tc>
                  <a:txBody>
                    <a:bodyPr/>
                    <a:lstStyle/>
                    <a:p>
                      <a:r>
                        <a:rPr sz="1100" b="0" i="0">
                          <a:solidFill>
                            <a:srgbClr val="333B44"/>
                          </a:solidFill>
                          <a:latin typeface="Segoe UI"/>
                        </a:rPr>
                        <a:t>Walkthrough</a:t>
                      </a:r>
                    </a:p>
                  </a:txBody>
                  <a:tcPr marL="73152" marR="73152" marT="27432" marB="27432" anchor="ctr">
                    <a:solidFill>
                      <a:srgbClr val="FFFFFF"/>
                    </a:solidFill>
                  </a:tcPr>
                </a:tc>
              </a:tr>
              <a:tr h="384048">
                <a:tc>
                  <a:txBody>
                    <a:bodyPr/>
                    <a:lstStyle/>
                    <a:p>
                      <a:r>
                        <a:rPr sz="1100" b="0" i="0">
                          <a:solidFill>
                            <a:srgbClr val="333B44"/>
                          </a:solidFill>
                          <a:latin typeface="Segoe UI"/>
                        </a:rPr>
                        <a:t>10</a:t>
                      </a:r>
                    </a:p>
                  </a:txBody>
                  <a:tcPr marL="73152" marR="73152" marT="27432" marB="27432" anchor="ctr">
                    <a:solidFill>
                      <a:srgbClr val="F4F6F8"/>
                    </a:solidFill>
                  </a:tcPr>
                </a:tc>
                <a:tc>
                  <a:txBody>
                    <a:bodyPr/>
                    <a:lstStyle/>
                    <a:p>
                      <a:r>
                        <a:rPr sz="1100" b="0" i="0">
                          <a:solidFill>
                            <a:srgbClr val="333B44"/>
                          </a:solidFill>
                          <a:latin typeface="Segoe UI"/>
                        </a:rPr>
                        <a:t>AI model loading</a:t>
                      </a:r>
                    </a:p>
                  </a:txBody>
                  <a:tcPr marL="73152" marR="73152" marT="27432" marB="27432" anchor="ctr">
                    <a:solidFill>
                      <a:srgbClr val="F4F6F8"/>
                    </a:solidFill>
                  </a:tcPr>
                </a:tc>
                <a:tc>
                  <a:txBody>
                    <a:bodyPr/>
                    <a:lstStyle/>
                    <a:p>
                      <a:r>
                        <a:rPr sz="1100" b="0" i="0">
                          <a:solidFill>
                            <a:srgbClr val="333B44"/>
                          </a:solidFill>
                          <a:latin typeface="Segoe UI"/>
                        </a:rPr>
                        <a:t>Model lifecycle, provenance, rollout</a:t>
                      </a:r>
                    </a:p>
                  </a:txBody>
                  <a:tcPr marL="73152" marR="73152" marT="27432" marB="27432" anchor="ctr">
                    <a:solidFill>
                      <a:srgbClr val="F4F6F8"/>
                    </a:solidFill>
                  </a:tcPr>
                </a:tc>
                <a:tc>
                  <a:txBody>
                    <a:bodyPr/>
                    <a:lstStyle/>
                    <a:p>
                      <a:r>
                        <a:rPr sz="1100" b="0" i="0">
                          <a:solidFill>
                            <a:srgbClr val="333B44"/>
                          </a:solidFill>
                          <a:latin typeface="Segoe UI"/>
                        </a:rPr>
                        <a:t>Feature branch</a:t>
                      </a:r>
                    </a:p>
                  </a:txBody>
                  <a:tcPr marL="73152" marR="73152" marT="27432" marB="27432" anchor="ctr">
                    <a:solidFill>
                      <a:srgbClr val="F4F6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874519"/>
            <a:ext cx="1097280" cy="73152"/>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48840"/>
            <a:ext cx="10820095" cy="1005840"/>
          </a:xfrm>
          <a:prstGeom prst="rect">
            <a:avLst/>
          </a:prstGeom>
          <a:noFill/>
        </p:spPr>
        <p:txBody>
          <a:bodyPr wrap="square" lIns="0" rIns="0" tIns="0" bIns="0">
            <a:spAutoFit/>
          </a:bodyPr>
          <a:lstStyle/>
          <a:p>
            <a:r>
              <a:rPr sz="4000" b="1" i="0">
                <a:solidFill>
                  <a:srgbClr val="FFFFFF"/>
                </a:solidFill>
                <a:latin typeface="Segoe UI Semibold"/>
              </a:rPr>
              <a:t>core</a:t>
            </a:r>
          </a:p>
        </p:txBody>
      </p:sp>
      <p:sp>
        <p:nvSpPr>
          <p:cNvPr id="5" name="TextBox 4"/>
          <p:cNvSpPr txBox="1"/>
          <p:nvPr/>
        </p:nvSpPr>
        <p:spPr>
          <a:xfrm>
            <a:off x="685800" y="3218688"/>
            <a:ext cx="8412480" cy="822960"/>
          </a:xfrm>
          <a:prstGeom prst="rect">
            <a:avLst/>
          </a:prstGeom>
          <a:noFill/>
        </p:spPr>
        <p:txBody>
          <a:bodyPr wrap="square" lIns="0" rIns="0" tIns="0" bIns="0">
            <a:spAutoFit/>
          </a:bodyPr>
          <a:lstStyle/>
          <a:p>
            <a:r>
              <a:rPr sz="1700" b="0" i="0">
                <a:solidFill>
                  <a:srgbClr val="FFFFFF"/>
                </a:solidFill>
                <a:latin typeface="Segoe UI"/>
              </a:rPr>
              <a:t>Proposed extensions to </a:t>
            </a:r>
            <a:r>
              <a:rPr sz="1600" b="0" i="0">
                <a:solidFill>
                  <a:srgbClr val="002B49"/>
                </a:solidFill>
                <a:latin typeface="Consolas"/>
              </a:rPr>
              <a:t>http://opcfoundation.org/UA/</a:t>
            </a:r>
            <a:r>
              <a:rPr sz="1700" b="0" i="0">
                <a:solidFill>
                  <a:srgbClr val="FFFFFF"/>
                </a:solidFill>
                <a:latin typeface="Segoe UI"/>
              </a:rPr>
              <a:t> itself — encodings, Services, transports and base models, not companion models beside the base namespace.</a:t>
            </a:r>
          </a:p>
        </p:txBody>
      </p:sp>
      <p:sp>
        <p:nvSpPr>
          <p:cNvPr id="6" name="TextBox 5"/>
          <p:cNvSpPr txBox="1"/>
          <p:nvPr/>
        </p:nvSpPr>
        <p:spPr>
          <a:xfrm>
            <a:off x="685800" y="4160520"/>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OPC UA — Data Channels</a:t>
            </a:r>
          </a:p>
        </p:txBody>
      </p:sp>
      <p:sp>
        <p:nvSpPr>
          <p:cNvPr id="7" name="TextBox 6"/>
          <p:cNvSpPr txBox="1"/>
          <p:nvPr/>
        </p:nvSpPr>
        <p:spPr>
          <a:xfrm>
            <a:off x="685800" y="4489704"/>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OPC UA — Apache Arrow Encoding</a:t>
            </a:r>
          </a:p>
        </p:txBody>
      </p:sp>
      <p:sp>
        <p:nvSpPr>
          <p:cNvPr id="8" name="TextBox 7"/>
          <p:cNvSpPr txBox="1"/>
          <p:nvPr/>
        </p:nvSpPr>
        <p:spPr>
          <a:xfrm>
            <a:off x="685800" y="4818888"/>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OPC UA — Asynchronous Service Execution</a:t>
            </a:r>
          </a:p>
        </p:txBody>
      </p:sp>
      <p:sp>
        <p:nvSpPr>
          <p:cNvPr id="9" name="TextBox 8"/>
          <p:cNvSpPr txBox="1"/>
          <p:nvPr/>
        </p:nvSpPr>
        <p:spPr>
          <a:xfrm>
            <a:off x="685800" y="5148072"/>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OPC UA — Apache Avro DataEncoding</a:t>
            </a:r>
          </a:p>
        </p:txBody>
      </p:sp>
      <p:sp>
        <p:nvSpPr>
          <p:cNvPr id="10" name="TextBox 9"/>
          <p:cNvSpPr txBox="1"/>
          <p:nvPr/>
        </p:nvSpPr>
        <p:spPr>
          <a:xfrm>
            <a:off x="685800" y="5477256"/>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OPC UA — xRegistry</a:t>
            </a:r>
          </a:p>
        </p:txBody>
      </p:sp>
      <p:sp>
        <p:nvSpPr>
          <p:cNvPr id="11" name="TextBox 10"/>
          <p:cNvSpPr txBox="1"/>
          <p:nvPr/>
        </p:nvSpPr>
        <p:spPr>
          <a:xfrm>
            <a:off x="685800" y="5806440"/>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xRegistry — OPC UA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Data Channels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Continuous content has no OPC UA primitive today</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Data Channels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OPC UA moves data as complete requests and responses</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Read</a:t>
            </a:r>
            <a:r>
              <a:rPr sz="1400" b="0" i="0">
                <a:solidFill>
                  <a:srgbClr val="333B44"/>
                </a:solidFill>
                <a:latin typeface="Segoe UI"/>
              </a:rPr>
              <a:t>, </a:t>
            </a:r>
            <a:r>
              <a:rPr sz="1300" b="0" i="0">
                <a:solidFill>
                  <a:srgbClr val="002B49"/>
                </a:solidFill>
                <a:latin typeface="Consolas"/>
              </a:rPr>
              <a:t>Publish</a:t>
            </a:r>
            <a:r>
              <a:rPr sz="1400" b="0" i="0">
                <a:solidFill>
                  <a:srgbClr val="333B44"/>
                </a:solidFill>
                <a:latin typeface="Segoe UI"/>
              </a:rPr>
              <a:t>, </a:t>
            </a:r>
            <a:r>
              <a:rPr sz="1300" b="0" i="0">
                <a:solidFill>
                  <a:srgbClr val="002B49"/>
                </a:solidFill>
                <a:latin typeface="Consolas"/>
              </a:rPr>
              <a:t>HistoryRead</a:t>
            </a:r>
            <a:r>
              <a:rPr sz="1400" b="0" i="0">
                <a:solidFill>
                  <a:srgbClr val="333B44"/>
                </a:solidFill>
                <a:latin typeface="Segoe UI"/>
              </a:rPr>
              <a:t> and </a:t>
            </a:r>
            <a:r>
              <a:rPr sz="1300" b="0" i="0">
                <a:solidFill>
                  <a:srgbClr val="002B49"/>
                </a:solidFill>
                <a:latin typeface="Consolas"/>
              </a:rPr>
              <a:t>FileType</a:t>
            </a:r>
            <a:r>
              <a:rPr sz="1400" b="0" i="0">
                <a:solidFill>
                  <a:srgbClr val="333B44"/>
                </a:solidFill>
                <a:latin typeface="Segoe UI"/>
              </a:rPr>
              <a:t> all make the Client keep asking</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Cameras, microphones and point clouds need a flow</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Start, throttle, discard stale frames, prioritize and stop are not expressible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usual answer is a second protocol beside the Server</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That means another port, handshake, trust anchor and authorization model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Reverse connect makes the second port unobtainable</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missing primitive is an authorized stream on the connection that already exists.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A streamable source, a Service set and a frame model</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Data Channels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a:t>
            </a:r>
          </a:p>
        </p:txBody>
      </p:sp>
      <p:graphicFrame>
        <p:nvGraphicFramePr>
          <p:cNvPr id="8" name="Table 7"/>
          <p:cNvGraphicFramePr>
            <a:graphicFrameLocks noGrp="1"/>
          </p:cNvGraphicFramePr>
          <p:nvPr/>
        </p:nvGraphicFramePr>
        <p:xfrm>
          <a:off x="685800" y="1591056"/>
          <a:ext cx="10820094" cy="3072384"/>
        </p:xfrm>
        <a:graphic>
          <a:graphicData uri="http://schemas.openxmlformats.org/drawingml/2006/table">
            <a:tbl>
              <a:tblPr firstRow="1" bandRow="1">
                <a:tableStyleId>{5C22544A-7EE6-4342-B048-85BDC9FD1C3A}</a:tableStyleId>
              </a:tblPr>
              <a:tblGrid>
                <a:gridCol w="3029626"/>
                <a:gridCol w="3678832"/>
                <a:gridCol w="4111636"/>
              </a:tblGrid>
              <a:tr h="384048">
                <a:tc>
                  <a:txBody>
                    <a:bodyPr/>
                    <a:lstStyle/>
                    <a:p>
                      <a:r>
                        <a:rPr sz="1100" b="1" i="0">
                          <a:solidFill>
                            <a:srgbClr val="FFFFFF"/>
                          </a:solidFill>
                          <a:latin typeface="Segoe UI Semibold"/>
                        </a:rPr>
                        <a:t>Piece</a:t>
                      </a:r>
                    </a:p>
                  </a:txBody>
                  <a:tcPr marL="73152" marR="73152" anchor="ctr">
                    <a:solidFill>
                      <a:srgbClr val="005A9C"/>
                    </a:solidFill>
                  </a:tcPr>
                </a:tc>
                <a:tc>
                  <a:txBody>
                    <a:bodyPr/>
                    <a:lstStyle/>
                    <a:p>
                      <a:r>
                        <a:rPr sz="1100" b="1" i="0">
                          <a:solidFill>
                            <a:srgbClr val="FFFFFF"/>
                          </a:solidFill>
                          <a:latin typeface="Segoe UI Semibold"/>
                        </a:rPr>
                        <a:t>What it is</a:t>
                      </a:r>
                    </a:p>
                  </a:txBody>
                  <a:tcPr marL="73152" marR="73152" anchor="ctr">
                    <a:solidFill>
                      <a:srgbClr val="005A9C"/>
                    </a:solidFill>
                  </a:tcPr>
                </a:tc>
                <a:tc>
                  <a:txBody>
                    <a:bodyPr/>
                    <a:lstStyle/>
                    <a:p>
                      <a:r>
                        <a:rPr sz="1100" b="1" i="0">
                          <a:solidFill>
                            <a:srgbClr val="FFFFFF"/>
                          </a:solidFill>
                          <a:latin typeface="Segoe UI Semibold"/>
                        </a:rPr>
                        <a:t>Why it matters</a:t>
                      </a:r>
                    </a:p>
                  </a:txBody>
                  <a:tcPr marL="73152" marR="73152" anchor="ctr">
                    <a:solidFill>
                      <a:srgbClr val="005A9C"/>
                    </a:solidFill>
                  </a:tcPr>
                </a:tc>
              </a:tr>
              <a:tr h="384048">
                <a:tc>
                  <a:txBody>
                    <a:bodyPr/>
                    <a:lstStyle/>
                    <a:p>
                      <a:r>
                        <a:rPr sz="1000" b="0" i="0">
                          <a:solidFill>
                            <a:srgbClr val="002B49"/>
                          </a:solidFill>
                          <a:latin typeface="Consolas"/>
                        </a:rPr>
                        <a:t>IDataChannelSourceType</a:t>
                      </a:r>
                    </a:p>
                  </a:txBody>
                  <a:tcPr marL="73152" marR="73152" marT="27432" marB="27432" anchor="ctr">
                    <a:solidFill>
                      <a:srgbClr val="FFFFFF"/>
                    </a:solidFill>
                  </a:tcPr>
                </a:tc>
                <a:tc>
                  <a:txBody>
                    <a:bodyPr/>
                    <a:lstStyle/>
                    <a:p>
                      <a:r>
                        <a:rPr sz="1100" b="0" i="0">
                          <a:solidFill>
                            <a:srgbClr val="333B44"/>
                          </a:solidFill>
                          <a:latin typeface="Segoe UI"/>
                        </a:rPr>
                        <a:t>Interface on a source</a:t>
                      </a:r>
                    </a:p>
                  </a:txBody>
                  <a:tcPr marL="73152" marR="73152" marT="27432" marB="27432" anchor="ctr">
                    <a:solidFill>
                      <a:srgbClr val="FFFFFF"/>
                    </a:solidFill>
                  </a:tcPr>
                </a:tc>
                <a:tc>
                  <a:txBody>
                    <a:bodyPr/>
                    <a:lstStyle/>
                    <a:p>
                      <a:r>
                        <a:rPr sz="1100" b="0" i="0">
                          <a:solidFill>
                            <a:srgbClr val="333B44"/>
                          </a:solidFill>
                          <a:latin typeface="Segoe UI"/>
                        </a:rPr>
                        <a:t>Streams without a new NodeClass</a:t>
                      </a:r>
                    </a:p>
                  </a:txBody>
                  <a:tcPr marL="73152" marR="73152" marT="27432" marB="27432" anchor="ctr">
                    <a:solidFill>
                      <a:srgbClr val="FFFFFF"/>
                    </a:solidFill>
                  </a:tcPr>
                </a:tc>
              </a:tr>
              <a:tr h="384048">
                <a:tc>
                  <a:txBody>
                    <a:bodyPr/>
                    <a:lstStyle/>
                    <a:p>
                      <a:r>
                        <a:rPr sz="1000" b="0" i="0">
                          <a:solidFill>
                            <a:srgbClr val="002B49"/>
                          </a:solidFill>
                          <a:latin typeface="Consolas"/>
                        </a:rPr>
                        <a:t>HasDataChannel</a:t>
                      </a:r>
                    </a:p>
                  </a:txBody>
                  <a:tcPr marL="73152" marR="73152" marT="27432" marB="27432" anchor="ctr">
                    <a:solidFill>
                      <a:srgbClr val="F4F6F8"/>
                    </a:solidFill>
                  </a:tcPr>
                </a:tc>
                <a:tc>
                  <a:txBody>
                    <a:bodyPr/>
                    <a:lstStyle/>
                    <a:p>
                      <a:r>
                        <a:rPr sz="1100" b="0" i="0">
                          <a:solidFill>
                            <a:srgbClr val="333B44"/>
                          </a:solidFill>
                          <a:latin typeface="Segoe UI"/>
                        </a:rPr>
                        <a:t>Reference to a source</a:t>
                      </a:r>
                    </a:p>
                  </a:txBody>
                  <a:tcPr marL="73152" marR="73152" marT="27432" marB="27432" anchor="ctr">
                    <a:solidFill>
                      <a:srgbClr val="F4F6F8"/>
                    </a:solidFill>
                  </a:tcPr>
                </a:tc>
                <a:tc>
                  <a:txBody>
                    <a:bodyPr/>
                    <a:lstStyle/>
                    <a:p>
                      <a:r>
                        <a:rPr sz="1100" b="0" i="0">
                          <a:solidFill>
                            <a:srgbClr val="333B44"/>
                          </a:solidFill>
                          <a:latin typeface="Segoe UI"/>
                        </a:rPr>
                        <a:t>A camera can expose streams</a:t>
                      </a:r>
                    </a:p>
                  </a:txBody>
                  <a:tcPr marL="73152" marR="73152" marT="27432" marB="27432" anchor="ctr">
                    <a:solidFill>
                      <a:srgbClr val="F4F6F8"/>
                    </a:solidFill>
                  </a:tcPr>
                </a:tc>
              </a:tr>
              <a:tr h="384048">
                <a:tc>
                  <a:txBody>
                    <a:bodyPr/>
                    <a:lstStyle/>
                    <a:p>
                      <a:r>
                        <a:rPr sz="1000" b="0" i="0">
                          <a:solidFill>
                            <a:srgbClr val="002B49"/>
                          </a:solidFill>
                          <a:latin typeface="Consolas"/>
                        </a:rPr>
                        <a:t>OpenDataChannel</a:t>
                      </a:r>
                    </a:p>
                  </a:txBody>
                  <a:tcPr marL="73152" marR="73152" marT="27432" marB="27432" anchor="ctr">
                    <a:solidFill>
                      <a:srgbClr val="FFFFFF"/>
                    </a:solidFill>
                  </a:tcPr>
                </a:tc>
                <a:tc>
                  <a:txBody>
                    <a:bodyPr/>
                    <a:lstStyle/>
                    <a:p>
                      <a:r>
                        <a:rPr sz="1100" b="0" i="0">
                          <a:solidFill>
                            <a:srgbClr val="333B44"/>
                          </a:solidFill>
                          <a:latin typeface="Segoe UI"/>
                        </a:rPr>
                        <a:t>Service to create a stream</a:t>
                      </a:r>
                    </a:p>
                  </a:txBody>
                  <a:tcPr marL="73152" marR="73152" marT="27432" marB="27432" anchor="ctr">
                    <a:solidFill>
                      <a:srgbClr val="FFFFFF"/>
                    </a:solidFill>
                  </a:tcPr>
                </a:tc>
                <a:tc>
                  <a:txBody>
                    <a:bodyPr/>
                    <a:lstStyle/>
                    <a:p>
                      <a:r>
                        <a:rPr sz="1100" b="0" i="0">
                          <a:solidFill>
                            <a:srgbClr val="333B44"/>
                          </a:solidFill>
                          <a:latin typeface="Segoe UI"/>
                        </a:rPr>
                        <a:t>Negotiates direction and terms</a:t>
                      </a:r>
                    </a:p>
                  </a:txBody>
                  <a:tcPr marL="73152" marR="73152" marT="27432" marB="27432" anchor="ctr">
                    <a:solidFill>
                      <a:srgbClr val="FFFFFF"/>
                    </a:solidFill>
                  </a:tcPr>
                </a:tc>
              </a:tr>
              <a:tr h="384048">
                <a:tc>
                  <a:txBody>
                    <a:bodyPr/>
                    <a:lstStyle/>
                    <a:p>
                      <a:r>
                        <a:rPr sz="1000" b="0" i="0">
                          <a:solidFill>
                            <a:srgbClr val="002B49"/>
                          </a:solidFill>
                          <a:latin typeface="Consolas"/>
                        </a:rPr>
                        <a:t>ModifyDataChannel</a:t>
                      </a:r>
                    </a:p>
                  </a:txBody>
                  <a:tcPr marL="73152" marR="73152" marT="27432" marB="27432" anchor="ctr">
                    <a:solidFill>
                      <a:srgbClr val="F4F6F8"/>
                    </a:solidFill>
                  </a:tcPr>
                </a:tc>
                <a:tc>
                  <a:txBody>
                    <a:bodyPr/>
                    <a:lstStyle/>
                    <a:p>
                      <a:r>
                        <a:rPr sz="1100" b="0" i="0">
                          <a:solidFill>
                            <a:srgbClr val="333B44"/>
                          </a:solidFill>
                          <a:latin typeface="Segoe UI"/>
                        </a:rPr>
                        <a:t>Service to revise terms</a:t>
                      </a:r>
                    </a:p>
                  </a:txBody>
                  <a:tcPr marL="73152" marR="73152" marT="27432" marB="27432" anchor="ctr">
                    <a:solidFill>
                      <a:srgbClr val="F4F6F8"/>
                    </a:solidFill>
                  </a:tcPr>
                </a:tc>
                <a:tc>
                  <a:txBody>
                    <a:bodyPr/>
                    <a:lstStyle/>
                    <a:p>
                      <a:r>
                        <a:rPr sz="1100" b="0" i="0">
                          <a:solidFill>
                            <a:srgbClr val="333B44"/>
                          </a:solidFill>
                          <a:latin typeface="Segoe UI"/>
                        </a:rPr>
                        <a:t>Adapts bitrate or frame size</a:t>
                      </a:r>
                    </a:p>
                  </a:txBody>
                  <a:tcPr marL="73152" marR="73152" marT="27432" marB="27432" anchor="ctr">
                    <a:solidFill>
                      <a:srgbClr val="F4F6F8"/>
                    </a:solidFill>
                  </a:tcPr>
                </a:tc>
              </a:tr>
              <a:tr h="384048">
                <a:tc>
                  <a:txBody>
                    <a:bodyPr/>
                    <a:lstStyle/>
                    <a:p>
                      <a:r>
                        <a:rPr sz="1000" b="0" i="0">
                          <a:solidFill>
                            <a:srgbClr val="002B49"/>
                          </a:solidFill>
                          <a:latin typeface="Consolas"/>
                        </a:rPr>
                        <a:t>CloseDataChannel</a:t>
                      </a:r>
                    </a:p>
                  </a:txBody>
                  <a:tcPr marL="73152" marR="73152" marT="27432" marB="27432" anchor="ctr">
                    <a:solidFill>
                      <a:srgbClr val="FFFFFF"/>
                    </a:solidFill>
                  </a:tcPr>
                </a:tc>
                <a:tc>
                  <a:txBody>
                    <a:bodyPr/>
                    <a:lstStyle/>
                    <a:p>
                      <a:r>
                        <a:rPr sz="1100" b="0" i="0">
                          <a:solidFill>
                            <a:srgbClr val="333B44"/>
                          </a:solidFill>
                          <a:latin typeface="Segoe UI"/>
                        </a:rPr>
                        <a:t>Service to end a stream</a:t>
                      </a:r>
                    </a:p>
                  </a:txBody>
                  <a:tcPr marL="73152" marR="73152" marT="27432" marB="27432" anchor="ctr">
                    <a:solidFill>
                      <a:srgbClr val="FFFFFF"/>
                    </a:solidFill>
                  </a:tcPr>
                </a:tc>
                <a:tc>
                  <a:txBody>
                    <a:bodyPr/>
                    <a:lstStyle/>
                    <a:p>
                      <a:r>
                        <a:rPr sz="1100" b="0" i="0">
                          <a:solidFill>
                            <a:srgbClr val="333B44"/>
                          </a:solidFill>
                          <a:latin typeface="Segoe UI"/>
                        </a:rPr>
                        <a:t>Drains or resets queued bytes</a:t>
                      </a:r>
                    </a:p>
                  </a:txBody>
                  <a:tcPr marL="73152" marR="73152" marT="27432" marB="27432" anchor="ctr">
                    <a:solidFill>
                      <a:srgbClr val="FFFFFF"/>
                    </a:solidFill>
                  </a:tcPr>
                </a:tc>
              </a:tr>
              <a:tr h="384048">
                <a:tc>
                  <a:txBody>
                    <a:bodyPr/>
                    <a:lstStyle/>
                    <a:p>
                      <a:r>
                        <a:rPr sz="1000" b="0" i="0">
                          <a:solidFill>
                            <a:srgbClr val="002B49"/>
                          </a:solidFill>
                          <a:latin typeface="Consolas"/>
                        </a:rPr>
                        <a:t>STR</a:t>
                      </a:r>
                      <a:r>
                        <a:rPr sz="1100" b="0" i="0">
                          <a:solidFill>
                            <a:srgbClr val="333B44"/>
                          </a:solidFill>
                          <a:latin typeface="Segoe UI"/>
                        </a:rPr>
                        <a:t> frames</a:t>
                      </a:r>
                    </a:p>
                  </a:txBody>
                  <a:tcPr marL="73152" marR="73152" marT="27432" marB="27432" anchor="ctr">
                    <a:solidFill>
                      <a:srgbClr val="F4F6F8"/>
                    </a:solidFill>
                  </a:tcPr>
                </a:tc>
                <a:tc>
                  <a:txBody>
                    <a:bodyPr/>
                    <a:lstStyle/>
                    <a:p>
                      <a:r>
                        <a:rPr sz="1100" b="0" i="0">
                          <a:solidFill>
                            <a:srgbClr val="333B44"/>
                          </a:solidFill>
                          <a:latin typeface="Segoe UI"/>
                        </a:rPr>
                        <a:t>Secured stream frames</a:t>
                      </a:r>
                    </a:p>
                  </a:txBody>
                  <a:tcPr marL="73152" marR="73152" marT="27432" marB="27432" anchor="ctr">
                    <a:solidFill>
                      <a:srgbClr val="F4F6F8"/>
                    </a:solidFill>
                  </a:tcPr>
                </a:tc>
                <a:tc>
                  <a:txBody>
                    <a:bodyPr/>
                    <a:lstStyle/>
                    <a:p>
                      <a:r>
                        <a:rPr sz="1100" b="0" i="0">
                          <a:solidFill>
                            <a:srgbClr val="333B44"/>
                          </a:solidFill>
                          <a:latin typeface="Segoe UI"/>
                        </a:rPr>
                        <a:t>Carry payload and control</a:t>
                      </a:r>
                    </a:p>
                  </a:txBody>
                  <a:tcPr marL="73152" marR="73152" marT="27432" marB="27432" anchor="ctr">
                    <a:solidFill>
                      <a:srgbClr val="F4F6F8"/>
                    </a:solidFill>
                  </a:tcPr>
                </a:tc>
              </a:tr>
              <a:tr h="384048">
                <a:tc>
                  <a:txBody>
                    <a:bodyPr/>
                    <a:lstStyle/>
                    <a:p>
                      <a:r>
                        <a:rPr sz="1000" b="0" i="0">
                          <a:solidFill>
                            <a:srgbClr val="002B49"/>
                          </a:solidFill>
                          <a:latin typeface="Consolas"/>
                        </a:rPr>
                        <a:t>opc.quic</a:t>
                      </a:r>
                    </a:p>
                  </a:txBody>
                  <a:tcPr marL="73152" marR="73152" marT="27432" marB="27432" anchor="ctr">
                    <a:solidFill>
                      <a:srgbClr val="FFFFFF"/>
                    </a:solidFill>
                  </a:tcPr>
                </a:tc>
                <a:tc>
                  <a:txBody>
                    <a:bodyPr/>
                    <a:lstStyle/>
                    <a:p>
                      <a:r>
                        <a:rPr sz="1100" b="0" i="0">
                          <a:solidFill>
                            <a:srgbClr val="333B44"/>
                          </a:solidFill>
                          <a:latin typeface="Segoe UI"/>
                        </a:rPr>
                        <a:t>Outer-protocol transport</a:t>
                      </a:r>
                    </a:p>
                  </a:txBody>
                  <a:tcPr marL="73152" marR="73152" marT="27432" marB="27432" anchor="ctr">
                    <a:solidFill>
                      <a:srgbClr val="FFFFFF"/>
                    </a:solidFill>
                  </a:tcPr>
                </a:tc>
                <a:tc>
                  <a:txBody>
                    <a:bodyPr/>
                    <a:lstStyle/>
                    <a:p>
                      <a:r>
                        <a:rPr sz="1100" b="0" i="0">
                          <a:solidFill>
                            <a:srgbClr val="333B44"/>
                          </a:solidFill>
                          <a:latin typeface="Segoe UI"/>
                        </a:rPr>
                        <a:t>Uses QUIC streams/datagrams</a:t>
                      </a:r>
                    </a:p>
                  </a:txBody>
                  <a:tcPr marL="73152" marR="73152" marT="27432" marB="27432"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opens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The handshake stays at the Service layer</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Data Channels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a:t>
            </a:r>
          </a:p>
        </p:txBody>
      </p:sp>
      <p:sp>
        <p:nvSpPr>
          <p:cNvPr id="8" name="TextBox 7"/>
          <p:cNvSpPr txBox="1"/>
          <p:nvPr/>
        </p:nvSpPr>
        <p:spPr>
          <a:xfrm>
            <a:off x="685800" y="1591056"/>
            <a:ext cx="10820095" cy="384048"/>
          </a:xfrm>
          <a:prstGeom prst="rect">
            <a:avLst/>
          </a:prstGeom>
          <a:noFill/>
        </p:spPr>
        <p:txBody>
          <a:bodyPr wrap="square" lIns="0" rIns="0" tIns="0" bIns="0">
            <a:spAutoFit/>
          </a:bodyPr>
          <a:lstStyle/>
          <a:p>
            <a:r>
              <a:rPr sz="1300" b="0" i="0">
                <a:solidFill>
                  <a:srgbClr val="333B44"/>
                </a:solidFill>
                <a:latin typeface="Segoe UI"/>
              </a:rPr>
              <a:t>A capable Client never sends stream frames before the Server grants a channel.</a:t>
            </a:r>
          </a:p>
        </p:txBody>
      </p:sp>
      <p:sp>
        <p:nvSpPr>
          <p:cNvPr id="9" name="Rounded Rectangle 8"/>
          <p:cNvSpPr/>
          <p:nvPr/>
        </p:nvSpPr>
        <p:spPr>
          <a:xfrm>
            <a:off x="685800" y="2066544"/>
            <a:ext cx="10820095" cy="3602736"/>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46304" bIns="146304"/>
          <a:lstStyle/>
          <a:p>
            <a:pPr algn="ctr">
              <a:lnSpc>
                <a:spcPct val="106000"/>
              </a:lnSpc>
              <a:spcAft>
                <a:spcPts val="0"/>
              </a:spcAft>
            </a:pPr>
            <a:r>
              <a:rPr sz="1200" b="0" i="0">
                <a:solidFill>
                  <a:srgbClr val="FFFFFF"/>
                </a:solidFill>
                <a:latin typeface="Consolas"/>
              </a:rPr>
              <a:t>Client -&gt; Server: Browse ServerCapabilities</a:t>
            </a:r>
          </a:p>
          <a:p>
            <a:pPr>
              <a:lnSpc>
                <a:spcPct val="106000"/>
              </a:lnSpc>
              <a:spcAft>
                <a:spcPts val="0"/>
              </a:spcAft>
            </a:pPr>
            <a:r>
              <a:rPr sz="1200" b="0" i="0">
                <a:solidFill>
                  <a:srgbClr val="FFFFFF"/>
                </a:solidFill>
                <a:latin typeface="Consolas"/>
              </a:rPr>
              <a:t>Server -&gt; Client: DataChannelCapabilities present</a:t>
            </a:r>
          </a:p>
          <a:p>
            <a:pPr>
              <a:lnSpc>
                <a:spcPct val="106000"/>
              </a:lnSpc>
              <a:spcAft>
                <a:spcPts val="0"/>
              </a:spcAft>
            </a:pPr>
            <a:r>
              <a:rPr sz="1200" b="0" i="0">
                <a:solidFill>
                  <a:srgbClr val="FFFFFF"/>
                </a:solidFill>
                <a:latin typeface="Consolas"/>
              </a:rPr>
              <a:t>Client -&gt; Server: OpenDataChannel(sourceNodeId, offerId=0,</a:t>
            </a:r>
          </a:p>
          <a:p>
            <a:pPr>
              <a:lnSpc>
                <a:spcPct val="106000"/>
              </a:lnSpc>
              <a:spcAft>
                <a:spcPts val="0"/>
              </a:spcAft>
            </a:pPr>
            <a:r>
              <a:rPr sz="1200" b="0" i="0">
                <a:solidFill>
                  <a:srgbClr val="FFFFFF"/>
                </a:solidFill>
                <a:latin typeface="Consolas"/>
              </a:rPr>
              <a:t>                                  requestedParameters)</a:t>
            </a:r>
          </a:p>
          <a:p>
            <a:pPr>
              <a:lnSpc>
                <a:spcPct val="106000"/>
              </a:lnSpc>
              <a:spcAft>
                <a:spcPts val="0"/>
              </a:spcAft>
            </a:pPr>
            <a:r>
              <a:rPr sz="1200" b="0" i="0">
                <a:solidFill>
                  <a:srgbClr val="FFFFFF"/>
                </a:solidFill>
                <a:latin typeface="Consolas"/>
              </a:rPr>
              <a:t>Server -&gt; Client: channelId, revisedParameters</a:t>
            </a:r>
          </a:p>
          <a:p>
            <a:pPr>
              <a:lnSpc>
                <a:spcPct val="106000"/>
              </a:lnSpc>
              <a:spcAft>
                <a:spcPts val="0"/>
              </a:spcAft>
            </a:pPr>
            <a:r>
              <a:rPr sz="1200" b="0" i="0">
                <a:solidFill>
                  <a:srgbClr val="FFFFFF"/>
                </a:solidFill>
                <a:latin typeface="Consolas"/>
              </a:rPr>
              <a:t>Server -&gt; Client: STR DATA / CREDIT / GAP / END frames</a:t>
            </a:r>
          </a:p>
          <a:p>
            <a:pPr>
              <a:lnSpc>
                <a:spcPct val="106000"/>
              </a:lnSpc>
              <a:spcAft>
                <a:spcPts val="0"/>
              </a:spcAft>
            </a:pPr>
            <a:r>
              <a:rPr sz="1200" b="0" i="0">
                <a:solidFill>
                  <a:srgbClr val="FFFFFF"/>
                </a:solidFill>
                <a:latin typeface="Consolas"/>
              </a:rPr>
              <a:t>Client -&gt; Server: ModifyDataChannel(channelId, revisedParameters)</a:t>
            </a:r>
          </a:p>
          <a:p>
            <a:pPr>
              <a:lnSpc>
                <a:spcPct val="106000"/>
              </a:lnSpc>
              <a:spcAft>
                <a:spcPts val="0"/>
              </a:spcAft>
            </a:pPr>
            <a:r>
              <a:rPr sz="1200" b="0" i="0">
                <a:solidFill>
                  <a:srgbClr val="FFFFFF"/>
                </a:solidFill>
                <a:latin typeface="Consolas"/>
              </a:rPr>
              <a:t>Client -&gt; Server: CloseDataChannel(channelId, reason, deleteQueued)</a:t>
            </a:r>
          </a:p>
        </p:txBody>
      </p:sp>
      <p:sp>
        <p:nvSpPr>
          <p:cNvPr id="10" name="TextBox 9"/>
          <p:cNvSpPr txBox="1"/>
          <p:nvPr/>
        </p:nvSpPr>
        <p:spPr>
          <a:xfrm>
            <a:off x="685800" y="5779008"/>
            <a:ext cx="10820095" cy="365760"/>
          </a:xfrm>
          <a:prstGeom prst="rect">
            <a:avLst/>
          </a:prstGeom>
          <a:noFill/>
        </p:spPr>
        <p:txBody>
          <a:bodyPr wrap="square" lIns="0" rIns="0" tIns="0" bIns="0">
            <a:spAutoFit/>
          </a:bodyPr>
          <a:lstStyle/>
          <a:p>
            <a:r>
              <a:rPr sz="1200" b="0" i="0">
                <a:solidFill>
                  <a:srgbClr val="333B44"/>
                </a:solidFill>
                <a:latin typeface="Segoe UI"/>
              </a:rPr>
              <a:t>A legacy Server never sees an unknown </a:t>
            </a:r>
            <a:r>
              <a:rPr sz="1100" b="0" i="0">
                <a:solidFill>
                  <a:srgbClr val="002B49"/>
                </a:solidFill>
                <a:latin typeface="Consolas"/>
              </a:rPr>
              <a:t>STR</a:t>
            </a:r>
            <a:r>
              <a:rPr sz="1200" b="0" i="0">
                <a:solidFill>
                  <a:srgbClr val="333B44"/>
                </a:solidFill>
                <a:latin typeface="Segoe UI"/>
              </a:rPr>
              <a:t> frame.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bytes stay bounded</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Flow control, scheduling and loss are explicit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Data Channels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11</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Every channel has a byte credit window</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The connection has its own window, in each direction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Service traffic keeps precedence</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A video stream cannot starve </a:t>
            </a:r>
            <a:r>
              <a:rPr sz="1300" b="0" i="0">
                <a:solidFill>
                  <a:srgbClr val="002B49"/>
                </a:solidFill>
                <a:latin typeface="Consolas"/>
              </a:rPr>
              <a:t>Publish</a:t>
            </a:r>
            <a:r>
              <a:rPr sz="1400" b="0" i="0">
                <a:solidFill>
                  <a:srgbClr val="333B44"/>
                </a:solidFill>
                <a:latin typeface="Segoe UI"/>
              </a:rPr>
              <a:t> or Session traffic</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Paused</a:t>
            </a:r>
            <a:r>
              <a:rPr sz="1700" b="1" i="0">
                <a:solidFill>
                  <a:srgbClr val="002B49"/>
                </a:solidFill>
                <a:latin typeface="Segoe UI"/>
              </a:rPr>
              <a:t> and </a:t>
            </a:r>
            <a:r>
              <a:rPr sz="1600" b="1" i="0">
                <a:solidFill>
                  <a:srgbClr val="002B49"/>
                </a:solidFill>
                <a:latin typeface="Consolas"/>
              </a:rPr>
              <a:t>Closing</a:t>
            </a:r>
            <a:r>
              <a:rPr sz="1700" b="1" i="0">
                <a:solidFill>
                  <a:srgbClr val="002B49"/>
                </a:solidFill>
                <a:latin typeface="Segoe UI"/>
              </a:rPr>
              <a:t> are per direction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Inline loss is sender-side discard</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Genuine datagram loss requires </a:t>
            </a:r>
            <a:r>
              <a:rPr sz="1300" b="0" i="0">
                <a:solidFill>
                  <a:srgbClr val="002B49"/>
                </a:solidFill>
                <a:latin typeface="Consolas"/>
              </a:rPr>
              <a:t>opc.quic</a:t>
            </a:r>
            <a:r>
              <a:rPr sz="1400" b="0" i="0">
                <a:solidFill>
                  <a:srgbClr val="333B44"/>
                </a:solidFill>
                <a:latin typeface="Segoe UI"/>
              </a:rPr>
              <a:t> or </a:t>
            </a:r>
            <a:r>
              <a:rPr sz="1300" b="0" i="0">
                <a:solidFill>
                  <a:srgbClr val="002B49"/>
                </a:solidFill>
                <a:latin typeface="Consolas"/>
              </a:rPr>
              <a:t>opc.wt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Discarded runs are reported with </a:t>
            </a:r>
            <a:r>
              <a:rPr sz="1600" b="1" i="0">
                <a:solidFill>
                  <a:srgbClr val="002B49"/>
                </a:solidFill>
                <a:latin typeface="Consolas"/>
              </a:rPr>
              <a:t>GAP</a:t>
            </a:r>
            <a:r>
              <a:rPr sz="1700" b="1" i="0">
                <a:solidFill>
                  <a:srgbClr val="002B49"/>
                </a:solidFill>
                <a:latin typeface="Segoe UI"/>
              </a:rPr>
              <a:t> frames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Backpressure affects the stream that caused it, not the whole SecureChannel.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Draft errata for base OPC UA plus a new transport profile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Data Channels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banner: </a:t>
            </a:r>
            <a:r>
              <a:rPr sz="1700" b="1" i="0">
                <a:solidFill>
                  <a:srgbClr val="002B49"/>
                </a:solidFill>
                <a:latin typeface="Segoe UI"/>
              </a:rPr>
              <a:t>0.1.1</a:t>
            </a:r>
            <a:r>
              <a:rPr sz="1700" b="1" i="0">
                <a:solidFill>
                  <a:srgbClr val="002B49"/>
                </a:solidFill>
                <a:latin typeface="Segoe UI"/>
              </a:rPr>
              <a:t>, dated 2026-07-29</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Targets Parts 3, 4 and 6, with Part 5 nodes and Part 7 profiles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Adds an </a:t>
            </a:r>
            <a:r>
              <a:rPr sz="1600" b="1" i="0">
                <a:solidFill>
                  <a:srgbClr val="002B49"/>
                </a:solidFill>
                <a:latin typeface="Consolas"/>
              </a:rPr>
              <a:t>opc.quic</a:t>
            </a:r>
            <a:r>
              <a:rPr sz="1700" b="1" i="0">
                <a:solidFill>
                  <a:srgbClr val="002B49"/>
                </a:solidFill>
                <a:latin typeface="Segoe UI"/>
              </a:rPr>
              <a:t> transport and also defines </a:t>
            </a:r>
            <a:r>
              <a:rPr sz="1600" b="1" i="0">
                <a:solidFill>
                  <a:srgbClr val="002B49"/>
                </a:solidFill>
                <a:latin typeface="Consolas"/>
              </a:rPr>
              <a:t>opc.wt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Path: </a:t>
            </a:r>
            <a:r>
              <a:rPr sz="1600" b="1" i="0">
                <a:solidFill>
                  <a:srgbClr val="002B49"/>
                </a:solidFill>
                <a:latin typeface="Consolas"/>
              </a:rPr>
              <a:t>core-specs/data-channels/OPC-UA-Data-Channels.md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final NodeIds, StatusCodes and clause numbers are provisional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 8 shows media over data channels on a feature branch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8 — media over Data Channels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Video-shaped bytes on the open SecureChannel</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Data Channels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13</a:t>
            </a:r>
          </a:p>
        </p:txBody>
      </p:sp>
      <p:sp>
        <p:nvSpPr>
          <p:cNvPr id="8" name="Rounded Rectangle 7"/>
          <p:cNvSpPr/>
          <p:nvPr/>
        </p:nvSpPr>
        <p:spPr>
          <a:xfrm>
            <a:off x="9631376" y="466344"/>
            <a:ext cx="1874519" cy="310896"/>
          </a:xfrm>
          <a:prstGeom prst="roundRect">
            <a:avLst/>
          </a:prstGeom>
          <a:solidFill>
            <a:srgbClr val="B8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RUNS ON A BRANCH</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Streaming sample opens a real Session</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OpenDataChannel</a:t>
            </a:r>
            <a:r>
              <a:rPr sz="1400" b="1" i="0">
                <a:solidFill>
                  <a:srgbClr val="002B49"/>
                </a:solidFill>
                <a:latin typeface="Segoe UI"/>
              </a:rPr>
              <a:t> negotiates channel limits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TCP framing shares the SecureChannel</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opc.quic</a:t>
            </a:r>
            <a:r>
              <a:rPr sz="1400" b="1" i="0">
                <a:solidFill>
                  <a:srgbClr val="002B49"/>
                </a:solidFill>
                <a:latin typeface="Segoe UI"/>
              </a:rPr>
              <a:t> uses a per-channel QUIC stream</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samples\ConsoleDataChannelStreaming</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src\Opc.Ua.Core\Stack\DataChannels</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src\Opc.Ua.Bindings.Quic</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docs\DataChannels.md</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pwsh decks\demos\08-media-data-channels\run-demo.ps1 -StackRoot &lt;data-channels worktree&gt;</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Media-like streams can ride the trusted OPC UA channel instead of a second endpoint.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Arrow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Analytics consumers read columns; OPC UA usually hands them rows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Arrow 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14</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Historian and analytics pipelines work in column batches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OPC UA values arrive as UA encodings, one value or row at a time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Every edge bridge re-encodes the same semantics into Arrow</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Schema-based payloads need a stable schema identity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Actions are deliberately not mapped here</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Arrow removes repeated row-to-column conversion without replacing OPC UA Services.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One Part 6 value mapping reused in three places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Arrow 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15</a:t>
            </a:r>
          </a:p>
        </p:txBody>
      </p:sp>
      <p:graphicFrame>
        <p:nvGraphicFramePr>
          <p:cNvPr id="8" name="Table 7"/>
          <p:cNvGraphicFramePr>
            <a:graphicFrameLocks noGrp="1"/>
          </p:cNvGraphicFramePr>
          <p:nvPr/>
        </p:nvGraphicFramePr>
        <p:xfrm>
          <a:off x="685800" y="1591056"/>
          <a:ext cx="10820094" cy="2688336"/>
        </p:xfrm>
        <a:graphic>
          <a:graphicData uri="http://schemas.openxmlformats.org/drawingml/2006/table">
            <a:tbl>
              <a:tblPr firstRow="1" bandRow="1">
                <a:tableStyleId>{5C22544A-7EE6-4342-B048-85BDC9FD1C3A}</a:tableStyleId>
              </a:tblPr>
              <a:tblGrid>
                <a:gridCol w="2921425"/>
                <a:gridCol w="4219837"/>
                <a:gridCol w="3678832"/>
              </a:tblGrid>
              <a:tr h="384048">
                <a:tc>
                  <a:txBody>
                    <a:bodyPr/>
                    <a:lstStyle/>
                    <a:p>
                      <a:r>
                        <a:rPr sz="1100" b="1" i="0">
                          <a:solidFill>
                            <a:srgbClr val="FFFFFF"/>
                          </a:solidFill>
                          <a:latin typeface="Segoe UI Semibold"/>
                        </a:rPr>
                        <a:t>Surface</a:t>
                      </a:r>
                    </a:p>
                  </a:txBody>
                  <a:tcPr marL="73152" marR="73152" anchor="ctr">
                    <a:solidFill>
                      <a:srgbClr val="005A9C"/>
                    </a:solidFill>
                  </a:tcPr>
                </a:tc>
                <a:tc>
                  <a:txBody>
                    <a:bodyPr/>
                    <a:lstStyle/>
                    <a:p>
                      <a:r>
                        <a:rPr sz="1100" b="1" i="0">
                          <a:solidFill>
                            <a:srgbClr val="FFFFFF"/>
                          </a:solidFill>
                          <a:latin typeface="Segoe UI Semibold"/>
                        </a:rPr>
                        <a:t>Adds</a:t>
                      </a:r>
                    </a:p>
                  </a:txBody>
                  <a:tcPr marL="73152" marR="73152" anchor="ctr">
                    <a:solidFill>
                      <a:srgbClr val="005A9C"/>
                    </a:solidFill>
                  </a:tcPr>
                </a:tc>
                <a:tc>
                  <a:txBody>
                    <a:bodyPr/>
                    <a:lstStyle/>
                    <a:p>
                      <a:r>
                        <a:rPr sz="1100" b="1" i="0">
                          <a:solidFill>
                            <a:srgbClr val="FFFFFF"/>
                          </a:solidFill>
                          <a:latin typeface="Segoe UI Semibold"/>
                        </a:rPr>
                        <a:t>Shape</a:t>
                      </a:r>
                    </a:p>
                  </a:txBody>
                  <a:tcPr marL="73152" marR="73152" anchor="ctr">
                    <a:solidFill>
                      <a:srgbClr val="005A9C"/>
                    </a:solidFill>
                  </a:tcPr>
                </a:tc>
              </a:tr>
              <a:tr h="384048">
                <a:tc>
                  <a:txBody>
                    <a:bodyPr/>
                    <a:lstStyle/>
                    <a:p>
                      <a:r>
                        <a:rPr sz="1100" b="0" i="0">
                          <a:solidFill>
                            <a:srgbClr val="333B44"/>
                          </a:solidFill>
                          <a:latin typeface="Segoe UI"/>
                        </a:rPr>
                        <a:t>Part 6</a:t>
                      </a:r>
                    </a:p>
                  </a:txBody>
                  <a:tcPr marL="73152" marR="73152" marT="27432" marB="27432" anchor="ctr">
                    <a:solidFill>
                      <a:srgbClr val="FFFFFF"/>
                    </a:solidFill>
                  </a:tcPr>
                </a:tc>
                <a:tc>
                  <a:txBody>
                    <a:bodyPr/>
                    <a:lstStyle/>
                    <a:p>
                      <a:r>
                        <a:rPr sz="1100" b="0" i="0">
                          <a:solidFill>
                            <a:srgbClr val="333B44"/>
                          </a:solidFill>
                          <a:latin typeface="Segoe UI"/>
                        </a:rPr>
                        <a:t>Default Arrow value mapping</a:t>
                      </a:r>
                    </a:p>
                  </a:txBody>
                  <a:tcPr marL="73152" marR="73152" marT="27432" marB="27432" anchor="ctr">
                    <a:solidFill>
                      <a:srgbClr val="FFFFFF"/>
                    </a:solidFill>
                  </a:tcPr>
                </a:tc>
                <a:tc>
                  <a:txBody>
                    <a:bodyPr/>
                    <a:lstStyle/>
                    <a:p>
                      <a:r>
                        <a:rPr sz="1100" b="0" i="0">
                          <a:solidFill>
                            <a:srgbClr val="333B44"/>
                          </a:solidFill>
                          <a:latin typeface="Segoe UI"/>
                        </a:rPr>
                        <a:t>One Arrow </a:t>
                      </a:r>
                      <a:r>
                        <a:rPr sz="1000" b="0" i="0">
                          <a:solidFill>
                            <a:srgbClr val="002B49"/>
                          </a:solidFill>
                          <a:latin typeface="Consolas"/>
                        </a:rPr>
                        <a:t>DataType</a:t>
                      </a:r>
                      <a:r>
                        <a:rPr sz="1100" b="0" i="0">
                          <a:solidFill>
                            <a:srgbClr val="333B44"/>
                          </a:solidFill>
                          <a:latin typeface="Segoe UI"/>
                        </a:rPr>
                        <a:t> per UA type</a:t>
                      </a:r>
                    </a:p>
                  </a:txBody>
                  <a:tcPr marL="73152" marR="73152" marT="27432" marB="27432" anchor="ctr">
                    <a:solidFill>
                      <a:srgbClr val="FFFFFF"/>
                    </a:solidFill>
                  </a:tcPr>
                </a:tc>
              </a:tr>
              <a:tr h="384048">
                <a:tc>
                  <a:txBody>
                    <a:bodyPr/>
                    <a:lstStyle/>
                    <a:p>
                      <a:r>
                        <a:rPr sz="1100" b="0" i="0">
                          <a:solidFill>
                            <a:srgbClr val="333B44"/>
                          </a:solidFill>
                          <a:latin typeface="Segoe UI"/>
                        </a:rPr>
                        <a:t>Part 14</a:t>
                      </a:r>
                    </a:p>
                  </a:txBody>
                  <a:tcPr marL="73152" marR="73152" marT="27432" marB="27432" anchor="ctr">
                    <a:solidFill>
                      <a:srgbClr val="F4F6F8"/>
                    </a:solidFill>
                  </a:tcPr>
                </a:tc>
                <a:tc>
                  <a:txBody>
                    <a:bodyPr/>
                    <a:lstStyle/>
                    <a:p>
                      <a:r>
                        <a:rPr sz="1100" b="0" i="0">
                          <a:solidFill>
                            <a:srgbClr val="333B44"/>
                          </a:solidFill>
                          <a:latin typeface="Segoe UI"/>
                        </a:rPr>
                        <a:t>PubSub batch mapping</a:t>
                      </a:r>
                    </a:p>
                  </a:txBody>
                  <a:tcPr marL="73152" marR="73152" marT="27432" marB="27432" anchor="ctr">
                    <a:solidFill>
                      <a:srgbClr val="F4F6F8"/>
                    </a:solidFill>
                  </a:tcPr>
                </a:tc>
                <a:tc>
                  <a:txBody>
                    <a:bodyPr/>
                    <a:lstStyle/>
                    <a:p>
                      <a:r>
                        <a:rPr sz="1100" b="0" i="0">
                          <a:solidFill>
                            <a:srgbClr val="333B44"/>
                          </a:solidFill>
                          <a:latin typeface="Segoe UI"/>
                        </a:rPr>
                        <a:t>RecordBatch rows as samples</a:t>
                      </a:r>
                    </a:p>
                  </a:txBody>
                  <a:tcPr marL="73152" marR="73152" marT="27432" marB="27432" anchor="ctr">
                    <a:solidFill>
                      <a:srgbClr val="F4F6F8"/>
                    </a:solidFill>
                  </a:tcPr>
                </a:tc>
              </a:tr>
              <a:tr h="384048">
                <a:tc>
                  <a:txBody>
                    <a:bodyPr/>
                    <a:lstStyle/>
                    <a:p>
                      <a:r>
                        <a:rPr sz="1100" b="0" i="0">
                          <a:solidFill>
                            <a:srgbClr val="333B44"/>
                          </a:solidFill>
                          <a:latin typeface="Segoe UI"/>
                        </a:rPr>
                        <a:t>Historian</a:t>
                      </a:r>
                    </a:p>
                  </a:txBody>
                  <a:tcPr marL="73152" marR="73152" marT="27432" marB="27432" anchor="ctr">
                    <a:solidFill>
                      <a:srgbClr val="FFFFFF"/>
                    </a:solidFill>
                  </a:tcPr>
                </a:tc>
                <a:tc>
                  <a:txBody>
                    <a:bodyPr/>
                    <a:lstStyle/>
                    <a:p>
                      <a:r>
                        <a:rPr sz="1100" b="0" i="0">
                          <a:solidFill>
                            <a:srgbClr val="333B44"/>
                          </a:solidFill>
                          <a:latin typeface="Segoe UI"/>
                        </a:rPr>
                        <a:t>ADBC-style results</a:t>
                      </a:r>
                    </a:p>
                  </a:txBody>
                  <a:tcPr marL="73152" marR="73152" marT="27432" marB="27432" anchor="ctr">
                    <a:solidFill>
                      <a:srgbClr val="FFFFFF"/>
                    </a:solidFill>
                  </a:tcPr>
                </a:tc>
                <a:tc>
                  <a:txBody>
                    <a:bodyPr/>
                    <a:lstStyle/>
                    <a:p>
                      <a:r>
                        <a:rPr sz="1000" b="0" i="0">
                          <a:solidFill>
                            <a:srgbClr val="002B49"/>
                          </a:solidFill>
                          <a:latin typeface="Consolas"/>
                        </a:rPr>
                        <a:t>HistoryRead</a:t>
                      </a:r>
                      <a:r>
                        <a:rPr sz="1100" b="0" i="0">
                          <a:solidFill>
                            <a:srgbClr val="333B44"/>
                          </a:solidFill>
                          <a:latin typeface="Segoe UI"/>
                        </a:rPr>
                        <a:t> to Arrow streams</a:t>
                      </a:r>
                    </a:p>
                  </a:txBody>
                  <a:tcPr marL="73152" marR="73152" marT="27432" marB="27432" anchor="ctr">
                    <a:solidFill>
                      <a:srgbClr val="FFFFFF"/>
                    </a:solidFill>
                  </a:tcPr>
                </a:tc>
              </a:tr>
              <a:tr h="384048">
                <a:tc>
                  <a:txBody>
                    <a:bodyPr/>
                    <a:lstStyle/>
                    <a:p>
                      <a:r>
                        <a:rPr sz="1100" b="0" i="0">
                          <a:solidFill>
                            <a:srgbClr val="333B44"/>
                          </a:solidFill>
                          <a:latin typeface="Segoe UI"/>
                        </a:rPr>
                        <a:t>Schema</a:t>
                      </a:r>
                    </a:p>
                  </a:txBody>
                  <a:tcPr marL="73152" marR="73152" marT="27432" marB="27432" anchor="ctr">
                    <a:solidFill>
                      <a:srgbClr val="F4F6F8"/>
                    </a:solidFill>
                  </a:tcPr>
                </a:tc>
                <a:tc>
                  <a:txBody>
                    <a:bodyPr/>
                    <a:lstStyle/>
                    <a:p>
                      <a:r>
                        <a:rPr sz="1000" b="0" i="0">
                          <a:solidFill>
                            <a:srgbClr val="002B49"/>
                          </a:solidFill>
                          <a:latin typeface="Consolas"/>
                        </a:rPr>
                        <a:t>SchemaId</a:t>
                      </a:r>
                      <a:r>
                        <a:rPr sz="1100" b="0" i="0">
                          <a:solidFill>
                            <a:srgbClr val="333B44"/>
                          </a:solidFill>
                          <a:latin typeface="Segoe UI"/>
                        </a:rPr>
                        <a:t> handshake</a:t>
                      </a:r>
                    </a:p>
                  </a:txBody>
                  <a:tcPr marL="73152" marR="73152" marT="27432" marB="27432" anchor="ctr">
                    <a:solidFill>
                      <a:srgbClr val="F4F6F8"/>
                    </a:solidFill>
                  </a:tcPr>
                </a:tc>
                <a:tc>
                  <a:txBody>
                    <a:bodyPr/>
                    <a:lstStyle/>
                    <a:p>
                      <a:r>
                        <a:rPr sz="1100" b="0" i="0">
                          <a:solidFill>
                            <a:srgbClr val="333B44"/>
                          </a:solidFill>
                          <a:latin typeface="Segoe UI"/>
                        </a:rPr>
                        <a:t>8 bytes from Arrow Schema bytes</a:t>
                      </a:r>
                    </a:p>
                  </a:txBody>
                  <a:tcPr marL="73152" marR="73152" marT="27432" marB="27432" anchor="ctr">
                    <a:solidFill>
                      <a:srgbClr val="F4F6F8"/>
                    </a:solidFill>
                  </a:tcPr>
                </a:tc>
              </a:tr>
              <a:tr h="384048">
                <a:tc>
                  <a:txBody>
                    <a:bodyPr/>
                    <a:lstStyle/>
                    <a:p>
                      <a:r>
                        <a:rPr sz="1100" b="0" i="0">
                          <a:solidFill>
                            <a:srgbClr val="333B44"/>
                          </a:solidFill>
                          <a:latin typeface="Segoe UI"/>
                        </a:rPr>
                        <a:t>Config</a:t>
                      </a:r>
                    </a:p>
                  </a:txBody>
                  <a:tcPr marL="73152" marR="73152" marT="27432" marB="27432" anchor="ctr">
                    <a:solidFill>
                      <a:srgbClr val="FFFFFF"/>
                    </a:solidFill>
                  </a:tcPr>
                </a:tc>
                <a:tc>
                  <a:txBody>
                    <a:bodyPr/>
                    <a:lstStyle/>
                    <a:p>
                      <a:r>
                        <a:rPr sz="1100" b="0" i="0">
                          <a:solidFill>
                            <a:srgbClr val="333B44"/>
                          </a:solidFill>
                          <a:latin typeface="Segoe UI"/>
                        </a:rPr>
                        <a:t>Arrow MessageSettings types</a:t>
                      </a:r>
                    </a:p>
                  </a:txBody>
                  <a:tcPr marL="73152" marR="73152" marT="27432" marB="27432" anchor="ctr">
                    <a:solidFill>
                      <a:srgbClr val="FFFFFF"/>
                    </a:solidFill>
                  </a:tcPr>
                </a:tc>
                <a:tc>
                  <a:txBody>
                    <a:bodyPr/>
                    <a:lstStyle/>
                    <a:p>
                      <a:r>
                        <a:rPr sz="1100" b="0" i="0">
                          <a:solidFill>
                            <a:srgbClr val="333B44"/>
                          </a:solidFill>
                          <a:latin typeface="Segoe UI"/>
                        </a:rPr>
                        <a:t>Part 14 MessageSettings</a:t>
                      </a:r>
                    </a:p>
                  </a:txBody>
                  <a:tcPr marL="73152" marR="73152" marT="27432" marB="27432" anchor="ctr">
                    <a:solidFill>
                      <a:srgbClr val="FFFFFF"/>
                    </a:solidFill>
                  </a:tcPr>
                </a:tc>
              </a:tr>
              <a:tr h="384048">
                <a:tc>
                  <a:txBody>
                    <a:bodyPr/>
                    <a:lstStyle/>
                    <a:p>
                      <a:r>
                        <a:rPr sz="1100" b="0" i="0">
                          <a:solidFill>
                            <a:srgbClr val="333B44"/>
                          </a:solidFill>
                          <a:latin typeface="Segoe UI"/>
                        </a:rPr>
                        <a:t>Content</a:t>
                      </a:r>
                    </a:p>
                  </a:txBody>
                  <a:tcPr marL="73152" marR="73152" marT="27432" marB="27432" anchor="ctr">
                    <a:solidFill>
                      <a:srgbClr val="F4F6F8"/>
                    </a:solidFill>
                  </a:tcPr>
                </a:tc>
                <a:tc>
                  <a:txBody>
                    <a:bodyPr/>
                    <a:lstStyle/>
                    <a:p>
                      <a:r>
                        <a:rPr sz="1100" b="0" i="0">
                          <a:solidFill>
                            <a:srgbClr val="333B44"/>
                          </a:solidFill>
                          <a:latin typeface="Segoe UI"/>
                        </a:rPr>
                        <a:t>Arrow stream and file types</a:t>
                      </a:r>
                    </a:p>
                  </a:txBody>
                  <a:tcPr marL="73152" marR="73152" marT="27432" marB="27432" anchor="ctr">
                    <a:solidFill>
                      <a:srgbClr val="F4F6F8"/>
                    </a:solidFill>
                  </a:tcPr>
                </a:tc>
                <a:tc>
                  <a:txBody>
                    <a:bodyPr/>
                    <a:lstStyle/>
                    <a:p>
                      <a:r>
                        <a:rPr sz="1100" b="0" i="0">
                          <a:solidFill>
                            <a:srgbClr val="333B44"/>
                          </a:solidFill>
                          <a:latin typeface="Segoe UI"/>
                        </a:rPr>
                        <a:t>IPC stream or bounded file</a:t>
                      </a:r>
                    </a:p>
                  </a:txBody>
                  <a:tcPr marL="73152" marR="73152" marT="27432" marB="27432" anchor="ctr">
                    <a:solidFill>
                      <a:srgbClr val="F4F6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the batch mapping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A DataSet becomes one homogeneous RecordBatch</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Arrow 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16</a:t>
            </a:r>
          </a:p>
        </p:txBody>
      </p:sp>
      <p:sp>
        <p:nvSpPr>
          <p:cNvPr id="8" name="Rounded Rectangle 7"/>
          <p:cNvSpPr/>
          <p:nvPr/>
        </p:nvSpPr>
        <p:spPr>
          <a:xfrm>
            <a:off x="956302" y="2044598"/>
            <a:ext cx="2434521" cy="725667"/>
          </a:xfrm>
          <a:prstGeom prst="roundRect">
            <a:avLst/>
          </a:prstGeom>
          <a:solidFill>
            <a:srgbClr val="002B49"/>
          </a:solidFill>
          <a:ln w="9525">
            <a:solidFill>
              <a:srgbClr val="002B4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PublishedDataSet</a:t>
            </a:r>
          </a:p>
        </p:txBody>
      </p:sp>
      <p:sp>
        <p:nvSpPr>
          <p:cNvPr id="9" name="Rounded Rectangle 8"/>
          <p:cNvSpPr/>
          <p:nvPr/>
        </p:nvSpPr>
        <p:spPr>
          <a:xfrm>
            <a:off x="4292498" y="2044598"/>
            <a:ext cx="3065693" cy="725667"/>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Arrow Schema</a:t>
            </a:r>
          </a:p>
        </p:txBody>
      </p:sp>
      <p:sp>
        <p:nvSpPr>
          <p:cNvPr id="10" name="Rounded Rectangle 9"/>
          <p:cNvSpPr/>
          <p:nvPr/>
        </p:nvSpPr>
        <p:spPr>
          <a:xfrm>
            <a:off x="8259866" y="2044598"/>
            <a:ext cx="2705023" cy="725667"/>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RecordBatch</a:t>
            </a:r>
          </a:p>
        </p:txBody>
      </p:sp>
      <p:sp>
        <p:nvSpPr>
          <p:cNvPr id="11" name="Rounded Rectangle 10"/>
          <p:cNvSpPr/>
          <p:nvPr/>
        </p:nvSpPr>
        <p:spPr>
          <a:xfrm>
            <a:off x="8259866" y="3405225"/>
            <a:ext cx="2705023" cy="816376"/>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Rows = samples</a:t>
            </a:r>
          </a:p>
        </p:txBody>
      </p:sp>
      <p:sp>
        <p:nvSpPr>
          <p:cNvPr id="12" name="Rounded Rectangle 11"/>
          <p:cNvSpPr/>
          <p:nvPr/>
        </p:nvSpPr>
        <p:spPr>
          <a:xfrm>
            <a:off x="4292498" y="3405225"/>
            <a:ext cx="3065693" cy="816376"/>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Columns = fields</a:t>
            </a:r>
          </a:p>
        </p:txBody>
      </p:sp>
      <p:sp>
        <p:nvSpPr>
          <p:cNvPr id="13" name="Rounded Rectangle 12"/>
          <p:cNvSpPr/>
          <p:nvPr/>
        </p:nvSpPr>
        <p:spPr>
          <a:xfrm>
            <a:off x="956302" y="3405225"/>
            <a:ext cx="2434521" cy="816376"/>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SchemaId</a:t>
            </a:r>
          </a:p>
          <a:p>
            <a:pPr algn="ctr">
              <a:spcBef>
                <a:spcPts val="100"/>
              </a:spcBef>
            </a:pPr>
            <a:r>
              <a:rPr sz="1000" b="0" i="0">
                <a:solidFill>
                  <a:srgbClr val="FFFFFF"/>
                </a:solidFill>
                <a:latin typeface="Segoe UI"/>
              </a:rPr>
              <a:t>cache or announce</a:t>
            </a:r>
          </a:p>
        </p:txBody>
      </p:sp>
      <p:cxnSp>
        <p:nvCxnSpPr>
          <p:cNvPr id="14" name="Connector 13"/>
          <p:cNvCxnSpPr>
            <a:stCxn id="8" idx="3"/>
            <a:endCxn id="9" idx="1"/>
          </p:cNvCxnSpPr>
          <p:nvPr/>
        </p:nvCxnSpPr>
        <p:spPr>
          <a:xfrm>
            <a:off x="3390823" y="2407431"/>
            <a:ext cx="901675" cy="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64420" y="2261127"/>
            <a:ext cx="1554480" cy="274320"/>
          </a:xfrm>
          <a:prstGeom prst="rect">
            <a:avLst/>
          </a:prstGeom>
          <a:noFill/>
        </p:spPr>
        <p:txBody>
          <a:bodyPr wrap="square" lIns="0" rIns="0" tIns="0" bIns="0">
            <a:spAutoFit/>
          </a:bodyPr>
          <a:lstStyle/>
          <a:p>
            <a:pPr algn="ctr"/>
            <a:r>
              <a:rPr sz="900" b="0" i="1">
                <a:solidFill>
                  <a:srgbClr val="6B7480"/>
                </a:solidFill>
                <a:latin typeface="Segoe UI"/>
              </a:rPr>
              <a:t>fields</a:t>
            </a:r>
          </a:p>
        </p:txBody>
      </p:sp>
      <p:cxnSp>
        <p:nvCxnSpPr>
          <p:cNvPr id="16" name="Connector 15"/>
          <p:cNvCxnSpPr>
            <a:stCxn id="9" idx="3"/>
            <a:endCxn id="10" idx="1"/>
          </p:cNvCxnSpPr>
          <p:nvPr/>
        </p:nvCxnSpPr>
        <p:spPr>
          <a:xfrm>
            <a:off x="7358191" y="2407431"/>
            <a:ext cx="901675" cy="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31788" y="2261127"/>
            <a:ext cx="1554480" cy="274320"/>
          </a:xfrm>
          <a:prstGeom prst="rect">
            <a:avLst/>
          </a:prstGeom>
          <a:noFill/>
        </p:spPr>
        <p:txBody>
          <a:bodyPr wrap="square" lIns="0" rIns="0" tIns="0" bIns="0">
            <a:spAutoFit/>
          </a:bodyPr>
          <a:lstStyle/>
          <a:p>
            <a:pPr algn="ctr"/>
            <a:r>
              <a:rPr sz="900" b="0" i="1">
                <a:solidFill>
                  <a:srgbClr val="6B7480"/>
                </a:solidFill>
                <a:latin typeface="Segoe UI"/>
              </a:rPr>
              <a:t>types</a:t>
            </a:r>
          </a:p>
        </p:txBody>
      </p:sp>
      <p:cxnSp>
        <p:nvCxnSpPr>
          <p:cNvPr id="18" name="Connector 17"/>
          <p:cNvCxnSpPr>
            <a:stCxn id="9" idx="1"/>
            <a:endCxn id="13" idx="3"/>
          </p:cNvCxnSpPr>
          <p:nvPr/>
        </p:nvCxnSpPr>
        <p:spPr>
          <a:xfrm flipH="1">
            <a:off x="3390823" y="2407431"/>
            <a:ext cx="901675" cy="1405982"/>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064420" y="2261127"/>
            <a:ext cx="1554480" cy="274320"/>
          </a:xfrm>
          <a:prstGeom prst="rect">
            <a:avLst/>
          </a:prstGeom>
          <a:noFill/>
        </p:spPr>
        <p:txBody>
          <a:bodyPr wrap="square" lIns="0" rIns="0" tIns="0" bIns="0">
            <a:spAutoFit/>
          </a:bodyPr>
          <a:lstStyle/>
          <a:p>
            <a:pPr algn="ctr"/>
            <a:r>
              <a:rPr sz="900" b="0" i="1">
                <a:solidFill>
                  <a:srgbClr val="6B7480"/>
                </a:solidFill>
                <a:latin typeface="Segoe UI"/>
              </a:rPr>
              <a:t>hash</a:t>
            </a:r>
          </a:p>
        </p:txBody>
      </p:sp>
      <p:cxnSp>
        <p:nvCxnSpPr>
          <p:cNvPr id="20" name="Connector 19"/>
          <p:cNvCxnSpPr>
            <a:stCxn id="12" idx="3"/>
            <a:endCxn id="10" idx="1"/>
          </p:cNvCxnSpPr>
          <p:nvPr/>
        </p:nvCxnSpPr>
        <p:spPr>
          <a:xfrm flipV="1">
            <a:off x="7358191" y="2407431"/>
            <a:ext cx="901675" cy="1405982"/>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31788" y="2261127"/>
            <a:ext cx="1554480" cy="274320"/>
          </a:xfrm>
          <a:prstGeom prst="rect">
            <a:avLst/>
          </a:prstGeom>
          <a:noFill/>
        </p:spPr>
        <p:txBody>
          <a:bodyPr wrap="square" lIns="0" rIns="0" tIns="0" bIns="0">
            <a:spAutoFit/>
          </a:bodyPr>
          <a:lstStyle/>
          <a:p>
            <a:pPr algn="ctr"/>
            <a:r>
              <a:rPr sz="900" b="0" i="1">
                <a:solidFill>
                  <a:srgbClr val="6B7480"/>
                </a:solidFill>
                <a:latin typeface="Segoe UI"/>
              </a:rPr>
              <a:t>layout</a:t>
            </a:r>
          </a:p>
        </p:txBody>
      </p:sp>
      <p:cxnSp>
        <p:nvCxnSpPr>
          <p:cNvPr id="22" name="Connector 21"/>
          <p:cNvCxnSpPr>
            <a:stCxn id="10" idx="2"/>
            <a:endCxn id="11" idx="0"/>
          </p:cNvCxnSpPr>
          <p:nvPr/>
        </p:nvCxnSpPr>
        <p:spPr>
          <a:xfrm>
            <a:off x="9612377" y="2770265"/>
            <a:ext cx="0" cy="63496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400812"/>
            <a:ext cx="10820095" cy="365760"/>
          </a:xfrm>
          <a:prstGeom prst="rect">
            <a:avLst/>
          </a:prstGeom>
          <a:noFill/>
        </p:spPr>
        <p:txBody>
          <a:bodyPr wrap="square" lIns="0" rIns="0" tIns="0" bIns="0">
            <a:spAutoFit/>
          </a:bodyPr>
          <a:lstStyle/>
          <a:p>
            <a:pPr algn="ctr"/>
            <a:r>
              <a:rPr sz="1100" b="0" i="1">
                <a:solidFill>
                  <a:srgbClr val="6B7480"/>
                </a:solidFill>
                <a:latin typeface="Segoe UI"/>
              </a:rPr>
              <a:t>Several DataSets are several batches, each with its own SchemaId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historians expose it</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Part 11 stays the access basis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Arrow 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17</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logical surface is </a:t>
            </a:r>
            <a:r>
              <a:rPr sz="1600" b="1" i="0">
                <a:solidFill>
                  <a:srgbClr val="002B49"/>
                </a:solidFill>
                <a:latin typeface="Consolas"/>
              </a:rPr>
              <a:t>Connection → Statement → ExecuteQuery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result is an </a:t>
            </a:r>
            <a:r>
              <a:rPr sz="1600" b="1" i="0">
                <a:solidFill>
                  <a:srgbClr val="002B49"/>
                </a:solidFill>
                <a:latin typeface="Consolas"/>
              </a:rPr>
              <a:t>ArrowArrayStream</a:t>
            </a:r>
            <a:r>
              <a:rPr sz="1700" b="1" i="0">
                <a:solidFill>
                  <a:srgbClr val="002B49"/>
                </a:solidFill>
                <a:latin typeface="Segoe UI"/>
              </a:rPr>
              <a:t> of RecordBatches</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HistoryRead</a:t>
            </a:r>
            <a:r>
              <a:rPr sz="1700" b="1" i="0">
                <a:solidFill>
                  <a:srgbClr val="002B49"/>
                </a:solidFill>
                <a:latin typeface="Segoe UI"/>
              </a:rPr>
              <a:t> details define the rows returned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Canonical results use long form</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NodeId</a:t>
            </a:r>
            <a:r>
              <a:rPr sz="1400" b="0" i="0">
                <a:solidFill>
                  <a:srgbClr val="333B44"/>
                </a:solidFill>
                <a:latin typeface="Segoe UI"/>
              </a:rPr>
              <a:t>, timestamps, </a:t>
            </a:r>
            <a:r>
              <a:rPr sz="1300" b="0" i="0">
                <a:solidFill>
                  <a:srgbClr val="002B49"/>
                </a:solidFill>
                <a:latin typeface="Consolas"/>
              </a:rPr>
              <a:t>Value</a:t>
            </a:r>
            <a:r>
              <a:rPr sz="1400" b="0" i="0">
                <a:solidFill>
                  <a:srgbClr val="333B44"/>
                </a:solidFill>
                <a:latin typeface="Segoe UI"/>
              </a:rPr>
              <a:t> and </a:t>
            </a:r>
            <a:r>
              <a:rPr sz="1300" b="0" i="0">
                <a:solidFill>
                  <a:srgbClr val="002B49"/>
                </a:solidFill>
                <a:latin typeface="Consolas"/>
              </a:rPr>
              <a:t>StatusCode</a:t>
            </a:r>
            <a:r>
              <a:rPr sz="1400" b="0" i="0">
                <a:solidFill>
                  <a:srgbClr val="333B44"/>
                </a:solidFill>
                <a:latin typeface="Segoe UI"/>
              </a:rPr>
              <a:t> identify each sample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Mixed value types split streams or use Variant values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Stand-alone companion in the core or cloud numbering range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Arrow 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18</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banner: </a:t>
            </a:r>
            <a:r>
              <a:rPr sz="1700" b="1" i="0">
                <a:solidFill>
                  <a:srgbClr val="002B49"/>
                </a:solidFill>
                <a:latin typeface="Segoe UI"/>
              </a:rPr>
              <a:t>0.1.0</a:t>
            </a:r>
            <a:r>
              <a:rPr sz="1700" b="1" i="0">
                <a:solidFill>
                  <a:srgbClr val="002B49"/>
                </a:solidFill>
                <a:latin typeface="Segoe UI"/>
              </a:rPr>
              <a:t>, dated 2026-07-22</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Companion to Parts 6, 14 and 11</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Path: </a:t>
            </a:r>
            <a:r>
              <a:rPr sz="1600" b="1" i="0">
                <a:solidFill>
                  <a:srgbClr val="002B49"/>
                </a:solidFill>
                <a:latin typeface="Consolas"/>
              </a:rPr>
              <a:t>core-specs/arrow-encoding/OPC-UA-Arrow-Encoding.md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final namespace, NodeIds and numbering range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 demo is listed for this draft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Async Services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OPC UA cannot say “still working, ask me again”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Asynchronous Service Execution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19</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gateway may not finish before the Client times out</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Bad_Timeout</a:t>
            </a:r>
            <a:r>
              <a:rPr sz="1700" b="1" i="0">
                <a:solidFill>
                  <a:srgbClr val="002B49"/>
                </a:solidFill>
                <a:latin typeface="Segoe UI"/>
              </a:rPr>
              <a:t> hides failed versus still running</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Retrying can repeat an effect that is already in flight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Ticket Methods solve one case at a time</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Good_CompletesAsynchronously</a:t>
            </a:r>
            <a:r>
              <a:rPr sz="1700" b="1" i="0">
                <a:solidFill>
                  <a:srgbClr val="002B49"/>
                </a:solidFill>
                <a:latin typeface="Segoe UI"/>
              </a:rPr>
              <a:t> gives no outcome path</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missing contract is one generic way to collect a late Service response.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One Service and a small discovery model</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Asynchronous Service Execution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20</a:t>
            </a:r>
          </a:p>
        </p:txBody>
      </p:sp>
      <p:graphicFrame>
        <p:nvGraphicFramePr>
          <p:cNvPr id="8" name="Table 7"/>
          <p:cNvGraphicFramePr>
            <a:graphicFrameLocks noGrp="1"/>
          </p:cNvGraphicFramePr>
          <p:nvPr/>
        </p:nvGraphicFramePr>
        <p:xfrm>
          <a:off x="685800" y="1591056"/>
          <a:ext cx="10820093" cy="3072384"/>
        </p:xfrm>
        <a:graphic>
          <a:graphicData uri="http://schemas.openxmlformats.org/drawingml/2006/table">
            <a:tbl>
              <a:tblPr firstRow="1" bandRow="1">
                <a:tableStyleId>{5C22544A-7EE6-4342-B048-85BDC9FD1C3A}</a:tableStyleId>
              </a:tblPr>
              <a:tblGrid>
                <a:gridCol w="3787033"/>
                <a:gridCol w="2380420"/>
                <a:gridCol w="4652640"/>
              </a:tblGrid>
              <a:tr h="384048">
                <a:tc>
                  <a:txBody>
                    <a:bodyPr/>
                    <a:lstStyle/>
                    <a:p>
                      <a:r>
                        <a:rPr sz="1100" b="1" i="0">
                          <a:solidFill>
                            <a:srgbClr val="FFFFFF"/>
                          </a:solidFill>
                          <a:latin typeface="Segoe UI Semibold"/>
                        </a:rPr>
                        <a:t>Piece</a:t>
                      </a:r>
                    </a:p>
                  </a:txBody>
                  <a:tcPr marL="73152" marR="73152" anchor="ctr">
                    <a:solidFill>
                      <a:srgbClr val="005A9C"/>
                    </a:solidFill>
                  </a:tcPr>
                </a:tc>
                <a:tc>
                  <a:txBody>
                    <a:bodyPr/>
                    <a:lstStyle/>
                    <a:p>
                      <a:r>
                        <a:rPr sz="1100" b="1" i="0">
                          <a:solidFill>
                            <a:srgbClr val="FFFFFF"/>
                          </a:solidFill>
                          <a:latin typeface="Segoe UI Semibold"/>
                        </a:rPr>
                        <a:t>Kind</a:t>
                      </a:r>
                    </a:p>
                  </a:txBody>
                  <a:tcPr marL="73152" marR="73152" anchor="ctr">
                    <a:solidFill>
                      <a:srgbClr val="005A9C"/>
                    </a:solidFill>
                  </a:tcPr>
                </a:tc>
                <a:tc>
                  <a:txBody>
                    <a:bodyPr/>
                    <a:lstStyle/>
                    <a:p>
                      <a:r>
                        <a:rPr sz="1100" b="1" i="0">
                          <a:solidFill>
                            <a:srgbClr val="FFFFFF"/>
                          </a:solidFill>
                          <a:latin typeface="Segoe UI Semibold"/>
                        </a:rPr>
                        <a:t>Purpose</a:t>
                      </a:r>
                    </a:p>
                  </a:txBody>
                  <a:tcPr marL="73152" marR="73152" anchor="ctr">
                    <a:solidFill>
                      <a:srgbClr val="005A9C"/>
                    </a:solidFill>
                  </a:tcPr>
                </a:tc>
              </a:tr>
              <a:tr h="384048">
                <a:tc>
                  <a:txBody>
                    <a:bodyPr/>
                    <a:lstStyle/>
                    <a:p>
                      <a:r>
                        <a:rPr sz="1000" b="0" i="0">
                          <a:solidFill>
                            <a:srgbClr val="002B49"/>
                          </a:solidFill>
                          <a:latin typeface="Consolas"/>
                        </a:rPr>
                        <a:t>Complete</a:t>
                      </a:r>
                    </a:p>
                  </a:txBody>
                  <a:tcPr marL="73152" marR="73152" marT="27432" marB="27432" anchor="ctr">
                    <a:solidFill>
                      <a:srgbClr val="FFFFFF"/>
                    </a:solidFill>
                  </a:tcPr>
                </a:tc>
                <a:tc>
                  <a:txBody>
                    <a:bodyPr/>
                    <a:lstStyle/>
                    <a:p>
                      <a:r>
                        <a:rPr sz="1100" b="0" i="0">
                          <a:solidFill>
                            <a:srgbClr val="333B44"/>
                          </a:solidFill>
                          <a:latin typeface="Segoe UI"/>
                        </a:rPr>
                        <a:t>Service</a:t>
                      </a:r>
                    </a:p>
                  </a:txBody>
                  <a:tcPr marL="73152" marR="73152" marT="27432" marB="27432" anchor="ctr">
                    <a:solidFill>
                      <a:srgbClr val="FFFFFF"/>
                    </a:solidFill>
                  </a:tcPr>
                </a:tc>
                <a:tc>
                  <a:txBody>
                    <a:bodyPr/>
                    <a:lstStyle/>
                    <a:p>
                      <a:r>
                        <a:rPr sz="1100" b="0" i="0">
                          <a:solidFill>
                            <a:srgbClr val="333B44"/>
                          </a:solidFill>
                          <a:latin typeface="Segoe UI"/>
                        </a:rPr>
                        <a:t>Collects a parked response</a:t>
                      </a:r>
                    </a:p>
                  </a:txBody>
                  <a:tcPr marL="73152" marR="73152" marT="27432" marB="27432" anchor="ctr">
                    <a:solidFill>
                      <a:srgbClr val="FFFFFF"/>
                    </a:solidFill>
                  </a:tcPr>
                </a:tc>
              </a:tr>
              <a:tr h="384048">
                <a:tc>
                  <a:txBody>
                    <a:bodyPr/>
                    <a:lstStyle/>
                    <a:p>
                      <a:r>
                        <a:rPr sz="1000" b="0" i="0">
                          <a:solidFill>
                            <a:srgbClr val="002B49"/>
                          </a:solidFill>
                          <a:latin typeface="Consolas"/>
                        </a:rPr>
                        <a:t>DeferralRequestHeaderDataType</a:t>
                      </a:r>
                    </a:p>
                  </a:txBody>
                  <a:tcPr marL="73152" marR="73152" marT="27432" marB="27432" anchor="ctr">
                    <a:solidFill>
                      <a:srgbClr val="F4F6F8"/>
                    </a:solidFill>
                  </a:tcPr>
                </a:tc>
                <a:tc>
                  <a:txBody>
                    <a:bodyPr/>
                    <a:lstStyle/>
                    <a:p>
                      <a:r>
                        <a:rPr sz="1100" b="0" i="0">
                          <a:solidFill>
                            <a:srgbClr val="333B44"/>
                          </a:solidFill>
                          <a:latin typeface="Segoe UI"/>
                        </a:rPr>
                        <a:t>Header</a:t>
                      </a:r>
                    </a:p>
                  </a:txBody>
                  <a:tcPr marL="73152" marR="73152" marT="27432" marB="27432" anchor="ctr">
                    <a:solidFill>
                      <a:srgbClr val="F4F6F8"/>
                    </a:solidFill>
                  </a:tcPr>
                </a:tc>
                <a:tc>
                  <a:txBody>
                    <a:bodyPr/>
                    <a:lstStyle/>
                    <a:p>
                      <a:r>
                        <a:rPr sz="1100" b="0" i="0">
                          <a:solidFill>
                            <a:srgbClr val="333B44"/>
                          </a:solidFill>
                          <a:latin typeface="Segoe UI"/>
                        </a:rPr>
                        <a:t>Client opts in to deferral</a:t>
                      </a:r>
                    </a:p>
                  </a:txBody>
                  <a:tcPr marL="73152" marR="73152" marT="27432" marB="27432" anchor="ctr">
                    <a:solidFill>
                      <a:srgbClr val="F4F6F8"/>
                    </a:solidFill>
                  </a:tcPr>
                </a:tc>
              </a:tr>
              <a:tr h="384048">
                <a:tc>
                  <a:txBody>
                    <a:bodyPr/>
                    <a:lstStyle/>
                    <a:p>
                      <a:r>
                        <a:rPr sz="1000" b="0" i="0">
                          <a:solidFill>
                            <a:srgbClr val="002B49"/>
                          </a:solidFill>
                          <a:latin typeface="Consolas"/>
                        </a:rPr>
                        <a:t>DeferralResponseHeaderDataType</a:t>
                      </a:r>
                    </a:p>
                  </a:txBody>
                  <a:tcPr marL="73152" marR="73152" marT="27432" marB="27432" anchor="ctr">
                    <a:solidFill>
                      <a:srgbClr val="FFFFFF"/>
                    </a:solidFill>
                  </a:tcPr>
                </a:tc>
                <a:tc>
                  <a:txBody>
                    <a:bodyPr/>
                    <a:lstStyle/>
                    <a:p>
                      <a:r>
                        <a:rPr sz="1100" b="0" i="0">
                          <a:solidFill>
                            <a:srgbClr val="333B44"/>
                          </a:solidFill>
                          <a:latin typeface="Segoe UI"/>
                        </a:rPr>
                        <a:t>Header</a:t>
                      </a:r>
                    </a:p>
                  </a:txBody>
                  <a:tcPr marL="73152" marR="73152" marT="27432" marB="27432" anchor="ctr">
                    <a:solidFill>
                      <a:srgbClr val="FFFFFF"/>
                    </a:solidFill>
                  </a:tcPr>
                </a:tc>
                <a:tc>
                  <a:txBody>
                    <a:bodyPr/>
                    <a:lstStyle/>
                    <a:p>
                      <a:r>
                        <a:rPr sz="1100" b="0" i="0">
                          <a:solidFill>
                            <a:srgbClr val="333B44"/>
                          </a:solidFill>
                          <a:latin typeface="Segoe UI"/>
                        </a:rPr>
                        <a:t>Carries retry and expiry hints</a:t>
                      </a:r>
                    </a:p>
                  </a:txBody>
                  <a:tcPr marL="73152" marR="73152" marT="27432" marB="27432" anchor="ctr">
                    <a:solidFill>
                      <a:srgbClr val="FFFFFF"/>
                    </a:solidFill>
                  </a:tcPr>
                </a:tc>
              </a:tr>
              <a:tr h="384048">
                <a:tc>
                  <a:txBody>
                    <a:bodyPr/>
                    <a:lstStyle/>
                    <a:p>
                      <a:r>
                        <a:rPr sz="1000" b="0" i="0">
                          <a:solidFill>
                            <a:srgbClr val="002B49"/>
                          </a:solidFill>
                          <a:latin typeface="Consolas"/>
                        </a:rPr>
                        <a:t>AsyncServiceCapabilities</a:t>
                      </a:r>
                    </a:p>
                  </a:txBody>
                  <a:tcPr marL="73152" marR="73152" marT="27432" marB="27432" anchor="ctr">
                    <a:solidFill>
                      <a:srgbClr val="F4F6F8"/>
                    </a:solidFill>
                  </a:tcPr>
                </a:tc>
                <a:tc>
                  <a:txBody>
                    <a:bodyPr/>
                    <a:lstStyle/>
                    <a:p>
                      <a:r>
                        <a:rPr sz="1100" b="0" i="0">
                          <a:solidFill>
                            <a:srgbClr val="333B44"/>
                          </a:solidFill>
                          <a:latin typeface="Segoe UI"/>
                        </a:rPr>
                        <a:t>Object</a:t>
                      </a:r>
                    </a:p>
                  </a:txBody>
                  <a:tcPr marL="73152" marR="73152" marT="27432" marB="27432" anchor="ctr">
                    <a:solidFill>
                      <a:srgbClr val="F4F6F8"/>
                    </a:solidFill>
                  </a:tcPr>
                </a:tc>
                <a:tc>
                  <a:txBody>
                    <a:bodyPr/>
                    <a:lstStyle/>
                    <a:p>
                      <a:r>
                        <a:rPr sz="1100" b="0" i="0">
                          <a:solidFill>
                            <a:srgbClr val="333B44"/>
                          </a:solidFill>
                          <a:latin typeface="Segoe UI"/>
                        </a:rPr>
                        <a:t>Lists deferrable Services</a:t>
                      </a:r>
                    </a:p>
                  </a:txBody>
                  <a:tcPr marL="73152" marR="73152" marT="27432" marB="27432" anchor="ctr">
                    <a:solidFill>
                      <a:srgbClr val="F4F6F8"/>
                    </a:solidFill>
                  </a:tcPr>
                </a:tc>
              </a:tr>
              <a:tr h="384048">
                <a:tc>
                  <a:txBody>
                    <a:bodyPr/>
                    <a:lstStyle/>
                    <a:p>
                      <a:r>
                        <a:rPr sz="1000" b="0" i="0">
                          <a:solidFill>
                            <a:srgbClr val="002B49"/>
                          </a:solidFill>
                          <a:latin typeface="Consolas"/>
                        </a:rPr>
                        <a:t>DeferredRequestCompletedEventType</a:t>
                      </a:r>
                    </a:p>
                  </a:txBody>
                  <a:tcPr marL="73152" marR="73152" marT="27432" marB="27432" anchor="ctr">
                    <a:solidFill>
                      <a:srgbClr val="FFFFFF"/>
                    </a:solidFill>
                  </a:tcPr>
                </a:tc>
                <a:tc>
                  <a:txBody>
                    <a:bodyPr/>
                    <a:lstStyle/>
                    <a:p>
                      <a:r>
                        <a:rPr sz="1100" b="0" i="0">
                          <a:solidFill>
                            <a:srgbClr val="333B44"/>
                          </a:solidFill>
                          <a:latin typeface="Segoe UI"/>
                        </a:rPr>
                        <a:t>Event</a:t>
                      </a:r>
                    </a:p>
                  </a:txBody>
                  <a:tcPr marL="73152" marR="73152" marT="27432" marB="27432" anchor="ctr">
                    <a:solidFill>
                      <a:srgbClr val="FFFFFF"/>
                    </a:solidFill>
                  </a:tcPr>
                </a:tc>
                <a:tc>
                  <a:txBody>
                    <a:bodyPr/>
                    <a:lstStyle/>
                    <a:p>
                      <a:r>
                        <a:rPr sz="1100" b="0" i="0">
                          <a:solidFill>
                            <a:srgbClr val="333B44"/>
                          </a:solidFill>
                          <a:latin typeface="Segoe UI"/>
                        </a:rPr>
                        <a:t>Tells a Client to collect</a:t>
                      </a:r>
                    </a:p>
                  </a:txBody>
                  <a:tcPr marL="73152" marR="73152" marT="27432" marB="27432" anchor="ctr">
                    <a:solidFill>
                      <a:srgbClr val="FFFFFF"/>
                    </a:solidFill>
                  </a:tcPr>
                </a:tc>
              </a:tr>
              <a:tr h="384048">
                <a:tc>
                  <a:txBody>
                    <a:bodyPr/>
                    <a:lstStyle/>
                    <a:p>
                      <a:r>
                        <a:rPr sz="1000" b="0" i="0">
                          <a:solidFill>
                            <a:srgbClr val="002B49"/>
                          </a:solidFill>
                          <a:latin typeface="Consolas"/>
                        </a:rPr>
                        <a:t>AuditDeferredRequestEventType</a:t>
                      </a:r>
                    </a:p>
                  </a:txBody>
                  <a:tcPr marL="73152" marR="73152" marT="27432" marB="27432" anchor="ctr">
                    <a:solidFill>
                      <a:srgbClr val="F4F6F8"/>
                    </a:solidFill>
                  </a:tcPr>
                </a:tc>
                <a:tc>
                  <a:txBody>
                    <a:bodyPr/>
                    <a:lstStyle/>
                    <a:p>
                      <a:r>
                        <a:rPr sz="1100" b="0" i="0">
                          <a:solidFill>
                            <a:srgbClr val="333B44"/>
                          </a:solidFill>
                          <a:latin typeface="Segoe UI"/>
                        </a:rPr>
                        <a:t>Event</a:t>
                      </a:r>
                    </a:p>
                  </a:txBody>
                  <a:tcPr marL="73152" marR="73152" marT="27432" marB="27432" anchor="ctr">
                    <a:solidFill>
                      <a:srgbClr val="F4F6F8"/>
                    </a:solidFill>
                  </a:tcPr>
                </a:tc>
                <a:tc>
                  <a:txBody>
                    <a:bodyPr/>
                    <a:lstStyle/>
                    <a:p>
                      <a:r>
                        <a:rPr sz="1100" b="0" i="0">
                          <a:solidFill>
                            <a:srgbClr val="333B44"/>
                          </a:solidFill>
                          <a:latin typeface="Segoe UI"/>
                        </a:rPr>
                        <a:t>Records the lifecycle</a:t>
                      </a:r>
                    </a:p>
                  </a:txBody>
                  <a:tcPr marL="73152" marR="73152" marT="27432" marB="27432" anchor="ctr">
                    <a:solidFill>
                      <a:srgbClr val="F4F6F8"/>
                    </a:solidFill>
                  </a:tcPr>
                </a:tc>
              </a:tr>
              <a:tr h="384048">
                <a:tc>
                  <a:txBody>
                    <a:bodyPr/>
                    <a:lstStyle/>
                    <a:p>
                      <a:r>
                        <a:rPr sz="1100" b="0" i="0">
                          <a:solidFill>
                            <a:srgbClr val="333B44"/>
                          </a:solidFill>
                          <a:latin typeface="Segoe UI"/>
                        </a:rPr>
                        <a:t>New StatusCodes</a:t>
                      </a:r>
                    </a:p>
                  </a:txBody>
                  <a:tcPr marL="73152" marR="73152" marT="27432" marB="27432" anchor="ctr">
                    <a:solidFill>
                      <a:srgbClr val="FFFFFF"/>
                    </a:solidFill>
                  </a:tcPr>
                </a:tc>
                <a:tc>
                  <a:txBody>
                    <a:bodyPr/>
                    <a:lstStyle/>
                    <a:p>
                      <a:r>
                        <a:rPr sz="1100" b="0" i="0">
                          <a:solidFill>
                            <a:srgbClr val="333B44"/>
                          </a:solidFill>
                          <a:latin typeface="Segoe UI"/>
                        </a:rPr>
                        <a:t>Results</a:t>
                      </a:r>
                    </a:p>
                  </a:txBody>
                  <a:tcPr marL="73152" marR="73152" marT="27432" marB="27432" anchor="ctr">
                    <a:solidFill>
                      <a:srgbClr val="FFFFFF"/>
                    </a:solidFill>
                  </a:tcPr>
                </a:tc>
                <a:tc>
                  <a:txBody>
                    <a:bodyPr/>
                    <a:lstStyle/>
                    <a:p>
                      <a:r>
                        <a:rPr sz="1100" b="0" i="0">
                          <a:solidFill>
                            <a:srgbClr val="333B44"/>
                          </a:solidFill>
                          <a:latin typeface="Segoe UI"/>
                        </a:rPr>
                        <a:t>Unknown, expired, cancelled, busy</a:t>
                      </a:r>
                    </a:p>
                  </a:txBody>
                  <a:tcPr marL="73152" marR="73152" marT="27432" marB="27432"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200" b="0" i="1">
                <a:solidFill>
                  <a:srgbClr val="002B49"/>
                </a:solidFill>
                <a:latin typeface="Consolas"/>
              </a:rPr>
              <a:t>Bad_RequestNotComplete</a:t>
            </a:r>
            <a:r>
              <a:rPr sz="1300" b="0" i="1">
                <a:solidFill>
                  <a:srgbClr val="005A9C"/>
                </a:solidFill>
                <a:latin typeface="Segoe UI"/>
              </a:rPr>
              <a:t> becomes a retry contract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Asynchronous Service Execution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21</a:t>
            </a:r>
          </a:p>
        </p:txBody>
      </p:sp>
      <p:sp>
        <p:nvSpPr>
          <p:cNvPr id="8" name="TextBox 7"/>
          <p:cNvSpPr txBox="1"/>
          <p:nvPr/>
        </p:nvSpPr>
        <p:spPr>
          <a:xfrm>
            <a:off x="685800" y="1591056"/>
            <a:ext cx="10820095" cy="384048"/>
          </a:xfrm>
          <a:prstGeom prst="rect">
            <a:avLst/>
          </a:prstGeom>
          <a:noFill/>
        </p:spPr>
        <p:txBody>
          <a:bodyPr wrap="square" lIns="0" rIns="0" tIns="0" bIns="0">
            <a:spAutoFit/>
          </a:bodyPr>
          <a:lstStyle/>
          <a:p>
            <a:r>
              <a:rPr sz="1300" b="0" i="0">
                <a:solidFill>
                  <a:srgbClr val="333B44"/>
                </a:solidFill>
                <a:latin typeface="Segoe UI"/>
              </a:rPr>
              <a:t>The original request executes once; </a:t>
            </a:r>
            <a:r>
              <a:rPr sz="1200" b="0" i="0">
                <a:solidFill>
                  <a:srgbClr val="002B49"/>
                </a:solidFill>
                <a:latin typeface="Consolas"/>
              </a:rPr>
              <a:t>Complete</a:t>
            </a:r>
            <a:r>
              <a:rPr sz="1300" b="0" i="0">
                <a:solidFill>
                  <a:srgbClr val="333B44"/>
                </a:solidFill>
                <a:latin typeface="Segoe UI"/>
              </a:rPr>
              <a:t> only collects its response.</a:t>
            </a:r>
          </a:p>
        </p:txBody>
      </p:sp>
      <p:sp>
        <p:nvSpPr>
          <p:cNvPr id="9" name="Rounded Rectangle 8"/>
          <p:cNvSpPr/>
          <p:nvPr/>
        </p:nvSpPr>
        <p:spPr>
          <a:xfrm>
            <a:off x="685800" y="2066544"/>
            <a:ext cx="10820095" cy="3602736"/>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46304" bIns="146304"/>
          <a:lstStyle/>
          <a:p>
            <a:pPr algn="ctr">
              <a:lnSpc>
                <a:spcPct val="106000"/>
              </a:lnSpc>
              <a:spcAft>
                <a:spcPts val="0"/>
              </a:spcAft>
            </a:pPr>
            <a:r>
              <a:rPr sz="1200" b="0" i="0">
                <a:solidFill>
                  <a:srgbClr val="FFFFFF"/>
                </a:solidFill>
                <a:latin typeface="Consolas"/>
              </a:rPr>
              <a:t>Client -&gt; Server: Call(..., requestHandle=42,</a:t>
            </a:r>
          </a:p>
          <a:p>
            <a:pPr>
              <a:lnSpc>
                <a:spcPct val="106000"/>
              </a:lnSpc>
              <a:spcAft>
                <a:spcPts val="0"/>
              </a:spcAft>
            </a:pPr>
            <a:r>
              <a:rPr sz="1200" b="0" i="0">
                <a:solidFill>
                  <a:srgbClr val="FFFFFF"/>
                </a:solidFill>
                <a:latin typeface="Consolas"/>
              </a:rPr>
              <a:t>                        DeferralRequestHeader)</a:t>
            </a:r>
          </a:p>
          <a:p>
            <a:pPr>
              <a:lnSpc>
                <a:spcPct val="106000"/>
              </a:lnSpc>
              <a:spcAft>
                <a:spcPts val="0"/>
              </a:spcAft>
            </a:pPr>
            <a:r>
              <a:rPr sz="1200" b="0" i="0">
                <a:solidFill>
                  <a:srgbClr val="FFFFFF"/>
                </a:solidFill>
                <a:latin typeface="Consolas"/>
              </a:rPr>
              <a:t>Server -&gt; Client: Bad_RequestNotComplete</a:t>
            </a:r>
          </a:p>
          <a:p>
            <a:pPr>
              <a:lnSpc>
                <a:spcPct val="106000"/>
              </a:lnSpc>
              <a:spcAft>
                <a:spcPts val="0"/>
              </a:spcAft>
            </a:pPr>
            <a:r>
              <a:rPr sz="1200" b="0" i="0">
                <a:solidFill>
                  <a:srgbClr val="FFFFFF"/>
                </a:solidFill>
                <a:latin typeface="Consolas"/>
              </a:rPr>
              <a:t>                   RetryAfter, ExpiryTime</a:t>
            </a:r>
          </a:p>
          <a:p>
            <a:pPr>
              <a:lnSpc>
                <a:spcPct val="106000"/>
              </a:lnSpc>
              <a:spcAft>
                <a:spcPts val="0"/>
              </a:spcAft>
            </a:pPr>
            <a:r>
              <a:rPr sz="1200" b="0" i="0">
                <a:solidFill>
                  <a:srgbClr val="FFFFFF"/>
                </a:solidFill>
                <a:latin typeface="Consolas"/>
              </a:rPr>
              <a:t>Client -&gt; Server: Complete(requestHandle=42)</a:t>
            </a:r>
          </a:p>
          <a:p>
            <a:pPr>
              <a:lnSpc>
                <a:spcPct val="106000"/>
              </a:lnSpc>
              <a:spcAft>
                <a:spcPts val="0"/>
              </a:spcAft>
            </a:pPr>
            <a:r>
              <a:rPr sz="1200" b="0" i="0">
                <a:solidFill>
                  <a:srgbClr val="FFFFFF"/>
                </a:solidFill>
                <a:latin typeface="Consolas"/>
              </a:rPr>
              <a:t>Server -&gt; Client: Bad_RequestNotComplete, RetryAfter</a:t>
            </a:r>
          </a:p>
          <a:p>
            <a:pPr>
              <a:lnSpc>
                <a:spcPct val="106000"/>
              </a:lnSpc>
              <a:spcAft>
                <a:spcPts val="0"/>
              </a:spcAft>
            </a:pPr>
            <a:r>
              <a:rPr sz="1200" b="0" i="0">
                <a:solidFill>
                  <a:srgbClr val="FFFFFF"/>
                </a:solidFill>
                <a:latin typeface="Consolas"/>
              </a:rPr>
              <a:t>Server -&gt; Client: DeferredRequestCompletedEventType(42)</a:t>
            </a:r>
          </a:p>
          <a:p>
            <a:pPr>
              <a:lnSpc>
                <a:spcPct val="106000"/>
              </a:lnSpc>
              <a:spcAft>
                <a:spcPts val="0"/>
              </a:spcAft>
            </a:pPr>
            <a:r>
              <a:rPr sz="1200" b="0" i="0">
                <a:solidFill>
                  <a:srgbClr val="FFFFFF"/>
                </a:solidFill>
                <a:latin typeface="Consolas"/>
              </a:rPr>
              <a:t>Client -&gt; Server: Complete(requestHandle=42)</a:t>
            </a:r>
          </a:p>
          <a:p>
            <a:pPr>
              <a:lnSpc>
                <a:spcPct val="106000"/>
              </a:lnSpc>
              <a:spcAft>
                <a:spcPts val="0"/>
              </a:spcAft>
            </a:pPr>
            <a:r>
              <a:rPr sz="1200" b="0" i="0">
                <a:solidFill>
                  <a:srgbClr val="FFFFFF"/>
                </a:solidFill>
                <a:latin typeface="Consolas"/>
              </a:rPr>
              <a:t>Server -&gt; Client: original CallResponse or CompleteResponse</a:t>
            </a:r>
          </a:p>
        </p:txBody>
      </p:sp>
      <p:sp>
        <p:nvSpPr>
          <p:cNvPr id="10" name="TextBox 9"/>
          <p:cNvSpPr txBox="1"/>
          <p:nvPr/>
        </p:nvSpPr>
        <p:spPr>
          <a:xfrm>
            <a:off x="685800" y="5779008"/>
            <a:ext cx="10820095" cy="365760"/>
          </a:xfrm>
          <a:prstGeom prst="rect">
            <a:avLst/>
          </a:prstGeom>
          <a:noFill/>
        </p:spPr>
        <p:txBody>
          <a:bodyPr wrap="square" lIns="0" rIns="0" tIns="0" bIns="0">
            <a:spAutoFit/>
          </a:bodyPr>
          <a:lstStyle/>
          <a:p>
            <a:r>
              <a:rPr sz="1200" b="0" i="0">
                <a:solidFill>
                  <a:srgbClr val="333B44"/>
                </a:solidFill>
                <a:latin typeface="Segoe UI"/>
              </a:rPr>
              <a:t>Calling </a:t>
            </a:r>
            <a:r>
              <a:rPr sz="1100" b="0" i="0">
                <a:solidFill>
                  <a:srgbClr val="002B49"/>
                </a:solidFill>
                <a:latin typeface="Consolas"/>
              </a:rPr>
              <a:t>Cancel</a:t>
            </a:r>
            <a:r>
              <a:rPr sz="1200" b="0" i="0">
                <a:solidFill>
                  <a:srgbClr val="333B44"/>
                </a:solidFill>
                <a:latin typeface="Segoe UI"/>
              </a:rPr>
              <a:t> for handle 42 abandons the answer; it does not undo the 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Lifecycle rules that matter</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Deferral changes response timing, not authorization or execution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Asynchronous Service Execution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Deferral is opt-in per request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effect is executed once, never by </a:t>
            </a:r>
            <a:r>
              <a:rPr sz="1600" b="1" i="0">
                <a:solidFill>
                  <a:srgbClr val="002B49"/>
                </a:solidFill>
                <a:latin typeface="Consolas"/>
              </a:rPr>
              <a:t>Complete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delivered response is retained for replay until expiry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parked response belongs to the issuing Session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Reconnect must not weaken </a:t>
            </a:r>
            <a:r>
              <a:rPr sz="1600" b="1" i="0">
                <a:solidFill>
                  <a:srgbClr val="002B49"/>
                </a:solidFill>
                <a:latin typeface="Consolas"/>
              </a:rPr>
              <a:t>SecurityMode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Audit </a:t>
            </a:r>
            <a:r>
              <a:rPr sz="1600" b="1" i="0">
                <a:solidFill>
                  <a:srgbClr val="002B49"/>
                </a:solidFill>
                <a:latin typeface="Consolas"/>
              </a:rPr>
              <a:t>Completed</a:t>
            </a:r>
            <a:r>
              <a:rPr sz="1700" b="1" i="0">
                <a:solidFill>
                  <a:srgbClr val="002B49"/>
                </a:solidFill>
                <a:latin typeface="Segoe UI"/>
              </a:rPr>
              <a:t> records the outcome even if nobody collects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Errata answering Mantis 10606</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Asynchronous Service Execution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23</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banner: </a:t>
            </a:r>
            <a:r>
              <a:rPr sz="1700" b="1" i="0">
                <a:solidFill>
                  <a:srgbClr val="002B49"/>
                </a:solidFill>
                <a:latin typeface="Segoe UI"/>
              </a:rPr>
              <a:t>0.1.0</a:t>
            </a:r>
            <a:r>
              <a:rPr sz="1700" b="1" i="0">
                <a:solidFill>
                  <a:srgbClr val="002B49"/>
                </a:solidFill>
                <a:latin typeface="Segoe UI"/>
              </a:rPr>
              <a:t>, dated 2026-08-03</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Targets Parts 4 and 5 as insertion-ready errata</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Path: </a:t>
            </a:r>
            <a:r>
              <a:rPr sz="1600" b="1" i="0">
                <a:solidFill>
                  <a:srgbClr val="002B49"/>
                </a:solidFill>
                <a:latin typeface="Consolas"/>
              </a:rPr>
              <a:t>core-specs/async-services/OPC-UA-Async-Services.md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Answers Mantis 10606</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final NodeIds, StatusCodes and clause numbers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 demo is listed for this draft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Avro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Avro-native systems cannot decode UA Binary</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Avro DataEncoding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24</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Stream processors and data lakes already speak Apache Avro</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OPC UA telemetry often reaches them through custom bridges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JSON is verbose and UA Binary is not their native contract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Schemas must preserve OPC UA semantics without a live Session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PubSub Actions need request and response payloads too</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Avro is the compact bridge for Avro-native consumers, not a new Service encoding.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Full type-model mapping plus a Part 14 message mapping</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Avro DataEncoding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25</a:t>
            </a:r>
          </a:p>
        </p:txBody>
      </p:sp>
      <p:graphicFrame>
        <p:nvGraphicFramePr>
          <p:cNvPr id="8" name="Table 7"/>
          <p:cNvGraphicFramePr>
            <a:graphicFrameLocks noGrp="1"/>
          </p:cNvGraphicFramePr>
          <p:nvPr/>
        </p:nvGraphicFramePr>
        <p:xfrm>
          <a:off x="685800" y="1591056"/>
          <a:ext cx="10820094" cy="3072384"/>
        </p:xfrm>
        <a:graphic>
          <a:graphicData uri="http://schemas.openxmlformats.org/drawingml/2006/table">
            <a:tbl>
              <a:tblPr firstRow="1" bandRow="1">
                <a:tableStyleId>{5C22544A-7EE6-4342-B048-85BDC9FD1C3A}</a:tableStyleId>
              </a:tblPr>
              <a:tblGrid>
                <a:gridCol w="2596822"/>
                <a:gridCol w="4111636"/>
                <a:gridCol w="4111636"/>
              </a:tblGrid>
              <a:tr h="384048">
                <a:tc>
                  <a:txBody>
                    <a:bodyPr/>
                    <a:lstStyle/>
                    <a:p>
                      <a:r>
                        <a:rPr sz="1100" b="1" i="0">
                          <a:solidFill>
                            <a:srgbClr val="FFFFFF"/>
                          </a:solidFill>
                          <a:latin typeface="Segoe UI Semibold"/>
                        </a:rPr>
                        <a:t>Area</a:t>
                      </a:r>
                    </a:p>
                  </a:txBody>
                  <a:tcPr marL="73152" marR="73152" anchor="ctr">
                    <a:solidFill>
                      <a:srgbClr val="005A9C"/>
                    </a:solidFill>
                  </a:tcPr>
                </a:tc>
                <a:tc>
                  <a:txBody>
                    <a:bodyPr/>
                    <a:lstStyle/>
                    <a:p>
                      <a:r>
                        <a:rPr sz="1100" b="1" i="0">
                          <a:solidFill>
                            <a:srgbClr val="FFFFFF"/>
                          </a:solidFill>
                          <a:latin typeface="Segoe UI Semibold"/>
                        </a:rPr>
                        <a:t>Adds</a:t>
                      </a:r>
                    </a:p>
                  </a:txBody>
                  <a:tcPr marL="73152" marR="73152" anchor="ctr">
                    <a:solidFill>
                      <a:srgbClr val="005A9C"/>
                    </a:solidFill>
                  </a:tcPr>
                </a:tc>
                <a:tc>
                  <a:txBody>
                    <a:bodyPr/>
                    <a:lstStyle/>
                    <a:p>
                      <a:r>
                        <a:rPr sz="1100" b="1" i="0">
                          <a:solidFill>
                            <a:srgbClr val="FFFFFF"/>
                          </a:solidFill>
                          <a:latin typeface="Segoe UI Semibold"/>
                        </a:rPr>
                        <a:t>Why it matters</a:t>
                      </a:r>
                    </a:p>
                  </a:txBody>
                  <a:tcPr marL="73152" marR="73152" anchor="ctr">
                    <a:solidFill>
                      <a:srgbClr val="005A9C"/>
                    </a:solidFill>
                  </a:tcPr>
                </a:tc>
              </a:tr>
              <a:tr h="384048">
                <a:tc>
                  <a:txBody>
                    <a:bodyPr/>
                    <a:lstStyle/>
                    <a:p>
                      <a:r>
                        <a:rPr sz="1100" b="0" i="0">
                          <a:solidFill>
                            <a:srgbClr val="333B44"/>
                          </a:solidFill>
                          <a:latin typeface="Segoe UI"/>
                        </a:rPr>
                        <a:t>Types</a:t>
                      </a:r>
                    </a:p>
                  </a:txBody>
                  <a:tcPr marL="73152" marR="73152" marT="27432" marB="27432" anchor="ctr">
                    <a:solidFill>
                      <a:srgbClr val="FFFFFF"/>
                    </a:solidFill>
                  </a:tcPr>
                </a:tc>
                <a:tc>
                  <a:txBody>
                    <a:bodyPr/>
                    <a:lstStyle/>
                    <a:p>
                      <a:r>
                        <a:rPr sz="1100" b="0" i="0">
                          <a:solidFill>
                            <a:srgbClr val="333B44"/>
                          </a:solidFill>
                          <a:latin typeface="Segoe UI"/>
                        </a:rPr>
                        <a:t>All built-ins and composites</a:t>
                      </a:r>
                    </a:p>
                  </a:txBody>
                  <a:tcPr marL="73152" marR="73152" marT="27432" marB="27432" anchor="ctr">
                    <a:solidFill>
                      <a:srgbClr val="FFFFFF"/>
                    </a:solidFill>
                  </a:tcPr>
                </a:tc>
                <a:tc>
                  <a:txBody>
                    <a:bodyPr/>
                    <a:lstStyle/>
                    <a:p>
                      <a:r>
                        <a:rPr sz="1100" b="0" i="0">
                          <a:solidFill>
                            <a:srgbClr val="333B44"/>
                          </a:solidFill>
                          <a:latin typeface="Segoe UI"/>
                        </a:rPr>
                        <a:t>Preserves UA value semantics</a:t>
                      </a:r>
                    </a:p>
                  </a:txBody>
                  <a:tcPr marL="73152" marR="73152" marT="27432" marB="27432" anchor="ctr">
                    <a:solidFill>
                      <a:srgbClr val="FFFFFF"/>
                    </a:solidFill>
                  </a:tcPr>
                </a:tc>
              </a:tr>
              <a:tr h="384048">
                <a:tc>
                  <a:txBody>
                    <a:bodyPr/>
                    <a:lstStyle/>
                    <a:p>
                      <a:r>
                        <a:rPr sz="1100" b="0" i="0">
                          <a:solidFill>
                            <a:srgbClr val="333B44"/>
                          </a:solidFill>
                          <a:latin typeface="Segoe UI"/>
                        </a:rPr>
                        <a:t>Variant</a:t>
                      </a:r>
                    </a:p>
                  </a:txBody>
                  <a:tcPr marL="73152" marR="73152" marT="27432" marB="27432" anchor="ctr">
                    <a:solidFill>
                      <a:srgbClr val="F4F6F8"/>
                    </a:solidFill>
                  </a:tcPr>
                </a:tc>
                <a:tc>
                  <a:txBody>
                    <a:bodyPr/>
                    <a:lstStyle/>
                    <a:p>
                      <a:r>
                        <a:rPr sz="1100" b="0" i="0">
                          <a:solidFill>
                            <a:srgbClr val="333B44"/>
                          </a:solidFill>
                          <a:latin typeface="Segoe UI"/>
                        </a:rPr>
                        <a:t>Typed body and dimensions</a:t>
                      </a:r>
                    </a:p>
                  </a:txBody>
                  <a:tcPr marL="73152" marR="73152" marT="27432" marB="27432" anchor="ctr">
                    <a:solidFill>
                      <a:srgbClr val="F4F6F8"/>
                    </a:solidFill>
                  </a:tcPr>
                </a:tc>
                <a:tc>
                  <a:txBody>
                    <a:bodyPr/>
                    <a:lstStyle/>
                    <a:p>
                      <a:r>
                        <a:rPr sz="1100" b="0" i="0">
                          <a:solidFill>
                            <a:srgbClr val="333B44"/>
                          </a:solidFill>
                          <a:latin typeface="Segoe UI"/>
                        </a:rPr>
                        <a:t>Keeps runtime type identity</a:t>
                      </a:r>
                    </a:p>
                  </a:txBody>
                  <a:tcPr marL="73152" marR="73152" marT="27432" marB="27432" anchor="ctr">
                    <a:solidFill>
                      <a:srgbClr val="F4F6F8"/>
                    </a:solidFill>
                  </a:tcPr>
                </a:tc>
              </a:tr>
              <a:tr h="384048">
                <a:tc>
                  <a:txBody>
                    <a:bodyPr/>
                    <a:lstStyle/>
                    <a:p>
                      <a:r>
                        <a:rPr sz="1100" b="0" i="0">
                          <a:solidFill>
                            <a:srgbClr val="333B44"/>
                          </a:solidFill>
                          <a:latin typeface="Segoe UI"/>
                        </a:rPr>
                        <a:t>ExtensionObject</a:t>
                      </a:r>
                    </a:p>
                  </a:txBody>
                  <a:tcPr marL="73152" marR="73152" marT="27432" marB="27432" anchor="ctr">
                    <a:solidFill>
                      <a:srgbClr val="FFFFFF"/>
                    </a:solidFill>
                  </a:tcPr>
                </a:tc>
                <a:tc>
                  <a:txBody>
                    <a:bodyPr/>
                    <a:lstStyle/>
                    <a:p>
                      <a:r>
                        <a:rPr sz="1100" b="0" i="0">
                          <a:solidFill>
                            <a:srgbClr val="333B44"/>
                          </a:solidFill>
                          <a:latin typeface="Segoe UI"/>
                        </a:rPr>
                        <a:t>Known structs or fallback</a:t>
                      </a:r>
                    </a:p>
                  </a:txBody>
                  <a:tcPr marL="73152" marR="73152" marT="27432" marB="27432" anchor="ctr">
                    <a:solidFill>
                      <a:srgbClr val="FFFFFF"/>
                    </a:solidFill>
                  </a:tcPr>
                </a:tc>
                <a:tc>
                  <a:txBody>
                    <a:bodyPr/>
                    <a:lstStyle/>
                    <a:p>
                      <a:r>
                        <a:rPr sz="1100" b="0" i="0">
                          <a:solidFill>
                            <a:srgbClr val="333B44"/>
                          </a:solidFill>
                          <a:latin typeface="Segoe UI"/>
                        </a:rPr>
                        <a:t>Handles abstract fields</a:t>
                      </a:r>
                    </a:p>
                  </a:txBody>
                  <a:tcPr marL="73152" marR="73152" marT="27432" marB="27432" anchor="ctr">
                    <a:solidFill>
                      <a:srgbClr val="FFFFFF"/>
                    </a:solidFill>
                  </a:tcPr>
                </a:tc>
              </a:tr>
              <a:tr h="384048">
                <a:tc>
                  <a:txBody>
                    <a:bodyPr/>
                    <a:lstStyle/>
                    <a:p>
                      <a:r>
                        <a:rPr sz="1100" b="0" i="0">
                          <a:solidFill>
                            <a:srgbClr val="333B44"/>
                          </a:solidFill>
                          <a:latin typeface="Segoe UI"/>
                        </a:rPr>
                        <a:t>Schema</a:t>
                      </a:r>
                    </a:p>
                  </a:txBody>
                  <a:tcPr marL="73152" marR="73152" marT="27432" marB="27432" anchor="ctr">
                    <a:solidFill>
                      <a:srgbClr val="F4F6F8"/>
                    </a:solidFill>
                  </a:tcPr>
                </a:tc>
                <a:tc>
                  <a:txBody>
                    <a:bodyPr/>
                    <a:lstStyle/>
                    <a:p>
                      <a:r>
                        <a:rPr sz="1100" b="0" i="0">
                          <a:solidFill>
                            <a:srgbClr val="333B44"/>
                          </a:solidFill>
                          <a:latin typeface="Segoe UI"/>
                        </a:rPr>
                        <a:t>Deterministic generator</a:t>
                      </a:r>
                    </a:p>
                  </a:txBody>
                  <a:tcPr marL="73152" marR="73152" marT="27432" marB="27432" anchor="ctr">
                    <a:solidFill>
                      <a:srgbClr val="F4F6F8"/>
                    </a:solidFill>
                  </a:tcPr>
                </a:tc>
                <a:tc>
                  <a:txBody>
                    <a:bodyPr/>
                    <a:lstStyle/>
                    <a:p>
                      <a:r>
                        <a:rPr sz="1100" b="0" i="0">
                          <a:solidFill>
                            <a:srgbClr val="333B44"/>
                          </a:solidFill>
                          <a:latin typeface="Segoe UI"/>
                        </a:rPr>
                        <a:t>NodeSet drives the contract</a:t>
                      </a:r>
                    </a:p>
                  </a:txBody>
                  <a:tcPr marL="73152" marR="73152" marT="27432" marB="27432" anchor="ctr">
                    <a:solidFill>
                      <a:srgbClr val="F4F6F8"/>
                    </a:solidFill>
                  </a:tcPr>
                </a:tc>
              </a:tr>
              <a:tr h="384048">
                <a:tc>
                  <a:txBody>
                    <a:bodyPr/>
                    <a:lstStyle/>
                    <a:p>
                      <a:r>
                        <a:rPr sz="1100" b="0" i="0">
                          <a:solidFill>
                            <a:srgbClr val="333B44"/>
                          </a:solidFill>
                          <a:latin typeface="Segoe UI"/>
                        </a:rPr>
                        <a:t>PubSub</a:t>
                      </a:r>
                    </a:p>
                  </a:txBody>
                  <a:tcPr marL="73152" marR="73152" marT="27432" marB="27432" anchor="ctr">
                    <a:solidFill>
                      <a:srgbClr val="FFFFFF"/>
                    </a:solidFill>
                  </a:tcPr>
                </a:tc>
                <a:tc>
                  <a:txBody>
                    <a:bodyPr/>
                    <a:lstStyle/>
                    <a:p>
                      <a:r>
                        <a:rPr sz="1100" b="0" i="0">
                          <a:solidFill>
                            <a:srgbClr val="333B44"/>
                          </a:solidFill>
                          <a:latin typeface="Segoe UI"/>
                        </a:rPr>
                        <a:t>Network/DataSet records</a:t>
                      </a:r>
                    </a:p>
                  </a:txBody>
                  <a:tcPr marL="73152" marR="73152" marT="27432" marB="27432" anchor="ctr">
                    <a:solidFill>
                      <a:srgbClr val="FFFFFF"/>
                    </a:solidFill>
                  </a:tcPr>
                </a:tc>
                <a:tc>
                  <a:txBody>
                    <a:bodyPr/>
                    <a:lstStyle/>
                    <a:p>
                      <a:r>
                        <a:rPr sz="1100" b="0" i="0">
                          <a:solidFill>
                            <a:srgbClr val="333B44"/>
                          </a:solidFill>
                          <a:latin typeface="Segoe UI"/>
                        </a:rPr>
                        <a:t>Maps key and delta frames</a:t>
                      </a:r>
                    </a:p>
                  </a:txBody>
                  <a:tcPr marL="73152" marR="73152" marT="27432" marB="27432" anchor="ctr">
                    <a:solidFill>
                      <a:srgbClr val="FFFFFF"/>
                    </a:solidFill>
                  </a:tcPr>
                </a:tc>
              </a:tr>
              <a:tr h="384048">
                <a:tc>
                  <a:txBody>
                    <a:bodyPr/>
                    <a:lstStyle/>
                    <a:p>
                      <a:r>
                        <a:rPr sz="1100" b="0" i="0">
                          <a:solidFill>
                            <a:srgbClr val="333B44"/>
                          </a:solidFill>
                          <a:latin typeface="Segoe UI"/>
                        </a:rPr>
                        <a:t>Actions</a:t>
                      </a:r>
                    </a:p>
                  </a:txBody>
                  <a:tcPr marL="73152" marR="73152" marT="27432" marB="27432" anchor="ctr">
                    <a:solidFill>
                      <a:srgbClr val="F4F6F8"/>
                    </a:solidFill>
                  </a:tcPr>
                </a:tc>
                <a:tc>
                  <a:txBody>
                    <a:bodyPr/>
                    <a:lstStyle/>
                    <a:p>
                      <a:r>
                        <a:rPr sz="1100" b="0" i="0">
                          <a:solidFill>
                            <a:srgbClr val="333B44"/>
                          </a:solidFill>
                          <a:latin typeface="Segoe UI"/>
                        </a:rPr>
                        <a:t>Invoke and response records</a:t>
                      </a:r>
                    </a:p>
                  </a:txBody>
                  <a:tcPr marL="73152" marR="73152" marT="27432" marB="27432" anchor="ctr">
                    <a:solidFill>
                      <a:srgbClr val="F4F6F8"/>
                    </a:solidFill>
                  </a:tcPr>
                </a:tc>
                <a:tc>
                  <a:txBody>
                    <a:bodyPr/>
                    <a:lstStyle/>
                    <a:p>
                      <a:r>
                        <a:rPr sz="1100" b="0" i="0">
                          <a:solidFill>
                            <a:srgbClr val="333B44"/>
                          </a:solidFill>
                          <a:latin typeface="Segoe UI"/>
                        </a:rPr>
                        <a:t>Carries PubSub request/response</a:t>
                      </a:r>
                    </a:p>
                  </a:txBody>
                  <a:tcPr marL="73152" marR="73152" marT="27432" marB="27432" anchor="ctr">
                    <a:solidFill>
                      <a:srgbClr val="F4F6F8"/>
                    </a:solidFill>
                  </a:tcPr>
                </a:tc>
              </a:tr>
              <a:tr h="384048">
                <a:tc>
                  <a:txBody>
                    <a:bodyPr/>
                    <a:lstStyle/>
                    <a:p>
                      <a:r>
                        <a:rPr sz="1100" b="0" i="0">
                          <a:solidFill>
                            <a:srgbClr val="333B44"/>
                          </a:solidFill>
                          <a:latin typeface="Segoe UI"/>
                        </a:rPr>
                        <a:t>Discovery</a:t>
                      </a:r>
                    </a:p>
                  </a:txBody>
                  <a:tcPr marL="73152" marR="73152" marT="27432" marB="27432" anchor="ctr">
                    <a:solidFill>
                      <a:srgbClr val="FFFFFF"/>
                    </a:solidFill>
                  </a:tcPr>
                </a:tc>
                <a:tc>
                  <a:txBody>
                    <a:bodyPr/>
                    <a:lstStyle/>
                    <a:p>
                      <a:r>
                        <a:rPr sz="1100" b="0" i="0">
                          <a:solidFill>
                            <a:srgbClr val="333B44"/>
                          </a:solidFill>
                          <a:latin typeface="Segoe UI"/>
                        </a:rPr>
                        <a:t>Avro announcements</a:t>
                      </a:r>
                    </a:p>
                  </a:txBody>
                  <a:tcPr marL="73152" marR="73152" marT="27432" marB="27432" anchor="ctr">
                    <a:solidFill>
                      <a:srgbClr val="FFFFFF"/>
                    </a:solidFill>
                  </a:tcPr>
                </a:tc>
                <a:tc>
                  <a:txBody>
                    <a:bodyPr/>
                    <a:lstStyle/>
                    <a:p>
                      <a:r>
                        <a:rPr sz="1100" b="0" i="0">
                          <a:solidFill>
                            <a:srgbClr val="333B44"/>
                          </a:solidFill>
                          <a:latin typeface="Segoe UI"/>
                        </a:rPr>
                        <a:t>Lets late joiners decode</a:t>
                      </a:r>
                    </a:p>
                  </a:txBody>
                  <a:tcPr marL="73152" marR="73152" marT="27432" marB="27432"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schemas are produced</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The encoder derives the schema before it writes bytes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Avro DataEncoding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26</a:t>
            </a:r>
          </a:p>
        </p:txBody>
      </p:sp>
      <p:sp>
        <p:nvSpPr>
          <p:cNvPr id="8" name="TextBox 7"/>
          <p:cNvSpPr txBox="1"/>
          <p:nvPr/>
        </p:nvSpPr>
        <p:spPr>
          <a:xfrm>
            <a:off x="685800" y="1591056"/>
            <a:ext cx="10820095" cy="384048"/>
          </a:xfrm>
          <a:prstGeom prst="rect">
            <a:avLst/>
          </a:prstGeom>
          <a:noFill/>
        </p:spPr>
        <p:txBody>
          <a:bodyPr wrap="square" lIns="0" rIns="0" tIns="0" bIns="0">
            <a:spAutoFit/>
          </a:bodyPr>
          <a:lstStyle/>
          <a:p>
            <a:r>
              <a:rPr sz="1300" b="0" i="0">
                <a:solidFill>
                  <a:srgbClr val="333B44"/>
                </a:solidFill>
                <a:latin typeface="Segoe UI"/>
              </a:rPr>
              <a:t>The SchemaId is a fingerprint of the generated Avro schema, not of PubSub state.</a:t>
            </a:r>
          </a:p>
        </p:txBody>
      </p:sp>
      <p:sp>
        <p:nvSpPr>
          <p:cNvPr id="9" name="Rounded Rectangle 8"/>
          <p:cNvSpPr/>
          <p:nvPr/>
        </p:nvSpPr>
        <p:spPr>
          <a:xfrm>
            <a:off x="685800" y="2066544"/>
            <a:ext cx="10820095" cy="3602736"/>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46304" bIns="146304"/>
          <a:lstStyle/>
          <a:p>
            <a:pPr algn="ctr">
              <a:lnSpc>
                <a:spcPct val="106000"/>
              </a:lnSpc>
              <a:spcAft>
                <a:spcPts val="0"/>
              </a:spcAft>
            </a:pPr>
            <a:r>
              <a:rPr sz="1200" b="0" i="0">
                <a:solidFill>
                  <a:srgbClr val="FFFFFF"/>
                </a:solidFill>
                <a:latin typeface="Consolas"/>
              </a:rPr>
              <a:t>DataTypeDefinition + runtime type</a:t>
            </a:r>
          </a:p>
          <a:p>
            <a:pPr>
              <a:lnSpc>
                <a:spcPct val="106000"/>
              </a:lnSpc>
              <a:spcAft>
                <a:spcPts val="0"/>
              </a:spcAft>
            </a:pPr>
            <a:r>
              <a:rPr sz="1200" b="0" i="0">
                <a:solidFill>
                  <a:srgbClr val="FFFFFF"/>
                </a:solidFill>
                <a:latin typeface="Consolas"/>
              </a:rPr>
              <a:t>    -&gt; deterministic Avro schema</a:t>
            </a:r>
          </a:p>
          <a:p>
            <a:pPr>
              <a:lnSpc>
                <a:spcPct val="106000"/>
              </a:lnSpc>
              <a:spcAft>
                <a:spcPts val="0"/>
              </a:spcAft>
            </a:pPr>
            <a:r>
              <a:rPr sz="1200" b="0" i="0">
                <a:solidFill>
                  <a:srgbClr val="FFFFFF"/>
                </a:solidFill>
                <a:latin typeface="Consolas"/>
              </a:rPr>
              <a:t>    -&gt; Parsing Canonical Form</a:t>
            </a:r>
          </a:p>
          <a:p>
            <a:pPr>
              <a:lnSpc>
                <a:spcPct val="106000"/>
              </a:lnSpc>
              <a:spcAft>
                <a:spcPts val="0"/>
              </a:spcAft>
            </a:pPr>
            <a:r>
              <a:rPr sz="1200" b="0" i="0">
                <a:solidFill>
                  <a:srgbClr val="FFFFFF"/>
                </a:solidFill>
                <a:latin typeface="Consolas"/>
              </a:rPr>
              <a:t>    -&gt; CRC-64-AVRO SchemaId</a:t>
            </a:r>
          </a:p>
          <a:p>
            <a:pPr>
              <a:lnSpc>
                <a:spcPct val="106000"/>
              </a:lnSpc>
              <a:spcAft>
                <a:spcPts val="0"/>
              </a:spcAft>
            </a:pPr>
            <a:r>
              <a:rPr sz="1200" b="0" i="0">
                <a:solidFill>
                  <a:srgbClr val="FFFFFF"/>
                </a:solidFill>
                <a:latin typeface="Consolas"/>
              </a:rPr>
              <a:t>    -&gt; publish / announce schema</a:t>
            </a:r>
          </a:p>
          <a:p>
            <a:pPr>
              <a:lnSpc>
                <a:spcPct val="106000"/>
              </a:lnSpc>
              <a:spcAft>
                <a:spcPts val="0"/>
              </a:spcAft>
            </a:pPr>
            <a:r>
              <a:rPr sz="1200" b="0" i="0">
                <a:solidFill>
                  <a:srgbClr val="FFFFFF"/>
                </a:solidFill>
                <a:latin typeface="Consolas"/>
              </a:rPr>
              <a:t>    -&gt; encode value or DataSetMessage</a:t>
            </a:r>
          </a:p>
          <a:p>
            <a:pPr>
              <a:lnSpc>
                <a:spcPct val="106000"/>
              </a:lnSpc>
              <a:spcAft>
                <a:spcPts val="0"/>
              </a:spcAft>
            </a:pPr>
            <a:r>
              <a:rPr sz="1200" b="0" i="0">
                <a:solidFill>
                  <a:srgbClr val="FFFFFF"/>
                </a:solidFill>
                <a:latin typeface="Consolas"/>
              </a:rPr>
              <a:t> </a:t>
            </a:r>
          </a:p>
          <a:p>
            <a:pPr>
              <a:lnSpc>
                <a:spcPct val="106000"/>
              </a:lnSpc>
              <a:spcAft>
                <a:spcPts val="0"/>
              </a:spcAft>
            </a:pPr>
            <a:r>
              <a:rPr sz="1200" b="0" i="0">
                <a:solidFill>
                  <a:srgbClr val="FFFFFF"/>
                </a:solidFill>
                <a:latin typeface="Consolas"/>
              </a:rPr>
              <a:t>decode(payload, SchemaId)</a:t>
            </a:r>
          </a:p>
          <a:p>
            <a:pPr>
              <a:lnSpc>
                <a:spcPct val="106000"/>
              </a:lnSpc>
              <a:spcAft>
                <a:spcPts val="0"/>
              </a:spcAft>
            </a:pPr>
            <a:r>
              <a:rPr sz="1200" b="0" i="0">
                <a:solidFill>
                  <a:srgbClr val="FFFFFF"/>
                </a:solidFill>
                <a:latin typeface="Consolas"/>
              </a:rPr>
              <a:t>    -&gt; resolve schema from cache, registry or AddressSpace</a:t>
            </a:r>
          </a:p>
          <a:p>
            <a:pPr>
              <a:lnSpc>
                <a:spcPct val="106000"/>
              </a:lnSpc>
              <a:spcAft>
                <a:spcPts val="0"/>
              </a:spcAft>
            </a:pPr>
            <a:r>
              <a:rPr sz="1200" b="0" i="0">
                <a:solidFill>
                  <a:srgbClr val="FFFFFF"/>
                </a:solidFill>
                <a:latin typeface="Consolas"/>
              </a:rPr>
              <a:t>    -&gt; reconstruct OPC UA value</a:t>
            </a:r>
          </a:p>
        </p:txBody>
      </p:sp>
      <p:sp>
        <p:nvSpPr>
          <p:cNvPr id="10" name="TextBox 9"/>
          <p:cNvSpPr txBox="1"/>
          <p:nvPr/>
        </p:nvSpPr>
        <p:spPr>
          <a:xfrm>
            <a:off x="685800" y="5779008"/>
            <a:ext cx="10820095" cy="365760"/>
          </a:xfrm>
          <a:prstGeom prst="rect">
            <a:avLst/>
          </a:prstGeom>
          <a:noFill/>
        </p:spPr>
        <p:txBody>
          <a:bodyPr wrap="square" lIns="0" rIns="0" tIns="0" bIns="0">
            <a:spAutoFit/>
          </a:bodyPr>
          <a:lstStyle/>
          <a:p>
            <a:r>
              <a:rPr sz="1200" b="0" i="0">
                <a:solidFill>
                  <a:srgbClr val="333B44"/>
                </a:solidFill>
                <a:latin typeface="Segoe UI"/>
              </a:rPr>
              <a:t>The required invariant is </a:t>
            </a:r>
            <a:r>
              <a:rPr sz="1100" b="0" i="0">
                <a:solidFill>
                  <a:srgbClr val="002B49"/>
                </a:solidFill>
                <a:latin typeface="Consolas"/>
              </a:rPr>
              <a:t>decode(encode(x)) == x</a:t>
            </a:r>
            <a:r>
              <a:rPr sz="1200" b="0" i="0">
                <a:solidFill>
                  <a:srgbClr val="333B44"/>
                </a:solidFill>
                <a:latin typeface="Segoe UI"/>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schema evolution stays reversible</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Only Variant and ExtensionObject unions grow</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Avro DataEncoding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27</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first schema can be data-driven or schema-driven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New Variant body forms append union branches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New ExtensionObject concrete types append branches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Existing branches keep their Avro union index</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grown schema gets a new SchemaId and MinorVersion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reset starts a new MajorVersion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Working draft as a standalone companion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Apache Avro DataEncoding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28</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banner: </a:t>
            </a:r>
            <a:r>
              <a:rPr sz="1700" b="1" i="0">
                <a:solidFill>
                  <a:srgbClr val="002B49"/>
                </a:solidFill>
                <a:latin typeface="Segoe UI"/>
              </a:rPr>
              <a:t>0.1.0</a:t>
            </a:r>
            <a:r>
              <a:rPr sz="1700" b="1" i="0">
                <a:solidFill>
                  <a:srgbClr val="002B49"/>
                </a:solidFill>
                <a:latin typeface="Segoe UI"/>
              </a:rPr>
              <a:t>, dated 2026-07-22</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Companion to Parts 6 and 14</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 </a:t>
            </a:r>
            <a:r>
              <a:rPr sz="1600" b="1" i="0">
                <a:solidFill>
                  <a:srgbClr val="002B49"/>
                </a:solidFill>
                <a:latin typeface="Consolas"/>
              </a:rPr>
              <a:t>core-specs/avro-encoding/OPC-UA-Avro-Encoding.md</a:t>
            </a:r>
            <a:r>
              <a:rPr sz="1700" b="1" i="0">
                <a:solidFill>
                  <a:srgbClr val="002B49"/>
                </a:solidFill>
                <a:latin typeface="Segoe UI"/>
              </a:rPr>
              <a:t> in the review repository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Under OPC Foundation review</a:t>
            </a:r>
            <a:r>
              <a:rPr sz="1700" b="1" i="0">
                <a:solidFill>
                  <a:srgbClr val="002B49"/>
                </a:solidFill>
                <a:latin typeface="Segoe UI"/>
              </a:rPr>
              <a:t> — in </a:t>
            </a:r>
            <a:r>
              <a:rPr sz="1600" b="1" i="0">
                <a:solidFill>
                  <a:srgbClr val="002B49"/>
                </a:solidFill>
                <a:latin typeface="Consolas"/>
              </a:rPr>
              <a:t>OPCF-Members/spec-drafts</a:t>
            </a:r>
            <a:r>
              <a:rPr sz="1700" b="1" i="0">
                <a:solidFill>
                  <a:srgbClr val="002B49"/>
                </a:solidFill>
                <a:latin typeface="Segoe UI"/>
              </a:rPr>
              <a:t>, not the public repository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OPC UA core or Cloud Initiative numbering range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final namespace, NodeIds and review disposition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 demo is listed for this draft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xRegistry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Every domain registry should not become a private invention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xRegistry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29</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Many drafts need a catalogue of versioned documents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Schemas, assets and Thing Descriptions are the same registry shape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Without a base, each domain invents its own folders and APIs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Generic OPC UA Clients need Browse and FileTransfer to be enough</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Federation needs one identity model across endpoints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xRegistry gives every domain registry the same AddressSpace shape.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An abstract base model for registry-shaped catalogues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xRegistry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30</a:t>
            </a:r>
          </a:p>
        </p:txBody>
      </p:sp>
      <p:graphicFrame>
        <p:nvGraphicFramePr>
          <p:cNvPr id="8" name="Table 7"/>
          <p:cNvGraphicFramePr>
            <a:graphicFrameLocks noGrp="1"/>
          </p:cNvGraphicFramePr>
          <p:nvPr/>
        </p:nvGraphicFramePr>
        <p:xfrm>
          <a:off x="685800" y="1591056"/>
          <a:ext cx="10820094" cy="2688336"/>
        </p:xfrm>
        <a:graphic>
          <a:graphicData uri="http://schemas.openxmlformats.org/drawingml/2006/table">
            <a:tbl>
              <a:tblPr firstRow="1" bandRow="1">
                <a:tableStyleId>{5C22544A-7EE6-4342-B048-85BDC9FD1C3A}</a:tableStyleId>
              </a:tblPr>
              <a:tblGrid>
                <a:gridCol w="3462430"/>
                <a:gridCol w="3029626"/>
                <a:gridCol w="4328038"/>
              </a:tblGrid>
              <a:tr h="384048">
                <a:tc>
                  <a:txBody>
                    <a:bodyPr/>
                    <a:lstStyle/>
                    <a:p>
                      <a:r>
                        <a:rPr sz="1100" b="1" i="0">
                          <a:solidFill>
                            <a:srgbClr val="FFFFFF"/>
                          </a:solidFill>
                          <a:latin typeface="Segoe UI Semibold"/>
                        </a:rPr>
                        <a:t>Type</a:t>
                      </a:r>
                    </a:p>
                  </a:txBody>
                  <a:tcPr marL="73152" marR="73152" anchor="ctr">
                    <a:solidFill>
                      <a:srgbClr val="005A9C"/>
                    </a:solidFill>
                  </a:tcPr>
                </a:tc>
                <a:tc>
                  <a:txBody>
                    <a:bodyPr/>
                    <a:lstStyle/>
                    <a:p>
                      <a:r>
                        <a:rPr sz="1100" b="1" i="0">
                          <a:solidFill>
                            <a:srgbClr val="FFFFFF"/>
                          </a:solidFill>
                          <a:latin typeface="Segoe UI Semibold"/>
                        </a:rPr>
                        <a:t>Subtype</a:t>
                      </a:r>
                    </a:p>
                  </a:txBody>
                  <a:tcPr marL="73152" marR="73152" anchor="ctr">
                    <a:solidFill>
                      <a:srgbClr val="005A9C"/>
                    </a:solidFill>
                  </a:tcPr>
                </a:tc>
                <a:tc>
                  <a:txBody>
                    <a:bodyPr/>
                    <a:lstStyle/>
                    <a:p>
                      <a:r>
                        <a:rPr sz="1100" b="1" i="0">
                          <a:solidFill>
                            <a:srgbClr val="FFFFFF"/>
                          </a:solidFill>
                          <a:latin typeface="Segoe UI Semibold"/>
                        </a:rPr>
                        <a:t>Role</a:t>
                      </a:r>
                    </a:p>
                  </a:txBody>
                  <a:tcPr marL="73152" marR="73152" anchor="ctr">
                    <a:solidFill>
                      <a:srgbClr val="005A9C"/>
                    </a:solidFill>
                  </a:tcPr>
                </a:tc>
              </a:tr>
              <a:tr h="384048">
                <a:tc>
                  <a:txBody>
                    <a:bodyPr/>
                    <a:lstStyle/>
                    <a:p>
                      <a:r>
                        <a:rPr sz="1000" b="0" i="0">
                          <a:solidFill>
                            <a:srgbClr val="002B49"/>
                          </a:solidFill>
                          <a:latin typeface="Consolas"/>
                        </a:rPr>
                        <a:t>RegistryType</a:t>
                      </a:r>
                    </a:p>
                  </a:txBody>
                  <a:tcPr marL="73152" marR="73152" marT="27432" marB="27432" anchor="ctr">
                    <a:solidFill>
                      <a:srgbClr val="FFFFFF"/>
                    </a:solidFill>
                  </a:tcPr>
                </a:tc>
                <a:tc>
                  <a:txBody>
                    <a:bodyPr/>
                    <a:lstStyle/>
                    <a:p>
                      <a:r>
                        <a:rPr sz="1000" b="0" i="0">
                          <a:solidFill>
                            <a:srgbClr val="002B49"/>
                          </a:solidFill>
                          <a:latin typeface="Consolas"/>
                        </a:rPr>
                        <a:t>FolderType</a:t>
                      </a:r>
                    </a:p>
                  </a:txBody>
                  <a:tcPr marL="73152" marR="73152" marT="27432" marB="27432" anchor="ctr">
                    <a:solidFill>
                      <a:srgbClr val="FFFFFF"/>
                    </a:solidFill>
                  </a:tcPr>
                </a:tc>
                <a:tc>
                  <a:txBody>
                    <a:bodyPr/>
                    <a:lstStyle/>
                    <a:p>
                      <a:r>
                        <a:rPr sz="1100" b="0" i="0">
                          <a:solidFill>
                            <a:srgbClr val="333B44"/>
                          </a:solidFill>
                          <a:latin typeface="Segoe UI"/>
                        </a:rPr>
                        <a:t>Registry root and groups</a:t>
                      </a:r>
                    </a:p>
                  </a:txBody>
                  <a:tcPr marL="73152" marR="73152" marT="27432" marB="27432" anchor="ctr">
                    <a:solidFill>
                      <a:srgbClr val="FFFFFF"/>
                    </a:solidFill>
                  </a:tcPr>
                </a:tc>
              </a:tr>
              <a:tr h="384048">
                <a:tc>
                  <a:txBody>
                    <a:bodyPr/>
                    <a:lstStyle/>
                    <a:p>
                      <a:r>
                        <a:rPr sz="1000" b="0" i="0">
                          <a:solidFill>
                            <a:srgbClr val="002B49"/>
                          </a:solidFill>
                          <a:latin typeface="Consolas"/>
                        </a:rPr>
                        <a:t>GroupType</a:t>
                      </a:r>
                    </a:p>
                  </a:txBody>
                  <a:tcPr marL="73152" marR="73152" marT="27432" marB="27432" anchor="ctr">
                    <a:solidFill>
                      <a:srgbClr val="F4F6F8"/>
                    </a:solidFill>
                  </a:tcPr>
                </a:tc>
                <a:tc>
                  <a:txBody>
                    <a:bodyPr/>
                    <a:lstStyle/>
                    <a:p>
                      <a:r>
                        <a:rPr sz="1000" b="0" i="0">
                          <a:solidFill>
                            <a:srgbClr val="002B49"/>
                          </a:solidFill>
                          <a:latin typeface="Consolas"/>
                        </a:rPr>
                        <a:t>FolderType</a:t>
                      </a:r>
                    </a:p>
                  </a:txBody>
                  <a:tcPr marL="73152" marR="73152" marT="27432" marB="27432" anchor="ctr">
                    <a:solidFill>
                      <a:srgbClr val="F4F6F8"/>
                    </a:solidFill>
                  </a:tcPr>
                </a:tc>
                <a:tc>
                  <a:txBody>
                    <a:bodyPr/>
                    <a:lstStyle/>
                    <a:p>
                      <a:r>
                        <a:rPr sz="1100" b="0" i="0">
                          <a:solidFill>
                            <a:srgbClr val="333B44"/>
                          </a:solidFill>
                          <a:latin typeface="Segoe UI"/>
                        </a:rPr>
                        <a:t>A group collection entry</a:t>
                      </a:r>
                    </a:p>
                  </a:txBody>
                  <a:tcPr marL="73152" marR="73152" marT="27432" marB="27432" anchor="ctr">
                    <a:solidFill>
                      <a:srgbClr val="F4F6F8"/>
                    </a:solidFill>
                  </a:tcPr>
                </a:tc>
              </a:tr>
              <a:tr h="384048">
                <a:tc>
                  <a:txBody>
                    <a:bodyPr/>
                    <a:lstStyle/>
                    <a:p>
                      <a:r>
                        <a:rPr sz="1000" b="0" i="0">
                          <a:solidFill>
                            <a:srgbClr val="002B49"/>
                          </a:solidFill>
                          <a:latin typeface="Consolas"/>
                        </a:rPr>
                        <a:t>ResourceType</a:t>
                      </a:r>
                    </a:p>
                  </a:txBody>
                  <a:tcPr marL="73152" marR="73152" marT="27432" marB="27432" anchor="ctr">
                    <a:solidFill>
                      <a:srgbClr val="FFFFFF"/>
                    </a:solidFill>
                  </a:tcPr>
                </a:tc>
                <a:tc>
                  <a:txBody>
                    <a:bodyPr/>
                    <a:lstStyle/>
                    <a:p>
                      <a:r>
                        <a:rPr sz="1000" b="0" i="0">
                          <a:solidFill>
                            <a:srgbClr val="002B49"/>
                          </a:solidFill>
                          <a:latin typeface="Consolas"/>
                        </a:rPr>
                        <a:t>FileType</a:t>
                      </a:r>
                    </a:p>
                  </a:txBody>
                  <a:tcPr marL="73152" marR="73152" marT="27432" marB="27432" anchor="ctr">
                    <a:solidFill>
                      <a:srgbClr val="FFFFFF"/>
                    </a:solidFill>
                  </a:tcPr>
                </a:tc>
                <a:tc>
                  <a:txBody>
                    <a:bodyPr/>
                    <a:lstStyle/>
                    <a:p>
                      <a:r>
                        <a:rPr sz="1100" b="0" i="0">
                          <a:solidFill>
                            <a:srgbClr val="333B44"/>
                          </a:solidFill>
                          <a:latin typeface="Segoe UI"/>
                        </a:rPr>
                        <a:t>Resource or version document</a:t>
                      </a:r>
                    </a:p>
                  </a:txBody>
                  <a:tcPr marL="73152" marR="73152" marT="27432" marB="27432" anchor="ctr">
                    <a:solidFill>
                      <a:srgbClr val="FFFFFF"/>
                    </a:solidFill>
                  </a:tcPr>
                </a:tc>
              </a:tr>
              <a:tr h="384048">
                <a:tc>
                  <a:txBody>
                    <a:bodyPr/>
                    <a:lstStyle/>
                    <a:p>
                      <a:r>
                        <a:rPr sz="1000" b="0" i="0">
                          <a:solidFill>
                            <a:srgbClr val="002B49"/>
                          </a:solidFill>
                          <a:latin typeface="Consolas"/>
                        </a:rPr>
                        <a:t>AttributesType</a:t>
                      </a:r>
                    </a:p>
                  </a:txBody>
                  <a:tcPr marL="73152" marR="73152" marT="27432" marB="27432" anchor="ctr">
                    <a:solidFill>
                      <a:srgbClr val="F4F6F8"/>
                    </a:solidFill>
                  </a:tcPr>
                </a:tc>
                <a:tc>
                  <a:txBody>
                    <a:bodyPr/>
                    <a:lstStyle/>
                    <a:p>
                      <a:r>
                        <a:rPr sz="1000" b="0" i="0">
                          <a:solidFill>
                            <a:srgbClr val="002B49"/>
                          </a:solidFill>
                          <a:latin typeface="Consolas"/>
                        </a:rPr>
                        <a:t>BaseObjectType</a:t>
                      </a:r>
                    </a:p>
                  </a:txBody>
                  <a:tcPr marL="73152" marR="73152" marT="27432" marB="27432" anchor="ctr">
                    <a:solidFill>
                      <a:srgbClr val="F4F6F8"/>
                    </a:solidFill>
                  </a:tcPr>
                </a:tc>
                <a:tc>
                  <a:txBody>
                    <a:bodyPr/>
                    <a:lstStyle/>
                    <a:p>
                      <a:r>
                        <a:rPr sz="1100" b="0" i="0">
                          <a:solidFill>
                            <a:srgbClr val="333B44"/>
                          </a:solidFill>
                          <a:latin typeface="Segoe UI"/>
                        </a:rPr>
                        <a:t>Dynamic labels and attributes</a:t>
                      </a:r>
                    </a:p>
                  </a:txBody>
                  <a:tcPr marL="73152" marR="73152" marT="27432" marB="27432" anchor="ctr">
                    <a:solidFill>
                      <a:srgbClr val="F4F6F8"/>
                    </a:solidFill>
                  </a:tcPr>
                </a:tc>
              </a:tr>
              <a:tr h="384048">
                <a:tc>
                  <a:txBody>
                    <a:bodyPr/>
                    <a:lstStyle/>
                    <a:p>
                      <a:r>
                        <a:rPr sz="1000" b="0" i="0">
                          <a:solidFill>
                            <a:srgbClr val="002B49"/>
                          </a:solidFill>
                          <a:latin typeface="Consolas"/>
                        </a:rPr>
                        <a:t>RegistryCapabilitiesDataType</a:t>
                      </a:r>
                    </a:p>
                  </a:txBody>
                  <a:tcPr marL="73152" marR="73152" marT="27432" marB="27432" anchor="ctr">
                    <a:solidFill>
                      <a:srgbClr val="FFFFFF"/>
                    </a:solidFill>
                  </a:tcPr>
                </a:tc>
                <a:tc>
                  <a:txBody>
                    <a:bodyPr/>
                    <a:lstStyle/>
                    <a:p>
                      <a:r>
                        <a:rPr sz="1100" b="0" i="0">
                          <a:solidFill>
                            <a:srgbClr val="333B44"/>
                          </a:solidFill>
                          <a:latin typeface="Segoe UI"/>
                        </a:rPr>
                        <a:t>Structure</a:t>
                      </a:r>
                    </a:p>
                  </a:txBody>
                  <a:tcPr marL="73152" marR="73152" marT="27432" marB="27432" anchor="ctr">
                    <a:solidFill>
                      <a:srgbClr val="FFFFFF"/>
                    </a:solidFill>
                  </a:tcPr>
                </a:tc>
                <a:tc>
                  <a:txBody>
                    <a:bodyPr/>
                    <a:lstStyle/>
                    <a:p>
                      <a:r>
                        <a:rPr sz="1100" b="0" i="0">
                          <a:solidFill>
                            <a:srgbClr val="333B44"/>
                          </a:solidFill>
                          <a:latin typeface="Segoe UI"/>
                        </a:rPr>
                        <a:t>Typed </a:t>
                      </a:r>
                      <a:r>
                        <a:rPr sz="1000" b="0" i="0">
                          <a:solidFill>
                            <a:srgbClr val="002B49"/>
                          </a:solidFill>
                          <a:latin typeface="Consolas"/>
                        </a:rPr>
                        <a:t>/capabilities</a:t>
                      </a:r>
                      <a:r>
                        <a:rPr sz="1100" b="0" i="0">
                          <a:solidFill>
                            <a:srgbClr val="333B44"/>
                          </a:solidFill>
                          <a:latin typeface="Segoe UI"/>
                        </a:rPr>
                        <a:t> view</a:t>
                      </a:r>
                    </a:p>
                  </a:txBody>
                  <a:tcPr marL="73152" marR="73152" marT="27432" marB="27432" anchor="ctr">
                    <a:solidFill>
                      <a:srgbClr val="FFFFFF"/>
                    </a:solidFill>
                  </a:tcPr>
                </a:tc>
              </a:tr>
              <a:tr h="384048">
                <a:tc>
                  <a:txBody>
                    <a:bodyPr/>
                    <a:lstStyle/>
                    <a:p>
                      <a:r>
                        <a:rPr sz="1000" b="0" i="0">
                          <a:solidFill>
                            <a:srgbClr val="002B49"/>
                          </a:solidFill>
                          <a:latin typeface="Consolas"/>
                        </a:rPr>
                        <a:t>ExternalReference</a:t>
                      </a:r>
                    </a:p>
                  </a:txBody>
                  <a:tcPr marL="73152" marR="73152" marT="27432" marB="27432" anchor="ctr">
                    <a:solidFill>
                      <a:srgbClr val="F4F6F8"/>
                    </a:solidFill>
                  </a:tcPr>
                </a:tc>
                <a:tc>
                  <a:txBody>
                    <a:bodyPr/>
                    <a:lstStyle/>
                    <a:p>
                      <a:r>
                        <a:rPr sz="1000" b="0" i="0">
                          <a:solidFill>
                            <a:srgbClr val="002B49"/>
                          </a:solidFill>
                          <a:latin typeface="Consolas"/>
                        </a:rPr>
                        <a:t>ExpandedNodeId</a:t>
                      </a:r>
                    </a:p>
                  </a:txBody>
                  <a:tcPr marL="73152" marR="73152" marT="27432" marB="27432" anchor="ctr">
                    <a:solidFill>
                      <a:srgbClr val="F4F6F8"/>
                    </a:solidFill>
                  </a:tcPr>
                </a:tc>
                <a:tc>
                  <a:txBody>
                    <a:bodyPr/>
                    <a:lstStyle/>
                    <a:p>
                      <a:r>
                        <a:rPr sz="1100" b="0" i="0">
                          <a:solidFill>
                            <a:srgbClr val="333B44"/>
                          </a:solidFill>
                          <a:latin typeface="Segoe UI"/>
                        </a:rPr>
                        <a:t>Federation to remote registries</a:t>
                      </a:r>
                    </a:p>
                  </a:txBody>
                  <a:tcPr marL="73152" marR="73152" marT="27432" marB="27432" anchor="ctr">
                    <a:solidFill>
                      <a:srgbClr val="F4F6F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the projection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The AddressSpace is the registry</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xRegistry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31</a:t>
            </a:r>
          </a:p>
        </p:txBody>
      </p:sp>
      <p:sp>
        <p:nvSpPr>
          <p:cNvPr id="8" name="Rounded Rectangle 7"/>
          <p:cNvSpPr/>
          <p:nvPr/>
        </p:nvSpPr>
        <p:spPr>
          <a:xfrm>
            <a:off x="4292498" y="1772472"/>
            <a:ext cx="3606698" cy="725667"/>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RegistryType</a:t>
            </a:r>
          </a:p>
          <a:p>
            <a:pPr algn="ctr">
              <a:spcBef>
                <a:spcPts val="100"/>
              </a:spcBef>
            </a:pPr>
            <a:r>
              <a:rPr sz="1000" b="0" i="0">
                <a:solidFill>
                  <a:srgbClr val="FFFFFF"/>
                </a:solidFill>
                <a:latin typeface="Segoe UI"/>
              </a:rPr>
              <a:t>FolderType root</a:t>
            </a:r>
          </a:p>
        </p:txBody>
      </p:sp>
      <p:sp>
        <p:nvSpPr>
          <p:cNvPr id="9" name="Rounded Rectangle 8"/>
          <p:cNvSpPr/>
          <p:nvPr/>
        </p:nvSpPr>
        <p:spPr>
          <a:xfrm>
            <a:off x="1587474" y="3223808"/>
            <a:ext cx="2705023" cy="725667"/>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GroupType</a:t>
            </a:r>
          </a:p>
          <a:p>
            <a:pPr algn="ctr">
              <a:spcBef>
                <a:spcPts val="100"/>
              </a:spcBef>
            </a:pPr>
            <a:r>
              <a:rPr sz="1000" b="0" i="0">
                <a:solidFill>
                  <a:srgbClr val="002B49"/>
                </a:solidFill>
                <a:latin typeface="Segoe UI"/>
              </a:rPr>
              <a:t>FolderType</a:t>
            </a:r>
          </a:p>
        </p:txBody>
      </p:sp>
      <p:sp>
        <p:nvSpPr>
          <p:cNvPr id="10" name="Rounded Rectangle 9"/>
          <p:cNvSpPr/>
          <p:nvPr/>
        </p:nvSpPr>
        <p:spPr>
          <a:xfrm>
            <a:off x="7899196" y="3223808"/>
            <a:ext cx="2705023" cy="725667"/>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GroupType</a:t>
            </a:r>
          </a:p>
          <a:p>
            <a:pPr algn="ctr">
              <a:spcBef>
                <a:spcPts val="100"/>
              </a:spcBef>
            </a:pPr>
            <a:r>
              <a:rPr sz="1000" b="0" i="0">
                <a:solidFill>
                  <a:srgbClr val="002B49"/>
                </a:solidFill>
                <a:latin typeface="Segoe UI"/>
              </a:rPr>
              <a:t>FolderType</a:t>
            </a:r>
          </a:p>
        </p:txBody>
      </p:sp>
      <p:sp>
        <p:nvSpPr>
          <p:cNvPr id="11" name="Rounded Rectangle 10"/>
          <p:cNvSpPr/>
          <p:nvPr/>
        </p:nvSpPr>
        <p:spPr>
          <a:xfrm>
            <a:off x="1587474" y="4584435"/>
            <a:ext cx="2705023" cy="725667"/>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ResourceType</a:t>
            </a:r>
          </a:p>
          <a:p>
            <a:pPr algn="ctr">
              <a:spcBef>
                <a:spcPts val="100"/>
              </a:spcBef>
            </a:pPr>
            <a:r>
              <a:rPr sz="1000" b="0" i="0">
                <a:solidFill>
                  <a:srgbClr val="002B49"/>
                </a:solidFill>
                <a:latin typeface="Segoe UI"/>
              </a:rPr>
              <a:t>FileType document</a:t>
            </a:r>
          </a:p>
        </p:txBody>
      </p:sp>
      <p:sp>
        <p:nvSpPr>
          <p:cNvPr id="12" name="Rounded Rectangle 11"/>
          <p:cNvSpPr/>
          <p:nvPr/>
        </p:nvSpPr>
        <p:spPr>
          <a:xfrm>
            <a:off x="7899196" y="4584435"/>
            <a:ext cx="2705023" cy="725667"/>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ResourceType</a:t>
            </a:r>
          </a:p>
          <a:p>
            <a:pPr algn="ctr">
              <a:spcBef>
                <a:spcPts val="100"/>
              </a:spcBef>
            </a:pPr>
            <a:r>
              <a:rPr sz="1000" b="0" i="0">
                <a:solidFill>
                  <a:srgbClr val="002B49"/>
                </a:solidFill>
                <a:latin typeface="Segoe UI"/>
              </a:rPr>
              <a:t>FileType version</a:t>
            </a:r>
          </a:p>
        </p:txBody>
      </p:sp>
      <p:cxnSp>
        <p:nvCxnSpPr>
          <p:cNvPr id="13" name="Connector 12"/>
          <p:cNvCxnSpPr>
            <a:stCxn id="8" idx="2"/>
            <a:endCxn id="9" idx="0"/>
          </p:cNvCxnSpPr>
          <p:nvPr/>
        </p:nvCxnSpPr>
        <p:spPr>
          <a:xfrm flipH="1">
            <a:off x="2939985" y="2498139"/>
            <a:ext cx="3155862" cy="725669"/>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162745" y="2714669"/>
            <a:ext cx="1554480" cy="274320"/>
          </a:xfrm>
          <a:prstGeom prst="rect">
            <a:avLst/>
          </a:prstGeom>
          <a:noFill/>
        </p:spPr>
        <p:txBody>
          <a:bodyPr wrap="square" lIns="0" rIns="0" tIns="0" bIns="0">
            <a:spAutoFit/>
          </a:bodyPr>
          <a:lstStyle/>
          <a:p>
            <a:pPr algn="ctr"/>
            <a:r>
              <a:rPr sz="900" b="0" i="1">
                <a:solidFill>
                  <a:srgbClr val="6B7480"/>
                </a:solidFill>
                <a:latin typeface="Segoe UI"/>
              </a:rPr>
              <a:t>Organizes</a:t>
            </a:r>
          </a:p>
        </p:txBody>
      </p:sp>
      <p:cxnSp>
        <p:nvCxnSpPr>
          <p:cNvPr id="15" name="Connector 14"/>
          <p:cNvCxnSpPr>
            <a:stCxn id="8" idx="2"/>
            <a:endCxn id="10" idx="0"/>
          </p:cNvCxnSpPr>
          <p:nvPr/>
        </p:nvCxnSpPr>
        <p:spPr>
          <a:xfrm>
            <a:off x="6095847" y="2498139"/>
            <a:ext cx="3155860" cy="725669"/>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474467" y="2714669"/>
            <a:ext cx="1554480" cy="274320"/>
          </a:xfrm>
          <a:prstGeom prst="rect">
            <a:avLst/>
          </a:prstGeom>
          <a:noFill/>
        </p:spPr>
        <p:txBody>
          <a:bodyPr wrap="square" lIns="0" rIns="0" tIns="0" bIns="0">
            <a:spAutoFit/>
          </a:bodyPr>
          <a:lstStyle/>
          <a:p>
            <a:pPr algn="ctr"/>
            <a:r>
              <a:rPr sz="900" b="0" i="1">
                <a:solidFill>
                  <a:srgbClr val="6B7480"/>
                </a:solidFill>
                <a:latin typeface="Segoe UI"/>
              </a:rPr>
              <a:t>Organizes</a:t>
            </a:r>
          </a:p>
        </p:txBody>
      </p:sp>
      <p:cxnSp>
        <p:nvCxnSpPr>
          <p:cNvPr id="17" name="Connector 16"/>
          <p:cNvCxnSpPr>
            <a:stCxn id="9" idx="2"/>
            <a:endCxn id="11" idx="0"/>
          </p:cNvCxnSpPr>
          <p:nvPr/>
        </p:nvCxnSpPr>
        <p:spPr>
          <a:xfrm>
            <a:off x="2939985" y="3949475"/>
            <a:ext cx="0" cy="63496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162745" y="4120651"/>
            <a:ext cx="1554480" cy="274320"/>
          </a:xfrm>
          <a:prstGeom prst="rect">
            <a:avLst/>
          </a:prstGeom>
          <a:noFill/>
        </p:spPr>
        <p:txBody>
          <a:bodyPr wrap="square" lIns="0" rIns="0" tIns="0" bIns="0">
            <a:spAutoFit/>
          </a:bodyPr>
          <a:lstStyle/>
          <a:p>
            <a:pPr algn="ctr"/>
            <a:r>
              <a:rPr sz="900" b="0" i="1">
                <a:solidFill>
                  <a:srgbClr val="6B7480"/>
                </a:solidFill>
                <a:latin typeface="Segoe UI"/>
              </a:rPr>
              <a:t>Organizes</a:t>
            </a:r>
          </a:p>
        </p:txBody>
      </p:sp>
      <p:cxnSp>
        <p:nvCxnSpPr>
          <p:cNvPr id="19" name="Connector 18"/>
          <p:cNvCxnSpPr>
            <a:stCxn id="10" idx="2"/>
            <a:endCxn id="12" idx="0"/>
          </p:cNvCxnSpPr>
          <p:nvPr/>
        </p:nvCxnSpPr>
        <p:spPr>
          <a:xfrm>
            <a:off x="9251707" y="3949475"/>
            <a:ext cx="0" cy="63496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474467" y="4120651"/>
            <a:ext cx="1554480" cy="274320"/>
          </a:xfrm>
          <a:prstGeom prst="rect">
            <a:avLst/>
          </a:prstGeom>
          <a:noFill/>
        </p:spPr>
        <p:txBody>
          <a:bodyPr wrap="square" lIns="0" rIns="0" tIns="0" bIns="0">
            <a:spAutoFit/>
          </a:bodyPr>
          <a:lstStyle/>
          <a:p>
            <a:pPr algn="ctr"/>
            <a:r>
              <a:rPr sz="900" b="0" i="1">
                <a:solidFill>
                  <a:srgbClr val="6B7480"/>
                </a:solidFill>
                <a:latin typeface="Segoe UI"/>
              </a:rPr>
              <a:t>Organizes</a:t>
            </a:r>
          </a:p>
        </p:txBody>
      </p:sp>
      <p:sp>
        <p:nvSpPr>
          <p:cNvPr id="21" name="TextBox 20"/>
          <p:cNvSpPr txBox="1"/>
          <p:nvPr/>
        </p:nvSpPr>
        <p:spPr>
          <a:xfrm>
            <a:off x="685800" y="5718291"/>
            <a:ext cx="10820095" cy="365760"/>
          </a:xfrm>
          <a:prstGeom prst="rect">
            <a:avLst/>
          </a:prstGeom>
          <a:noFill/>
        </p:spPr>
        <p:txBody>
          <a:bodyPr wrap="square" lIns="0" rIns="0" tIns="0" bIns="0">
            <a:spAutoFit/>
          </a:bodyPr>
          <a:lstStyle/>
          <a:p>
            <a:pPr algn="ctr"/>
            <a:r>
              <a:rPr sz="1100" b="0" i="1">
                <a:solidFill>
                  <a:srgbClr val="6B7480"/>
                </a:solidFill>
                <a:latin typeface="Segoe UI"/>
              </a:rPr>
              <a:t>Browse lists collections; FileTransfer streams bytes with </a:t>
            </a:r>
            <a:r>
              <a:rPr sz="1000" b="0" i="1">
                <a:solidFill>
                  <a:srgbClr val="002B49"/>
                </a:solidFill>
                <a:latin typeface="Consolas"/>
              </a:rPr>
              <a:t>Open</a:t>
            </a:r>
            <a:r>
              <a:rPr sz="1100" b="0" i="1">
                <a:solidFill>
                  <a:srgbClr val="6B7480"/>
                </a:solidFill>
                <a:latin typeface="Segoe UI"/>
              </a:rPr>
              <a:t> / </a:t>
            </a:r>
            <a:r>
              <a:rPr sz="1000" b="0" i="1">
                <a:solidFill>
                  <a:srgbClr val="002B49"/>
                </a:solidFill>
                <a:latin typeface="Consolas"/>
              </a:rPr>
              <a:t>Read</a:t>
            </a:r>
            <a:r>
              <a:rPr sz="1100" b="0" i="1">
                <a:solidFill>
                  <a:srgbClr val="6B7480"/>
                </a:solidFill>
                <a:latin typeface="Segoe UI"/>
              </a:rPr>
              <a:t> / </a:t>
            </a:r>
            <a:r>
              <a:rPr sz="1000" b="0" i="1">
                <a:solidFill>
                  <a:srgbClr val="002B49"/>
                </a:solidFill>
                <a:latin typeface="Consolas"/>
              </a:rPr>
              <a:t>Close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mutation and identity work</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Create folders and files, then bootstrap xRegistry attributes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xRegistry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CreateGroup</a:t>
            </a:r>
            <a:r>
              <a:rPr sz="1700" b="1" i="0">
                <a:solidFill>
                  <a:srgbClr val="002B49"/>
                </a:solidFill>
                <a:latin typeface="Segoe UI"/>
              </a:rPr>
              <a:t> and </a:t>
            </a:r>
            <a:r>
              <a:rPr sz="1600" b="1" i="0">
                <a:solidFill>
                  <a:srgbClr val="002B49"/>
                </a:solidFill>
                <a:latin typeface="Consolas"/>
              </a:rPr>
              <a:t>GetOrCreateGroup</a:t>
            </a:r>
            <a:r>
              <a:rPr sz="1700" b="1" i="0">
                <a:solidFill>
                  <a:srgbClr val="002B49"/>
                </a:solidFill>
                <a:latin typeface="Segoe UI"/>
              </a:rPr>
              <a:t> create group folders</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CreateResource</a:t>
            </a:r>
            <a:r>
              <a:rPr sz="1700" b="1" i="0">
                <a:solidFill>
                  <a:srgbClr val="002B49"/>
                </a:solidFill>
                <a:latin typeface="Segoe UI"/>
              </a:rPr>
              <a:t> and </a:t>
            </a:r>
            <a:r>
              <a:rPr sz="1600" b="1" i="0">
                <a:solidFill>
                  <a:srgbClr val="002B49"/>
                </a:solidFill>
                <a:latin typeface="Consolas"/>
              </a:rPr>
              <a:t>GetOrCreateResource</a:t>
            </a:r>
            <a:r>
              <a:rPr sz="1700" b="1" i="0">
                <a:solidFill>
                  <a:srgbClr val="002B49"/>
                </a:solidFill>
                <a:latin typeface="Segoe UI"/>
              </a:rPr>
              <a:t> create files</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Delete(ExpectedEpoch)</a:t>
            </a:r>
            <a:r>
              <a:rPr sz="1700" b="1" i="0">
                <a:solidFill>
                  <a:srgbClr val="002B49"/>
                </a:solidFill>
                <a:latin typeface="Segoe UI"/>
              </a:rPr>
              <a:t> removes groups or resources</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AddAttribute</a:t>
            </a:r>
            <a:r>
              <a:rPr sz="1700" b="1" i="0">
                <a:solidFill>
                  <a:srgbClr val="002B49"/>
                </a:solidFill>
                <a:latin typeface="Segoe UI"/>
              </a:rPr>
              <a:t> and </a:t>
            </a:r>
            <a:r>
              <a:rPr sz="1600" b="1" i="0">
                <a:solidFill>
                  <a:srgbClr val="002B49"/>
                </a:solidFill>
                <a:latin typeface="Consolas"/>
              </a:rPr>
              <a:t>RemoveAttribute</a:t>
            </a:r>
            <a:r>
              <a:rPr sz="1700" b="1" i="0">
                <a:solidFill>
                  <a:srgbClr val="002B49"/>
                </a:solidFill>
                <a:latin typeface="Segoe UI"/>
              </a:rPr>
              <a:t> edit labels</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GroupId</a:t>
            </a:r>
            <a:r>
              <a:rPr sz="1700" b="1" i="0">
                <a:solidFill>
                  <a:srgbClr val="002B49"/>
                </a:solidFill>
                <a:latin typeface="Segoe UI"/>
              </a:rPr>
              <a:t> and </a:t>
            </a:r>
            <a:r>
              <a:rPr sz="1600" b="1" i="0">
                <a:solidFill>
                  <a:srgbClr val="002B49"/>
                </a:solidFill>
                <a:latin typeface="Consolas"/>
              </a:rPr>
              <a:t>ResourceId</a:t>
            </a:r>
            <a:r>
              <a:rPr sz="1700" b="1" i="0">
                <a:solidFill>
                  <a:srgbClr val="002B49"/>
                </a:solidFill>
                <a:latin typeface="Segoe UI"/>
              </a:rPr>
              <a:t> come from source identity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Identifiers are never derived from document bytes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Abstract base model for OPC Foundation standardization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xRegistry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33</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banner: </a:t>
            </a:r>
            <a:r>
              <a:rPr sz="1700" b="1" i="0">
                <a:solidFill>
                  <a:srgbClr val="002B49"/>
                </a:solidFill>
                <a:latin typeface="Segoe UI"/>
              </a:rPr>
              <a:t>0.3.0</a:t>
            </a:r>
            <a:r>
              <a:rPr sz="1700" b="1" i="0">
                <a:solidFill>
                  <a:srgbClr val="002B49"/>
                </a:solidFill>
                <a:latin typeface="Segoe UI"/>
              </a:rPr>
              <a:t>, dated 2026-07-31</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Proposed Part: OPC 10000-2xx, number to be assigned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Namespace: </a:t>
            </a:r>
            <a:r>
              <a:rPr sz="1600" b="1" i="0">
                <a:solidFill>
                  <a:srgbClr val="002B49"/>
                </a:solidFill>
                <a:latin typeface="Consolas"/>
              </a:rPr>
              <a:t>http://opcfoundation.org/UA/xRegistry/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 read: </a:t>
            </a:r>
            <a:r>
              <a:rPr sz="1600" b="1" i="0">
                <a:solidFill>
                  <a:srgbClr val="002B49"/>
                </a:solidFill>
                <a:latin typeface="Consolas"/>
              </a:rPr>
              <a:t>core-specs/xregistry/OPC-UA-xRegistry.md</a:t>
            </a:r>
            <a:r>
              <a:rPr sz="1700" b="1" i="0">
                <a:solidFill>
                  <a:srgbClr val="002B49"/>
                </a:solidFill>
                <a:latin typeface="Segoe UI"/>
              </a:rPr>
              <a:t> in the review repository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Under OPC Foundation review</a:t>
            </a:r>
            <a:r>
              <a:rPr sz="1700" b="1" i="0">
                <a:solidFill>
                  <a:srgbClr val="002B49"/>
                </a:solidFill>
                <a:latin typeface="Segoe UI"/>
              </a:rPr>
              <a:t> — in </a:t>
            </a:r>
            <a:r>
              <a:rPr sz="1600" b="1" i="0">
                <a:solidFill>
                  <a:srgbClr val="002B49"/>
                </a:solidFill>
                <a:latin typeface="Consolas"/>
              </a:rPr>
              <a:t>OPCF-Members/spec-drafts</a:t>
            </a:r>
            <a:r>
              <a:rPr sz="1700" b="1" i="0">
                <a:solidFill>
                  <a:srgbClr val="002B49"/>
                </a:solidFill>
                <a:latin typeface="Segoe UI"/>
              </a:rPr>
              <a:t>, not in the public repository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part number, final NodeIds and review outcome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 7 uses xRegistry in the AAS + WoT walkthrough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the OPC UA API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The projection needs a protocol binding on both sides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xRegistry — OPC UA API</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34</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base model defines the AddressSpace shape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xRegistry also defines protocol APIs over that model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If HTTP alone is specified, OPC UA becomes a private binding</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OPC UA binding makes Browse, Read, Call and FileTransfer normative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same projection is defined once across the boundary</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This is the xRegistry peer of the HTTP binding, not another OPC UA model.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A native OPC UA binding for xRegistry operations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xRegistry — OPC UA API</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35</a:t>
            </a:r>
          </a:p>
        </p:txBody>
      </p:sp>
      <p:graphicFrame>
        <p:nvGraphicFramePr>
          <p:cNvPr id="8" name="Table 7"/>
          <p:cNvGraphicFramePr>
            <a:graphicFrameLocks noGrp="1"/>
          </p:cNvGraphicFramePr>
          <p:nvPr/>
        </p:nvGraphicFramePr>
        <p:xfrm>
          <a:off x="685800" y="1591056"/>
          <a:ext cx="10820094" cy="3072384"/>
        </p:xfrm>
        <a:graphic>
          <a:graphicData uri="http://schemas.openxmlformats.org/drawingml/2006/table">
            <a:tbl>
              <a:tblPr firstRow="1" bandRow="1">
                <a:tableStyleId>{5C22544A-7EE6-4342-B048-85BDC9FD1C3A}</a:tableStyleId>
              </a:tblPr>
              <a:tblGrid>
                <a:gridCol w="4544439"/>
                <a:gridCol w="6275655"/>
              </a:tblGrid>
              <a:tr h="384048">
                <a:tc>
                  <a:txBody>
                    <a:bodyPr/>
                    <a:lstStyle/>
                    <a:p>
                      <a:r>
                        <a:rPr sz="1100" b="1" i="0">
                          <a:solidFill>
                            <a:srgbClr val="FFFFFF"/>
                          </a:solidFill>
                          <a:latin typeface="Segoe UI Semibold"/>
                        </a:rPr>
                        <a:t>xRegistry action</a:t>
                      </a:r>
                    </a:p>
                  </a:txBody>
                  <a:tcPr marL="73152" marR="73152" anchor="ctr">
                    <a:solidFill>
                      <a:srgbClr val="005A9C"/>
                    </a:solidFill>
                  </a:tcPr>
                </a:tc>
                <a:tc>
                  <a:txBody>
                    <a:bodyPr/>
                    <a:lstStyle/>
                    <a:p>
                      <a:r>
                        <a:rPr sz="1100" b="1" i="0">
                          <a:solidFill>
                            <a:srgbClr val="FFFFFF"/>
                          </a:solidFill>
                          <a:latin typeface="Segoe UI Semibold"/>
                        </a:rPr>
                        <a:t>OPC UA binding</a:t>
                      </a:r>
                    </a:p>
                  </a:txBody>
                  <a:tcPr marL="73152" marR="73152" anchor="ctr">
                    <a:solidFill>
                      <a:srgbClr val="005A9C"/>
                    </a:solidFill>
                  </a:tcPr>
                </a:tc>
              </a:tr>
              <a:tr h="384048">
                <a:tc>
                  <a:txBody>
                    <a:bodyPr/>
                    <a:lstStyle/>
                    <a:p>
                      <a:r>
                        <a:rPr sz="1100" b="0" i="0">
                          <a:solidFill>
                            <a:srgbClr val="333B44"/>
                          </a:solidFill>
                          <a:latin typeface="Segoe UI"/>
                        </a:rPr>
                        <a:t>List collections</a:t>
                      </a:r>
                    </a:p>
                  </a:txBody>
                  <a:tcPr marL="73152" marR="73152" marT="27432" marB="27432" anchor="ctr">
                    <a:solidFill>
                      <a:srgbClr val="FFFFFF"/>
                    </a:solidFill>
                  </a:tcPr>
                </a:tc>
                <a:tc>
                  <a:txBody>
                    <a:bodyPr/>
                    <a:lstStyle/>
                    <a:p>
                      <a:r>
                        <a:rPr sz="1100" b="0" i="0">
                          <a:solidFill>
                            <a:srgbClr val="333B44"/>
                          </a:solidFill>
                          <a:latin typeface="Segoe UI"/>
                        </a:rPr>
                        <a:t>Browse folders; use BrowseNext for pages</a:t>
                      </a:r>
                    </a:p>
                  </a:txBody>
                  <a:tcPr marL="73152" marR="73152" marT="27432" marB="27432" anchor="ctr">
                    <a:solidFill>
                      <a:srgbClr val="FFFFFF"/>
                    </a:solidFill>
                  </a:tcPr>
                </a:tc>
              </a:tr>
              <a:tr h="384048">
                <a:tc>
                  <a:txBody>
                    <a:bodyPr/>
                    <a:lstStyle/>
                    <a:p>
                      <a:r>
                        <a:rPr sz="1100" b="0" i="0">
                          <a:solidFill>
                            <a:srgbClr val="333B44"/>
                          </a:solidFill>
                          <a:latin typeface="Segoe UI"/>
                        </a:rPr>
                        <a:t>Read metadata</a:t>
                      </a:r>
                    </a:p>
                  </a:txBody>
                  <a:tcPr marL="73152" marR="73152" marT="27432" marB="27432" anchor="ctr">
                    <a:solidFill>
                      <a:srgbClr val="F4F6F8"/>
                    </a:solidFill>
                  </a:tcPr>
                </a:tc>
                <a:tc>
                  <a:txBody>
                    <a:bodyPr/>
                    <a:lstStyle/>
                    <a:p>
                      <a:r>
                        <a:rPr sz="1100" b="0" i="0">
                          <a:solidFill>
                            <a:srgbClr val="333B44"/>
                          </a:solidFill>
                          <a:latin typeface="Segoe UI"/>
                        </a:rPr>
                        <a:t>Read Properties and </a:t>
                      </a:r>
                      <a:r>
                        <a:rPr sz="1000" b="0" i="0">
                          <a:solidFill>
                            <a:srgbClr val="002B49"/>
                          </a:solidFill>
                          <a:latin typeface="Consolas"/>
                        </a:rPr>
                        <a:t>Labels</a:t>
                      </a:r>
                      <a:r>
                        <a:rPr sz="1100" b="0" i="0">
                          <a:solidFill>
                            <a:srgbClr val="333B44"/>
                          </a:solidFill>
                          <a:latin typeface="Segoe UI"/>
                        </a:rPr>
                        <a:t> entries</a:t>
                      </a:r>
                    </a:p>
                  </a:txBody>
                  <a:tcPr marL="73152" marR="73152" marT="27432" marB="27432" anchor="ctr">
                    <a:solidFill>
                      <a:srgbClr val="F4F6F8"/>
                    </a:solidFill>
                  </a:tcPr>
                </a:tc>
              </a:tr>
              <a:tr h="384048">
                <a:tc>
                  <a:txBody>
                    <a:bodyPr/>
                    <a:lstStyle/>
                    <a:p>
                      <a:r>
                        <a:rPr sz="1100" b="0" i="0">
                          <a:solidFill>
                            <a:srgbClr val="333B44"/>
                          </a:solidFill>
                          <a:latin typeface="Segoe UI"/>
                        </a:rPr>
                        <a:t>Read documents</a:t>
                      </a:r>
                    </a:p>
                  </a:txBody>
                  <a:tcPr marL="73152" marR="73152" marT="27432" marB="27432" anchor="ctr">
                    <a:solidFill>
                      <a:srgbClr val="FFFFFF"/>
                    </a:solidFill>
                  </a:tcPr>
                </a:tc>
                <a:tc>
                  <a:txBody>
                    <a:bodyPr/>
                    <a:lstStyle/>
                    <a:p>
                      <a:r>
                        <a:rPr sz="1000" b="0" i="0">
                          <a:solidFill>
                            <a:srgbClr val="002B49"/>
                          </a:solidFill>
                          <a:latin typeface="Consolas"/>
                        </a:rPr>
                        <a:t>Open</a:t>
                      </a:r>
                      <a:r>
                        <a:rPr sz="1100" b="0" i="0">
                          <a:solidFill>
                            <a:srgbClr val="333B44"/>
                          </a:solidFill>
                          <a:latin typeface="Segoe UI"/>
                        </a:rPr>
                        <a:t> / </a:t>
                      </a:r>
                      <a:r>
                        <a:rPr sz="1000" b="0" i="0">
                          <a:solidFill>
                            <a:srgbClr val="002B49"/>
                          </a:solidFill>
                          <a:latin typeface="Consolas"/>
                        </a:rPr>
                        <a:t>Read</a:t>
                      </a:r>
                      <a:r>
                        <a:rPr sz="1100" b="0" i="0">
                          <a:solidFill>
                            <a:srgbClr val="333B44"/>
                          </a:solidFill>
                          <a:latin typeface="Segoe UI"/>
                        </a:rPr>
                        <a:t> / </a:t>
                      </a:r>
                      <a:r>
                        <a:rPr sz="1000" b="0" i="0">
                          <a:solidFill>
                            <a:srgbClr val="002B49"/>
                          </a:solidFill>
                          <a:latin typeface="Consolas"/>
                        </a:rPr>
                        <a:t>Close</a:t>
                      </a:r>
                      <a:r>
                        <a:rPr sz="1100" b="0" i="0">
                          <a:solidFill>
                            <a:srgbClr val="333B44"/>
                          </a:solidFill>
                          <a:latin typeface="Segoe UI"/>
                        </a:rPr>
                        <a:t> on </a:t>
                      </a:r>
                      <a:r>
                        <a:rPr sz="1000" b="0" i="0">
                          <a:solidFill>
                            <a:srgbClr val="002B49"/>
                          </a:solidFill>
                          <a:latin typeface="Consolas"/>
                        </a:rPr>
                        <a:t>ResourceType</a:t>
                      </a:r>
                    </a:p>
                  </a:txBody>
                  <a:tcPr marL="73152" marR="73152" marT="27432" marB="27432" anchor="ctr">
                    <a:solidFill>
                      <a:srgbClr val="FFFFFF"/>
                    </a:solidFill>
                  </a:tcPr>
                </a:tc>
              </a:tr>
              <a:tr h="384048">
                <a:tc>
                  <a:txBody>
                    <a:bodyPr/>
                    <a:lstStyle/>
                    <a:p>
                      <a:r>
                        <a:rPr sz="1100" b="0" i="0">
                          <a:solidFill>
                            <a:srgbClr val="333B44"/>
                          </a:solidFill>
                          <a:latin typeface="Segoe UI"/>
                        </a:rPr>
                        <a:t>Create entities</a:t>
                      </a:r>
                    </a:p>
                  </a:txBody>
                  <a:tcPr marL="73152" marR="73152" marT="27432" marB="27432" anchor="ctr">
                    <a:solidFill>
                      <a:srgbClr val="F4F6F8"/>
                    </a:solidFill>
                  </a:tcPr>
                </a:tc>
                <a:tc>
                  <a:txBody>
                    <a:bodyPr/>
                    <a:lstStyle/>
                    <a:p>
                      <a:r>
                        <a:rPr sz="1000" b="0" i="0">
                          <a:solidFill>
                            <a:srgbClr val="002B49"/>
                          </a:solidFill>
                          <a:latin typeface="Consolas"/>
                        </a:rPr>
                        <a:t>CreateGroup</a:t>
                      </a:r>
                      <a:r>
                        <a:rPr sz="1100" b="0" i="0">
                          <a:solidFill>
                            <a:srgbClr val="333B44"/>
                          </a:solidFill>
                          <a:latin typeface="Segoe UI"/>
                        </a:rPr>
                        <a:t> / </a:t>
                      </a:r>
                      <a:r>
                        <a:rPr sz="1000" b="0" i="0">
                          <a:solidFill>
                            <a:srgbClr val="002B49"/>
                          </a:solidFill>
                          <a:latin typeface="Consolas"/>
                        </a:rPr>
                        <a:t>CreateResource</a:t>
                      </a:r>
                      <a:r>
                        <a:rPr sz="1100" b="0" i="0">
                          <a:solidFill>
                            <a:srgbClr val="333B44"/>
                          </a:solidFill>
                          <a:latin typeface="Segoe UI"/>
                        </a:rPr>
                        <a:t> Methods</a:t>
                      </a:r>
                    </a:p>
                  </a:txBody>
                  <a:tcPr marL="73152" marR="73152" marT="27432" marB="27432" anchor="ctr">
                    <a:solidFill>
                      <a:srgbClr val="F4F6F8"/>
                    </a:solidFill>
                  </a:tcPr>
                </a:tc>
              </a:tr>
              <a:tr h="384048">
                <a:tc>
                  <a:txBody>
                    <a:bodyPr/>
                    <a:lstStyle/>
                    <a:p>
                      <a:r>
                        <a:rPr sz="1100" b="0" i="0">
                          <a:solidFill>
                            <a:srgbClr val="333B44"/>
                          </a:solidFill>
                          <a:latin typeface="Segoe UI"/>
                        </a:rPr>
                        <a:t>Update labels</a:t>
                      </a:r>
                    </a:p>
                  </a:txBody>
                  <a:tcPr marL="73152" marR="73152" marT="27432" marB="27432" anchor="ctr">
                    <a:solidFill>
                      <a:srgbClr val="FFFFFF"/>
                    </a:solidFill>
                  </a:tcPr>
                </a:tc>
                <a:tc>
                  <a:txBody>
                    <a:bodyPr/>
                    <a:lstStyle/>
                    <a:p>
                      <a:r>
                        <a:rPr sz="1000" b="0" i="0">
                          <a:solidFill>
                            <a:srgbClr val="002B49"/>
                          </a:solidFill>
                          <a:latin typeface="Consolas"/>
                        </a:rPr>
                        <a:t>Labels.AddAttribute</a:t>
                      </a:r>
                      <a:r>
                        <a:rPr sz="1100" b="0" i="0">
                          <a:solidFill>
                            <a:srgbClr val="333B44"/>
                          </a:solidFill>
                          <a:latin typeface="Segoe UI"/>
                        </a:rPr>
                        <a:t> / </a:t>
                      </a:r>
                      <a:r>
                        <a:rPr sz="1000" b="0" i="0">
                          <a:solidFill>
                            <a:srgbClr val="002B49"/>
                          </a:solidFill>
                          <a:latin typeface="Consolas"/>
                        </a:rPr>
                        <a:t>RemoveAttribute</a:t>
                      </a:r>
                    </a:p>
                  </a:txBody>
                  <a:tcPr marL="73152" marR="73152" marT="27432" marB="27432" anchor="ctr">
                    <a:solidFill>
                      <a:srgbClr val="FFFFFF"/>
                    </a:solidFill>
                  </a:tcPr>
                </a:tc>
              </a:tr>
              <a:tr h="384048">
                <a:tc>
                  <a:txBody>
                    <a:bodyPr/>
                    <a:lstStyle/>
                    <a:p>
                      <a:r>
                        <a:rPr sz="1100" b="0" i="0">
                          <a:solidFill>
                            <a:srgbClr val="333B44"/>
                          </a:solidFill>
                          <a:latin typeface="Segoe UI"/>
                        </a:rPr>
                        <a:t>Delete entities</a:t>
                      </a:r>
                    </a:p>
                  </a:txBody>
                  <a:tcPr marL="73152" marR="73152" marT="27432" marB="27432" anchor="ctr">
                    <a:solidFill>
                      <a:srgbClr val="F4F6F8"/>
                    </a:solidFill>
                  </a:tcPr>
                </a:tc>
                <a:tc>
                  <a:txBody>
                    <a:bodyPr/>
                    <a:lstStyle/>
                    <a:p>
                      <a:r>
                        <a:rPr sz="1000" b="0" i="0">
                          <a:solidFill>
                            <a:srgbClr val="002B49"/>
                          </a:solidFill>
                          <a:latin typeface="Consolas"/>
                        </a:rPr>
                        <a:t>Delete(ExpectedEpoch)</a:t>
                      </a:r>
                      <a:r>
                        <a:rPr sz="1100" b="0" i="0">
                          <a:solidFill>
                            <a:srgbClr val="333B44"/>
                          </a:solidFill>
                          <a:latin typeface="Segoe UI"/>
                        </a:rPr>
                        <a:t> on the entity</a:t>
                      </a:r>
                    </a:p>
                  </a:txBody>
                  <a:tcPr marL="73152" marR="73152" marT="27432" marB="27432" anchor="ctr">
                    <a:solidFill>
                      <a:srgbClr val="F4F6F8"/>
                    </a:solidFill>
                  </a:tcPr>
                </a:tc>
              </a:tr>
              <a:tr h="384048">
                <a:tc>
                  <a:txBody>
                    <a:bodyPr/>
                    <a:lstStyle/>
                    <a:p>
                      <a:r>
                        <a:rPr sz="1100" b="0" i="0">
                          <a:solidFill>
                            <a:srgbClr val="333B44"/>
                          </a:solidFill>
                          <a:latin typeface="Segoe UI"/>
                        </a:rPr>
                        <a:t>Map HTTP paths</a:t>
                      </a:r>
                    </a:p>
                  </a:txBody>
                  <a:tcPr marL="73152" marR="73152" marT="27432" marB="27432" anchor="ctr">
                    <a:solidFill>
                      <a:srgbClr val="FFFFFF"/>
                    </a:solidFill>
                  </a:tcPr>
                </a:tc>
                <a:tc>
                  <a:txBody>
                    <a:bodyPr/>
                    <a:lstStyle/>
                    <a:p>
                      <a:r>
                        <a:rPr sz="1100" b="0" i="0">
                          <a:solidFill>
                            <a:srgbClr val="333B44"/>
                          </a:solidFill>
                          <a:latin typeface="Segoe UI"/>
                        </a:rPr>
                        <a:t>Annex A cross-walks peer operations</a:t>
                      </a:r>
                    </a:p>
                  </a:txBody>
                  <a:tcPr marL="73152" marR="73152" marT="27432" marB="27432"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5A9C"/>
                </a:solidFill>
                <a:latin typeface="Segoe UI"/>
              </a:rPr>
              <a:t>xregistry.org submission as </a:t>
            </a:r>
            <a:r>
              <a:rPr sz="1200" b="0" i="1">
                <a:solidFill>
                  <a:srgbClr val="002B49"/>
                </a:solidFill>
                <a:latin typeface="Consolas"/>
              </a:rPr>
              <a:t>core/opcua.md</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xRegistry — OPC UA API</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36</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banner: </a:t>
            </a:r>
            <a:r>
              <a:rPr sz="1700" b="1" i="0">
                <a:solidFill>
                  <a:srgbClr val="002B49"/>
                </a:solidFill>
                <a:latin typeface="Segoe UI"/>
              </a:rPr>
              <a:t>0.1.0</a:t>
            </a:r>
            <a:r>
              <a:rPr sz="1700" b="1" i="0">
                <a:solidFill>
                  <a:srgbClr val="002B49"/>
                </a:solidFill>
                <a:latin typeface="Segoe UI"/>
              </a:rPr>
              <a:t>, dated 2026-07-16</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xRegistry project as </a:t>
            </a:r>
            <a:r>
              <a:rPr sz="1600" b="1" i="0">
                <a:solidFill>
                  <a:srgbClr val="002B49"/>
                </a:solidFill>
                <a:latin typeface="Consolas"/>
              </a:rPr>
              <a:t>core/opcua.md</a:t>
            </a:r>
            <a:r>
              <a:rPr sz="1700" b="1" i="0">
                <a:solidFill>
                  <a:srgbClr val="002B49"/>
                </a:solidFill>
                <a:latin typeface="Segoe UI"/>
              </a:rPr>
              <a:t> or an extension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Path: </a:t>
            </a:r>
            <a:r>
              <a:rPr sz="1600" b="1" i="0">
                <a:solidFill>
                  <a:srgbClr val="002B49"/>
                </a:solidFill>
                <a:latin typeface="Consolas"/>
              </a:rPr>
              <a:t>core-specs/xregistry/xRegistry-OPC-UA-Api.md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Depends on the OPC UA — xRegistry base model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Submitted</a:t>
            </a:r>
            <a:r>
              <a:rPr sz="1700" b="1" i="0">
                <a:solidFill>
                  <a:srgbClr val="002B49"/>
                </a:solidFill>
                <a:latin typeface="Segoe UI"/>
              </a:rPr>
              <a:t> as [xregistry/spec#511](https://github.com/xregistry/spec/pull/511)</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xregistry.org acceptance and final placement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 demo is listed for this binding document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874519"/>
            <a:ext cx="1097280" cy="73152"/>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48840"/>
            <a:ext cx="10820095" cy="1005840"/>
          </a:xfrm>
          <a:prstGeom prst="rect">
            <a:avLst/>
          </a:prstGeom>
          <a:noFill/>
        </p:spPr>
        <p:txBody>
          <a:bodyPr wrap="square" lIns="0" rIns="0" tIns="0" bIns="0">
            <a:spAutoFit/>
          </a:bodyPr>
          <a:lstStyle/>
          <a:p>
            <a:r>
              <a:rPr sz="4000" b="1" i="0">
                <a:solidFill>
                  <a:srgbClr val="FFFFFF"/>
                </a:solidFill>
                <a:latin typeface="Segoe UI Semibold"/>
              </a:rPr>
              <a:t>cloud</a:t>
            </a:r>
          </a:p>
        </p:txBody>
      </p:sp>
      <p:sp>
        <p:nvSpPr>
          <p:cNvPr id="5" name="TextBox 4"/>
          <p:cNvSpPr txBox="1"/>
          <p:nvPr/>
        </p:nvSpPr>
        <p:spPr>
          <a:xfrm>
            <a:off x="685800" y="3218688"/>
            <a:ext cx="8412480" cy="822960"/>
          </a:xfrm>
          <a:prstGeom prst="rect">
            <a:avLst/>
          </a:prstGeom>
          <a:noFill/>
        </p:spPr>
        <p:txBody>
          <a:bodyPr wrap="square" lIns="0" rIns="0" tIns="0" bIns="0">
            <a:spAutoFit/>
          </a:bodyPr>
          <a:lstStyle/>
          <a:p>
            <a:r>
              <a:rPr sz="1700" b="0" i="0">
                <a:solidFill>
                  <a:srgbClr val="FFFFFF"/>
                </a:solidFill>
                <a:latin typeface="Segoe UI"/>
              </a:rPr>
              <a:t>how a model reaches the systems that consume it, rather than the operators who browse it</a:t>
            </a:r>
          </a:p>
        </p:txBody>
      </p:sp>
      <p:sp>
        <p:nvSpPr>
          <p:cNvPr id="6" name="TextBox 5"/>
          <p:cNvSpPr txBox="1"/>
          <p:nvPr/>
        </p:nvSpPr>
        <p:spPr>
          <a:xfrm>
            <a:off x="685800" y="4160520"/>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Schema Registry</a:t>
            </a:r>
          </a:p>
        </p:txBody>
      </p:sp>
      <p:sp>
        <p:nvSpPr>
          <p:cNvPr id="7" name="TextBox 6"/>
          <p:cNvSpPr txBox="1"/>
          <p:nvPr/>
        </p:nvSpPr>
        <p:spPr>
          <a:xfrm>
            <a:off x="685800" y="4489704"/>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Observability Export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the Schema Registry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Schema-based payloads leave the self-describing world</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Schema 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38</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Avro and Arrow payloads need the </a:t>
            </a:r>
            <a:r>
              <a:rPr sz="1700" b="1" i="0">
                <a:solidFill>
                  <a:srgbClr val="002B49"/>
                </a:solidFill>
                <a:latin typeface="Segoe UI"/>
              </a:rPr>
              <a:t>exact schema</a:t>
            </a:r>
            <a:r>
              <a:rPr sz="1700" b="1" i="0">
                <a:solidFill>
                  <a:srgbClr val="002B49"/>
                </a:solidFill>
                <a:latin typeface="Segoe UI"/>
              </a:rPr>
              <a:t> that produced them</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Binary, XML and JSON can be decoded from the message or the AddressSpace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payload in MQTT, Kafka, a lake or a historian still needs its schema</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cache miss must not force a client to Browse, infer or regenerate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PubSub is only one consumer, not the reason the registry exists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A schema-based decoder needs a stable schema lookup before it can trust bytes.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A concrete xRegistry whose resources are schema files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Schema 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39</a:t>
            </a:r>
          </a:p>
        </p:txBody>
      </p:sp>
      <p:sp>
        <p:nvSpPr>
          <p:cNvPr id="8" name="Rounded Rectangle 7"/>
          <p:cNvSpPr/>
          <p:nvPr/>
        </p:nvSpPr>
        <p:spPr>
          <a:xfrm>
            <a:off x="956302" y="1742236"/>
            <a:ext cx="2705023" cy="604723"/>
          </a:xfrm>
          <a:prstGeom prst="roundRect">
            <a:avLst/>
          </a:prstGeom>
          <a:solidFill>
            <a:srgbClr val="002B49"/>
          </a:solidFill>
          <a:ln w="9525">
            <a:solidFill>
              <a:srgbClr val="002B4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Server Object</a:t>
            </a:r>
          </a:p>
        </p:txBody>
      </p:sp>
      <p:sp>
        <p:nvSpPr>
          <p:cNvPr id="9" name="Rounded Rectangle 8"/>
          <p:cNvSpPr/>
          <p:nvPr/>
        </p:nvSpPr>
        <p:spPr>
          <a:xfrm>
            <a:off x="4472833" y="1742236"/>
            <a:ext cx="3246028" cy="604723"/>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xRegistry base model</a:t>
            </a:r>
          </a:p>
        </p:txBody>
      </p:sp>
      <p:sp>
        <p:nvSpPr>
          <p:cNvPr id="10" name="Rounded Rectangle 9"/>
          <p:cNvSpPr/>
          <p:nvPr/>
        </p:nvSpPr>
        <p:spPr>
          <a:xfrm>
            <a:off x="956302" y="3102864"/>
            <a:ext cx="2705023" cy="755904"/>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SchemaRegistry</a:t>
            </a:r>
          </a:p>
          <a:p>
            <a:pPr algn="ctr">
              <a:spcBef>
                <a:spcPts val="100"/>
              </a:spcBef>
            </a:pPr>
            <a:r>
              <a:rPr sz="1000" b="0" i="0">
                <a:solidFill>
                  <a:srgbClr val="002B49"/>
                </a:solidFill>
                <a:latin typeface="Segoe UI"/>
              </a:rPr>
              <a:t>SchemaRegistryType</a:t>
            </a:r>
          </a:p>
        </p:txBody>
      </p:sp>
      <p:sp>
        <p:nvSpPr>
          <p:cNvPr id="11" name="Rounded Rectangle 10"/>
          <p:cNvSpPr/>
          <p:nvPr/>
        </p:nvSpPr>
        <p:spPr>
          <a:xfrm>
            <a:off x="4472833" y="3102864"/>
            <a:ext cx="2885358" cy="755904"/>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&lt;SchemaGroup&gt;</a:t>
            </a:r>
          </a:p>
          <a:p>
            <a:pPr algn="ctr">
              <a:spcBef>
                <a:spcPts val="100"/>
              </a:spcBef>
            </a:pPr>
            <a:r>
              <a:rPr sz="1000" b="0" i="0">
                <a:solidFill>
                  <a:srgbClr val="002B49"/>
                </a:solidFill>
                <a:latin typeface="Segoe UI"/>
              </a:rPr>
              <a:t>SchemaGroupType</a:t>
            </a:r>
          </a:p>
        </p:txBody>
      </p:sp>
      <p:sp>
        <p:nvSpPr>
          <p:cNvPr id="12" name="Rounded Rectangle 11"/>
          <p:cNvSpPr/>
          <p:nvPr/>
        </p:nvSpPr>
        <p:spPr>
          <a:xfrm>
            <a:off x="8259866" y="3102864"/>
            <a:ext cx="2885358" cy="755904"/>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&lt;Schema&gt;</a:t>
            </a:r>
          </a:p>
          <a:p>
            <a:pPr algn="ctr">
              <a:spcBef>
                <a:spcPts val="100"/>
              </a:spcBef>
            </a:pPr>
            <a:r>
              <a:rPr sz="1000" b="0" i="0">
                <a:solidFill>
                  <a:srgbClr val="002B49"/>
                </a:solidFill>
                <a:latin typeface="Segoe UI"/>
              </a:rPr>
              <a:t>SchemaFileType</a:t>
            </a:r>
          </a:p>
        </p:txBody>
      </p:sp>
      <p:sp>
        <p:nvSpPr>
          <p:cNvPr id="13" name="Rounded Rectangle 12"/>
          <p:cNvSpPr/>
          <p:nvPr/>
        </p:nvSpPr>
        <p:spPr>
          <a:xfrm>
            <a:off x="8259866" y="4614672"/>
            <a:ext cx="2885358" cy="642518"/>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schema document</a:t>
            </a:r>
          </a:p>
          <a:p>
            <a:pPr algn="ctr">
              <a:spcBef>
                <a:spcPts val="100"/>
              </a:spcBef>
            </a:pPr>
            <a:r>
              <a:rPr sz="1000" b="0" i="0">
                <a:solidFill>
                  <a:srgbClr val="FFFFFF"/>
                </a:solidFill>
                <a:latin typeface="Segoe UI"/>
              </a:rPr>
              <a:t>Avro · Arrow · JSON Schema</a:t>
            </a:r>
          </a:p>
        </p:txBody>
      </p:sp>
      <p:cxnSp>
        <p:nvCxnSpPr>
          <p:cNvPr id="14" name="Connector 13"/>
          <p:cNvCxnSpPr>
            <a:stCxn id="8" idx="2"/>
            <a:endCxn id="10" idx="0"/>
          </p:cNvCxnSpPr>
          <p:nvPr/>
        </p:nvCxnSpPr>
        <p:spPr>
          <a:xfrm>
            <a:off x="2308813" y="2346959"/>
            <a:ext cx="0" cy="755905"/>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531573" y="2578607"/>
            <a:ext cx="1554480" cy="274320"/>
          </a:xfrm>
          <a:prstGeom prst="rect">
            <a:avLst/>
          </a:prstGeom>
          <a:noFill/>
        </p:spPr>
        <p:txBody>
          <a:bodyPr wrap="square" lIns="0" rIns="0" tIns="0" bIns="0">
            <a:spAutoFit/>
          </a:bodyPr>
          <a:lstStyle/>
          <a:p>
            <a:pPr algn="ctr"/>
            <a:r>
              <a:rPr sz="900" b="0" i="1">
                <a:solidFill>
                  <a:srgbClr val="6B7480"/>
                </a:solidFill>
                <a:latin typeface="Segoe UI"/>
              </a:rPr>
              <a:t>HasComponent</a:t>
            </a:r>
          </a:p>
        </p:txBody>
      </p:sp>
      <p:cxnSp>
        <p:nvCxnSpPr>
          <p:cNvPr id="16" name="Connector 15"/>
          <p:cNvCxnSpPr>
            <a:stCxn id="9" idx="1"/>
            <a:endCxn id="10" idx="3"/>
          </p:cNvCxnSpPr>
          <p:nvPr/>
        </p:nvCxnSpPr>
        <p:spPr>
          <a:xfrm flipH="1">
            <a:off x="3661325" y="2044597"/>
            <a:ext cx="811508" cy="1436219"/>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89839" y="1898293"/>
            <a:ext cx="1554480" cy="274320"/>
          </a:xfrm>
          <a:prstGeom prst="rect">
            <a:avLst/>
          </a:prstGeom>
          <a:noFill/>
        </p:spPr>
        <p:txBody>
          <a:bodyPr wrap="square" lIns="0" rIns="0" tIns="0" bIns="0">
            <a:spAutoFit/>
          </a:bodyPr>
          <a:lstStyle/>
          <a:p>
            <a:pPr algn="ctr"/>
            <a:r>
              <a:rPr sz="900" b="0" i="1">
                <a:solidFill>
                  <a:srgbClr val="6B7480"/>
                </a:solidFill>
                <a:latin typeface="Segoe UI"/>
              </a:rPr>
              <a:t>subtypes</a:t>
            </a:r>
          </a:p>
        </p:txBody>
      </p:sp>
      <p:cxnSp>
        <p:nvCxnSpPr>
          <p:cNvPr id="18" name="Connector 17"/>
          <p:cNvCxnSpPr>
            <a:stCxn id="10" idx="3"/>
            <a:endCxn id="11" idx="1"/>
          </p:cNvCxnSpPr>
          <p:nvPr/>
        </p:nvCxnSpPr>
        <p:spPr>
          <a:xfrm>
            <a:off x="3661325" y="3480816"/>
            <a:ext cx="811508" cy="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1" idx="3"/>
            <a:endCxn id="12" idx="1"/>
          </p:cNvCxnSpPr>
          <p:nvPr/>
        </p:nvCxnSpPr>
        <p:spPr>
          <a:xfrm>
            <a:off x="7358191" y="3480816"/>
            <a:ext cx="901675" cy="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2" idx="2"/>
            <a:endCxn id="13" idx="0"/>
          </p:cNvCxnSpPr>
          <p:nvPr/>
        </p:nvCxnSpPr>
        <p:spPr>
          <a:xfrm>
            <a:off x="9702545" y="3858768"/>
            <a:ext cx="0" cy="755904"/>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25305" y="4090416"/>
            <a:ext cx="1554480" cy="274320"/>
          </a:xfrm>
          <a:prstGeom prst="rect">
            <a:avLst/>
          </a:prstGeom>
          <a:noFill/>
        </p:spPr>
        <p:txBody>
          <a:bodyPr wrap="square" lIns="0" rIns="0" tIns="0" bIns="0">
            <a:spAutoFit/>
          </a:bodyPr>
          <a:lstStyle/>
          <a:p>
            <a:pPr algn="ctr"/>
            <a:r>
              <a:rPr sz="900" b="0" i="1">
                <a:solidFill>
                  <a:srgbClr val="6B7480"/>
                </a:solidFill>
                <a:latin typeface="Segoe UI"/>
              </a:rPr>
              <a:t>Open/Read</a:t>
            </a:r>
          </a:p>
        </p:txBody>
      </p:sp>
      <p:sp>
        <p:nvSpPr>
          <p:cNvPr id="22" name="TextBox 21"/>
          <p:cNvSpPr txBox="1"/>
          <p:nvPr/>
        </p:nvSpPr>
        <p:spPr>
          <a:xfrm>
            <a:off x="685800" y="5672937"/>
            <a:ext cx="10820095" cy="365760"/>
          </a:xfrm>
          <a:prstGeom prst="rect">
            <a:avLst/>
          </a:prstGeom>
          <a:noFill/>
        </p:spPr>
        <p:txBody>
          <a:bodyPr wrap="square" lIns="0" rIns="0" tIns="0" bIns="0">
            <a:spAutoFit/>
          </a:bodyPr>
          <a:lstStyle/>
          <a:p>
            <a:pPr algn="ctr"/>
            <a:r>
              <a:rPr sz="1100" b="0" i="1">
                <a:solidFill>
                  <a:srgbClr val="6B7480"/>
                </a:solidFill>
                <a:latin typeface="Segoe UI"/>
              </a:rPr>
              <a:t>The registry hangs from Server and narrows RegistryType, GroupType and ResourceType.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A decoder resolves by SchemaId first, then falls back</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Schema 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40</a:t>
            </a:r>
          </a:p>
        </p:txBody>
      </p:sp>
      <p:sp>
        <p:nvSpPr>
          <p:cNvPr id="8" name="TextBox 7"/>
          <p:cNvSpPr txBox="1"/>
          <p:nvPr/>
        </p:nvSpPr>
        <p:spPr>
          <a:xfrm>
            <a:off x="685800" y="1591056"/>
            <a:ext cx="10820095" cy="384048"/>
          </a:xfrm>
          <a:prstGeom prst="rect">
            <a:avLst/>
          </a:prstGeom>
          <a:noFill/>
        </p:spPr>
        <p:txBody>
          <a:bodyPr wrap="square" lIns="0" rIns="0" tIns="0" bIns="0">
            <a:spAutoFit/>
          </a:bodyPr>
          <a:lstStyle/>
          <a:p>
            <a:r>
              <a:rPr sz="1300" b="0" i="0">
                <a:solidFill>
                  <a:srgbClr val="333B44"/>
                </a:solidFill>
                <a:latin typeface="Segoe UI"/>
              </a:rPr>
              <a:t>A received schema-based message follows the ordered resolution flow.</a:t>
            </a:r>
          </a:p>
        </p:txBody>
      </p:sp>
      <p:sp>
        <p:nvSpPr>
          <p:cNvPr id="9" name="Rounded Rectangle 8"/>
          <p:cNvSpPr/>
          <p:nvPr/>
        </p:nvSpPr>
        <p:spPr>
          <a:xfrm>
            <a:off x="685800" y="2066544"/>
            <a:ext cx="10820095" cy="3602736"/>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46304" bIns="146304"/>
          <a:lstStyle/>
          <a:p>
            <a:pPr algn="ctr">
              <a:lnSpc>
                <a:spcPct val="106000"/>
              </a:lnSpc>
              <a:spcAft>
                <a:spcPts val="0"/>
              </a:spcAft>
            </a:pPr>
            <a:r>
              <a:rPr sz="1500" b="0" i="0">
                <a:solidFill>
                  <a:srgbClr val="FFFFFF"/>
                </a:solidFill>
                <a:latin typeface="Consolas"/>
              </a:rPr>
              <a:t>if message.SchemaId:</a:t>
            </a:r>
          </a:p>
          <a:p>
            <a:pPr>
              <a:lnSpc>
                <a:spcPct val="106000"/>
              </a:lnSpc>
              <a:spcAft>
                <a:spcPts val="0"/>
              </a:spcAft>
            </a:pPr>
            <a:r>
              <a:rPr sz="1500" b="0" i="0">
                <a:solidFill>
                  <a:srgbClr val="FFFFFF"/>
                </a:solidFill>
                <a:latin typeface="Consolas"/>
              </a:rPr>
              <a:t>    node = Opaque SchemaId NodeId(message.SchemaId)</a:t>
            </a:r>
          </a:p>
          <a:p>
            <a:pPr>
              <a:lnSpc>
                <a:spcPct val="106000"/>
              </a:lnSpc>
              <a:spcAft>
                <a:spcPts val="0"/>
              </a:spcAft>
            </a:pPr>
            <a:r>
              <a:rPr sz="1500" b="0" i="0">
                <a:solidFill>
                  <a:srgbClr val="FFFFFF"/>
                </a:solidFill>
                <a:latin typeface="Consolas"/>
              </a:rPr>
              <a:t>    document = Read Value Attribute(node) or GetSchema(message.SchemaId)</a:t>
            </a:r>
          </a:p>
          <a:p>
            <a:pPr>
              <a:lnSpc>
                <a:spcPct val="106000"/>
              </a:lnSpc>
              <a:spcAft>
                <a:spcPts val="0"/>
              </a:spcAft>
            </a:pPr>
            <a:r>
              <a:rPr sz="1500" b="0" i="0">
                <a:solidFill>
                  <a:srgbClr val="FFFFFF"/>
                </a:solidFill>
                <a:latin typeface="Consolas"/>
              </a:rPr>
              <a:t>    if document:</a:t>
            </a:r>
          </a:p>
          <a:p>
            <a:pPr>
              <a:lnSpc>
                <a:spcPct val="106000"/>
              </a:lnSpc>
              <a:spcAft>
                <a:spcPts val="0"/>
              </a:spcAft>
            </a:pPr>
            <a:r>
              <a:rPr sz="1500" b="0" i="0">
                <a:solidFill>
                  <a:srgbClr val="FFFFFF"/>
                </a:solidFill>
                <a:latin typeface="Consolas"/>
              </a:rPr>
              <a:t>        cache[message.SchemaId] = document</a:t>
            </a:r>
          </a:p>
          <a:p>
            <a:pPr>
              <a:lnSpc>
                <a:spcPct val="106000"/>
              </a:lnSpc>
              <a:spcAft>
                <a:spcPts val="0"/>
              </a:spcAft>
            </a:pPr>
            <a:r>
              <a:rPr sz="1500" b="0" i="0">
                <a:solidFill>
                  <a:srgbClr val="FFFFFF"/>
                </a:solidFill>
                <a:latin typeface="Consolas"/>
              </a:rPr>
              <a:t>        decode(document)</a:t>
            </a:r>
          </a:p>
          <a:p>
            <a:pPr>
              <a:lnSpc>
                <a:spcPct val="106000"/>
              </a:lnSpc>
              <a:spcAft>
                <a:spcPts val="0"/>
              </a:spcAft>
            </a:pPr>
            <a:r>
              <a:rPr sz="1500" b="0" i="0">
                <a:solidFill>
                  <a:srgbClr val="FFFFFF"/>
                </a:solidFill>
                <a:latin typeface="Consolas"/>
              </a:rPr>
              <a:t> </a:t>
            </a:r>
          </a:p>
          <a:p>
            <a:pPr>
              <a:lnSpc>
                <a:spcPct val="106000"/>
              </a:lnSpc>
              <a:spcAft>
                <a:spcPts val="0"/>
              </a:spcAft>
            </a:pPr>
            <a:r>
              <a:rPr sz="1500" b="0" i="0">
                <a:solidFill>
                  <a:srgbClr val="FFFFFF"/>
                </a:solidFill>
                <a:latin typeface="Consolas"/>
              </a:rPr>
              <a:t>format = content_type_to_format(message.ContentType)</a:t>
            </a:r>
          </a:p>
          <a:p>
            <a:pPr>
              <a:lnSpc>
                <a:spcPct val="106000"/>
              </a:lnSpc>
              <a:spcAft>
                <a:spcPts val="0"/>
              </a:spcAft>
            </a:pPr>
            <a:r>
              <a:rPr sz="1500" b="0" i="0">
                <a:solidFill>
                  <a:srgbClr val="FFFFFF"/>
                </a:solidFill>
                <a:latin typeface="Consolas"/>
              </a:rPr>
              <a:t>reference = message.dataschema</a:t>
            </a:r>
          </a:p>
          <a:p>
            <a:pPr>
              <a:lnSpc>
                <a:spcPct val="106000"/>
              </a:lnSpc>
              <a:spcAft>
                <a:spcPts val="0"/>
              </a:spcAft>
            </a:pPr>
            <a:r>
              <a:rPr sz="1500" b="0" i="0">
                <a:solidFill>
                  <a:srgbClr val="FFFFFF"/>
                </a:solidFill>
                <a:latin typeface="Consolas"/>
              </a:rPr>
              <a:t>document = read(reference) if reference else lookup(namespace, name, version)</a:t>
            </a:r>
          </a:p>
          <a:p>
            <a:pPr>
              <a:lnSpc>
                <a:spcPct val="106000"/>
              </a:lnSpc>
              <a:spcAft>
                <a:spcPts val="0"/>
              </a:spcAft>
            </a:pPr>
            <a:r>
              <a:rPr sz="1500" b="0" i="0">
                <a:solidFill>
                  <a:srgbClr val="FFFFFF"/>
                </a:solidFill>
                <a:latin typeface="Consolas"/>
              </a:rPr>
              <a:t>decode(document)</a:t>
            </a:r>
          </a:p>
        </p:txBody>
      </p:sp>
      <p:sp>
        <p:nvSpPr>
          <p:cNvPr id="10" name="TextBox 9"/>
          <p:cNvSpPr txBox="1"/>
          <p:nvPr/>
        </p:nvSpPr>
        <p:spPr>
          <a:xfrm>
            <a:off x="685800" y="5779008"/>
            <a:ext cx="10820095" cy="365760"/>
          </a:xfrm>
          <a:prstGeom prst="rect">
            <a:avLst/>
          </a:prstGeom>
          <a:noFill/>
        </p:spPr>
        <p:txBody>
          <a:bodyPr wrap="square" lIns="0" rIns="0" tIns="0" bIns="0">
            <a:spAutoFit/>
          </a:bodyPr>
          <a:lstStyle/>
          <a:p>
            <a:r>
              <a:rPr sz="1200" b="0" i="0">
                <a:solidFill>
                  <a:srgbClr val="333B44"/>
                </a:solidFill>
                <a:latin typeface="Segoe UI"/>
              </a:rPr>
              <a:t>The fast path is one Read; the fallback still ends at a schema file.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stays decoupled</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PubSub integration is additive, not a dependency</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Schema 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41</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Server without Part 14 can be a fully conformant schema registry</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PublishSubscribe</a:t>
            </a:r>
            <a:r>
              <a:rPr sz="1700" b="1" i="0">
                <a:solidFill>
                  <a:srgbClr val="002B49"/>
                </a:solidFill>
                <a:latin typeface="Segoe UI"/>
              </a:rPr>
              <a:t> may reference the same </a:t>
            </a:r>
            <a:r>
              <a:rPr sz="1600" b="1" i="0">
                <a:solidFill>
                  <a:srgbClr val="002B49"/>
                </a:solidFill>
                <a:latin typeface="Consolas"/>
              </a:rPr>
              <a:t>SchemaRegistry</a:t>
            </a:r>
            <a:r>
              <a:rPr sz="1700" b="1" i="0">
                <a:solidFill>
                  <a:srgbClr val="002B49"/>
                </a:solidFill>
                <a:latin typeface="Segoe UI"/>
              </a:rPr>
              <a:t> Object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optional profile keys DataSet schemas to </a:t>
            </a:r>
            <a:r>
              <a:rPr sz="1600" b="1" i="0">
                <a:solidFill>
                  <a:srgbClr val="002B49"/>
                </a:solidFill>
                <a:latin typeface="Consolas"/>
              </a:rPr>
              <a:t>ConfigurationVersion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Append-only evolution lets compatible Avro and Arrow schemas grow</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xRegistry JSON export is another representation, not another transport</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registry is a Server capability first; PubSub uses it when present.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Working draft, concrete model, no demo yet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Schema 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Draft version:</a:t>
            </a:r>
            <a:r>
              <a:rPr sz="1700" b="1" i="0">
                <a:solidFill>
                  <a:srgbClr val="002B49"/>
                </a:solidFill>
                <a:latin typeface="Segoe UI"/>
              </a:rPr>
              <a:t> 0.5.0, dated 2026-07-31</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body:</a:t>
            </a:r>
            <a:r>
              <a:rPr sz="1700" b="1" i="0">
                <a:solidFill>
                  <a:srgbClr val="002B49"/>
                </a:solidFill>
                <a:latin typeface="Segoe UI"/>
              </a:rPr>
              <a:t> OPC Foundation Working Group</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Proposed Part:</a:t>
            </a:r>
            <a:r>
              <a:rPr sz="1700" b="1" i="0">
                <a:solidFill>
                  <a:srgbClr val="002B49"/>
                </a:solidFill>
                <a:latin typeface="Segoe UI"/>
              </a:rPr>
              <a:t> OPC 10000-2xx, number to be assigned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a:t>
            </a:r>
            <a:r>
              <a:rPr sz="1700" b="1" i="0">
                <a:solidFill>
                  <a:srgbClr val="002B49"/>
                </a:solidFill>
                <a:latin typeface="Segoe UI"/>
              </a:rPr>
              <a:t> </a:t>
            </a:r>
            <a:r>
              <a:rPr sz="1600" b="1" i="0">
                <a:solidFill>
                  <a:srgbClr val="002B49"/>
                </a:solidFill>
                <a:latin typeface="Consolas"/>
              </a:rPr>
              <a:t>cloud-specs/schema-registry/OPC-UA-Schema-Registry.md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questions:</a:t>
            </a:r>
            <a:r>
              <a:rPr sz="1700" b="1" i="0">
                <a:solidFill>
                  <a:srgbClr val="002B49"/>
                </a:solidFill>
                <a:latin typeface="Segoe UI"/>
              </a:rPr>
              <a:t> assigned Part number and final NodeIds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a:t>
            </a:r>
            <a:r>
              <a:rPr sz="1700" b="1" i="0">
                <a:solidFill>
                  <a:srgbClr val="002B49"/>
                </a:solidFill>
                <a:latin typeface="Segoe UI"/>
              </a:rPr>
              <a:t> none yet; the deck leaves that gap visible</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draft defines the model now; standardization details are still draft identity.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Observability Export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Observability is still wired one model and one project at a time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Observability Export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43</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Companion specs say what a thing is, not how to export its operations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Metrics, logs and traces are selected by bespoke bridges today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Each exporter has to know pumps, robots or generators by hand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Disconnected consumers lose the model meaning of each field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export path must stay read-only and transport-neutral</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gap is not telemetry; it is a discoverable contract for generic export.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A server-wide registry of bindings, each for one OTEL signal</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Observability Export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44</a:t>
            </a:r>
          </a:p>
        </p:txBody>
      </p:sp>
      <p:sp>
        <p:nvSpPr>
          <p:cNvPr id="8" name="Rounded Rectangle 7"/>
          <p:cNvSpPr/>
          <p:nvPr/>
        </p:nvSpPr>
        <p:spPr>
          <a:xfrm>
            <a:off x="866134" y="1742236"/>
            <a:ext cx="2705023" cy="604723"/>
          </a:xfrm>
          <a:prstGeom prst="roundRect">
            <a:avLst/>
          </a:prstGeom>
          <a:solidFill>
            <a:srgbClr val="002B49"/>
          </a:solidFill>
          <a:ln w="9525">
            <a:solidFill>
              <a:srgbClr val="002B4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Server Object</a:t>
            </a:r>
          </a:p>
        </p:txBody>
      </p:sp>
      <p:sp>
        <p:nvSpPr>
          <p:cNvPr id="9" name="Rounded Rectangle 8"/>
          <p:cNvSpPr/>
          <p:nvPr/>
        </p:nvSpPr>
        <p:spPr>
          <a:xfrm>
            <a:off x="866134" y="3102864"/>
            <a:ext cx="2705023" cy="755904"/>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Observability</a:t>
            </a:r>
          </a:p>
          <a:p>
            <a:pPr algn="ctr">
              <a:spcBef>
                <a:spcPts val="100"/>
              </a:spcBef>
            </a:pPr>
            <a:r>
              <a:rPr sz="1000" b="0" i="0">
                <a:solidFill>
                  <a:srgbClr val="FFFFFF"/>
                </a:solidFill>
                <a:latin typeface="Segoe UI"/>
              </a:rPr>
              <a:t>ObservabilityFolderType</a:t>
            </a:r>
          </a:p>
        </p:txBody>
      </p:sp>
      <p:sp>
        <p:nvSpPr>
          <p:cNvPr id="10" name="Rounded Rectangle 9"/>
          <p:cNvSpPr/>
          <p:nvPr/>
        </p:nvSpPr>
        <p:spPr>
          <a:xfrm>
            <a:off x="4472833" y="3102864"/>
            <a:ext cx="2795191" cy="755904"/>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Binding group</a:t>
            </a:r>
          </a:p>
          <a:p>
            <a:pPr algn="ctr">
              <a:spcBef>
                <a:spcPts val="100"/>
              </a:spcBef>
            </a:pPr>
            <a:r>
              <a:rPr sz="1000" b="0" i="0">
                <a:solidFill>
                  <a:srgbClr val="002B49"/>
                </a:solidFill>
                <a:latin typeface="Segoe UI"/>
              </a:rPr>
              <a:t>per companion spec</a:t>
            </a:r>
          </a:p>
        </p:txBody>
      </p:sp>
      <p:sp>
        <p:nvSpPr>
          <p:cNvPr id="11" name="Rounded Rectangle 10"/>
          <p:cNvSpPr/>
          <p:nvPr/>
        </p:nvSpPr>
        <p:spPr>
          <a:xfrm>
            <a:off x="8259866" y="3102864"/>
            <a:ext cx="2885358" cy="755904"/>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ObservabilityBinding</a:t>
            </a:r>
          </a:p>
          <a:p>
            <a:pPr algn="ctr">
              <a:spcBef>
                <a:spcPts val="100"/>
              </a:spcBef>
            </a:pPr>
            <a:r>
              <a:rPr sz="1000" b="0" i="0">
                <a:solidFill>
                  <a:srgbClr val="002B49"/>
                </a:solidFill>
                <a:latin typeface="Segoe UI"/>
              </a:rPr>
              <a:t>Metrics · Logs · Traces</a:t>
            </a:r>
          </a:p>
        </p:txBody>
      </p:sp>
      <p:sp>
        <p:nvSpPr>
          <p:cNvPr id="12" name="Rounded Rectangle 11"/>
          <p:cNvSpPr/>
          <p:nvPr/>
        </p:nvSpPr>
        <p:spPr>
          <a:xfrm>
            <a:off x="8259866" y="4614672"/>
            <a:ext cx="2885358" cy="680313"/>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BoundItems</a:t>
            </a:r>
          </a:p>
          <a:p>
            <a:pPr algn="ctr">
              <a:spcBef>
                <a:spcPts val="100"/>
              </a:spcBef>
            </a:pPr>
            <a:r>
              <a:rPr sz="1000" b="0" i="0">
                <a:solidFill>
                  <a:srgbClr val="FFFFFF"/>
                </a:solidFill>
                <a:latin typeface="Segoe UI"/>
              </a:rPr>
              <a:t>Variables or event fields</a:t>
            </a:r>
          </a:p>
        </p:txBody>
      </p:sp>
      <p:cxnSp>
        <p:nvCxnSpPr>
          <p:cNvPr id="13" name="Connector 12"/>
          <p:cNvCxnSpPr>
            <a:stCxn id="8" idx="2"/>
            <a:endCxn id="9" idx="0"/>
          </p:cNvCxnSpPr>
          <p:nvPr/>
        </p:nvCxnSpPr>
        <p:spPr>
          <a:xfrm>
            <a:off x="2218645" y="2346959"/>
            <a:ext cx="0" cy="755905"/>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41405" y="2578607"/>
            <a:ext cx="1554480" cy="274320"/>
          </a:xfrm>
          <a:prstGeom prst="rect">
            <a:avLst/>
          </a:prstGeom>
          <a:noFill/>
        </p:spPr>
        <p:txBody>
          <a:bodyPr wrap="square" lIns="0" rIns="0" tIns="0" bIns="0">
            <a:spAutoFit/>
          </a:bodyPr>
          <a:lstStyle/>
          <a:p>
            <a:pPr algn="ctr"/>
            <a:r>
              <a:rPr sz="900" b="0" i="1">
                <a:solidFill>
                  <a:srgbClr val="6B7480"/>
                </a:solidFill>
                <a:latin typeface="Segoe UI"/>
              </a:rPr>
              <a:t>HasComponent</a:t>
            </a:r>
          </a:p>
        </p:txBody>
      </p:sp>
      <p:cxnSp>
        <p:nvCxnSpPr>
          <p:cNvPr id="15" name="Connector 14"/>
          <p:cNvCxnSpPr>
            <a:stCxn id="9" idx="3"/>
            <a:endCxn id="10" idx="1"/>
          </p:cNvCxnSpPr>
          <p:nvPr/>
        </p:nvCxnSpPr>
        <p:spPr>
          <a:xfrm>
            <a:off x="3571157" y="3480816"/>
            <a:ext cx="901676" cy="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244755" y="3334512"/>
            <a:ext cx="1554480" cy="274320"/>
          </a:xfrm>
          <a:prstGeom prst="rect">
            <a:avLst/>
          </a:prstGeom>
          <a:noFill/>
        </p:spPr>
        <p:txBody>
          <a:bodyPr wrap="square" lIns="0" rIns="0" tIns="0" bIns="0">
            <a:spAutoFit/>
          </a:bodyPr>
          <a:lstStyle/>
          <a:p>
            <a:pPr algn="ctr"/>
            <a:r>
              <a:rPr sz="900" b="0" i="1">
                <a:solidFill>
                  <a:srgbClr val="6B7480"/>
                </a:solidFill>
                <a:latin typeface="Segoe UI"/>
              </a:rPr>
              <a:t>Collects</a:t>
            </a:r>
          </a:p>
        </p:txBody>
      </p:sp>
      <p:cxnSp>
        <p:nvCxnSpPr>
          <p:cNvPr id="17" name="Connector 16"/>
          <p:cNvCxnSpPr>
            <a:stCxn id="10" idx="3"/>
            <a:endCxn id="11" idx="1"/>
          </p:cNvCxnSpPr>
          <p:nvPr/>
        </p:nvCxnSpPr>
        <p:spPr>
          <a:xfrm>
            <a:off x="7268024" y="3480816"/>
            <a:ext cx="991842" cy="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11" idx="2"/>
            <a:endCxn id="12" idx="0"/>
          </p:cNvCxnSpPr>
          <p:nvPr/>
        </p:nvCxnSpPr>
        <p:spPr>
          <a:xfrm>
            <a:off x="9702545" y="3858768"/>
            <a:ext cx="0" cy="755904"/>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5672937"/>
            <a:ext cx="10820095" cy="365760"/>
          </a:xfrm>
          <a:prstGeom prst="rect">
            <a:avLst/>
          </a:prstGeom>
          <a:noFill/>
        </p:spPr>
        <p:txBody>
          <a:bodyPr wrap="square" lIns="0" rIns="0" tIns="0" bIns="0">
            <a:spAutoFit/>
          </a:bodyPr>
          <a:lstStyle/>
          <a:p>
            <a:pPr algn="ctr"/>
            <a:r>
              <a:rPr sz="1100" b="0" i="1">
                <a:solidFill>
                  <a:srgbClr val="6B7480"/>
                </a:solidFill>
                <a:latin typeface="Segoe UI"/>
              </a:rPr>
              <a:t>A binding is exactly one signal; its items are homogeneous for that signal.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Browse once, then realize the binding through classic OPC UA or PubSub</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Observability Export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45</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Browse </a:t>
            </a:r>
            <a:r>
              <a:rPr sz="1600" b="1" i="0">
                <a:solidFill>
                  <a:srgbClr val="002B49"/>
                </a:solidFill>
                <a:latin typeface="Consolas"/>
              </a:rPr>
              <a:t>Server/Observability</a:t>
            </a:r>
            <a:r>
              <a:rPr sz="1700" b="1" i="0">
                <a:solidFill>
                  <a:srgbClr val="002B49"/>
                </a:solidFill>
                <a:latin typeface="Segoe UI"/>
              </a:rPr>
              <a:t> and follow </a:t>
            </a:r>
            <a:r>
              <a:rPr sz="1600" b="1" i="0">
                <a:solidFill>
                  <a:srgbClr val="002B49"/>
                </a:solidFill>
                <a:latin typeface="Consolas"/>
              </a:rPr>
              <a:t>Collects</a:t>
            </a:r>
            <a:r>
              <a:rPr sz="1700" b="1" i="0">
                <a:solidFill>
                  <a:srgbClr val="002B49"/>
                </a:solidFill>
                <a:latin typeface="Segoe UI"/>
              </a:rPr>
              <a:t> to groups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Read </a:t>
            </a:r>
            <a:r>
              <a:rPr sz="1600" b="1" i="0">
                <a:solidFill>
                  <a:srgbClr val="002B49"/>
                </a:solidFill>
                <a:latin typeface="Consolas"/>
              </a:rPr>
              <a:t>SignalKind</a:t>
            </a:r>
            <a:r>
              <a:rPr sz="1700" b="1" i="0">
                <a:solidFill>
                  <a:srgbClr val="002B49"/>
                </a:solidFill>
                <a:latin typeface="Segoe UI"/>
              </a:rPr>
              <a:t>, </a:t>
            </a:r>
            <a:r>
              <a:rPr sz="1600" b="1" i="0">
                <a:solidFill>
                  <a:srgbClr val="002B49"/>
                </a:solidFill>
                <a:latin typeface="Consolas"/>
              </a:rPr>
              <a:t>DataSetClassId</a:t>
            </a:r>
            <a:r>
              <a:rPr sz="1700" b="1" i="0">
                <a:solidFill>
                  <a:srgbClr val="002B49"/>
                </a:solidFill>
                <a:latin typeface="Segoe UI"/>
              </a:rPr>
              <a:t>, cardinality and fields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Resolve type-level </a:t>
            </a:r>
            <a:r>
              <a:rPr sz="1600" b="1" i="0">
                <a:solidFill>
                  <a:srgbClr val="002B49"/>
                </a:solidFill>
                <a:latin typeface="Consolas"/>
              </a:rPr>
              <a:t>BrowsePath</a:t>
            </a:r>
            <a:r>
              <a:rPr sz="1700" b="1" i="0">
                <a:solidFill>
                  <a:srgbClr val="002B49"/>
                </a:solidFill>
                <a:latin typeface="Segoe UI"/>
              </a:rPr>
              <a:t> entries per live instance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Subscribe to Variables or Events on the classic path</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Use </a:t>
            </a:r>
            <a:r>
              <a:rPr sz="1600" b="1" i="0">
                <a:solidFill>
                  <a:srgbClr val="002B49"/>
                </a:solidFill>
                <a:latin typeface="Consolas"/>
              </a:rPr>
              <a:t>ExportedBy</a:t>
            </a:r>
            <a:r>
              <a:rPr sz="1700" b="1" i="0">
                <a:solidFill>
                  <a:srgbClr val="002B49"/>
                </a:solidFill>
                <a:latin typeface="Segoe UI"/>
              </a:rPr>
              <a:t> Part 14 nodes only when the Server provides them</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Emit OTEL metrics, LogRecords or Spans with dimensions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PubSub is an optional realization; classic Subscriptions and Reads are baseline.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companion models adopt it</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Bind at the type or facet, then let instances inherit it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Observability Export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46</a:t>
            </a:r>
          </a:p>
        </p:txBody>
      </p:sp>
      <p:sp>
        <p:nvSpPr>
          <p:cNvPr id="8" name="Rectangle 7"/>
          <p:cNvSpPr/>
          <p:nvPr/>
        </p:nvSpPr>
        <p:spPr>
          <a:xfrm>
            <a:off x="685800" y="1591056"/>
            <a:ext cx="54864" cy="27432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591056"/>
            <a:ext cx="5058003" cy="310896"/>
          </a:xfrm>
          <a:prstGeom prst="rect">
            <a:avLst/>
          </a:prstGeom>
          <a:noFill/>
        </p:spPr>
        <p:txBody>
          <a:bodyPr wrap="square" lIns="0" rIns="0" tIns="0" bIns="0">
            <a:spAutoFit/>
          </a:bodyPr>
          <a:lstStyle/>
          <a:p>
            <a:r>
              <a:rPr sz="1500" b="1" i="0">
                <a:solidFill>
                  <a:srgbClr val="002B49"/>
                </a:solidFill>
                <a:latin typeface="Segoe UI Semibold"/>
              </a:rPr>
              <a:t>Base model mechanics</a:t>
            </a:r>
          </a:p>
        </p:txBody>
      </p:sp>
      <p:sp>
        <p:nvSpPr>
          <p:cNvPr id="10" name="TextBox 9"/>
          <p:cNvSpPr txBox="1"/>
          <p:nvPr/>
        </p:nvSpPr>
        <p:spPr>
          <a:xfrm>
            <a:off x="685800" y="2011680"/>
            <a:ext cx="5204307" cy="4114800"/>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Apply </a:t>
            </a:r>
            <a:r>
              <a:rPr sz="1300" b="1" i="0">
                <a:solidFill>
                  <a:srgbClr val="002B49"/>
                </a:solidFill>
                <a:latin typeface="Consolas"/>
              </a:rPr>
              <a:t>IObservableType</a:t>
            </a:r>
            <a:r>
              <a:rPr sz="1400" b="1" i="0">
                <a:solidFill>
                  <a:srgbClr val="002B49"/>
                </a:solidFill>
                <a:latin typeface="Segoe UI"/>
              </a:rPr>
              <a:t> to a type or instance</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Author type-level </a:t>
            </a:r>
            <a:r>
              <a:rPr sz="1300" b="1" i="0">
                <a:solidFill>
                  <a:srgbClr val="002B49"/>
                </a:solidFill>
                <a:latin typeface="Consolas"/>
              </a:rPr>
              <a:t>BrowsePath</a:t>
            </a:r>
            <a:r>
              <a:rPr sz="1400" b="1" i="0">
                <a:solidFill>
                  <a:srgbClr val="002B49"/>
                </a:solidFill>
                <a:latin typeface="Segoe UI"/>
              </a:rPr>
              <a:t> bindings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Compose subtype, Interface and AddIn bindings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Tag base fields with </a:t>
            </a:r>
            <a:r>
              <a:rPr sz="1300" b="1" i="0">
                <a:solidFill>
                  <a:srgbClr val="002B49"/>
                </a:solidFill>
                <a:latin typeface="Consolas"/>
              </a:rPr>
              <a:t>SourceBindingClassId</a:t>
            </a:r>
          </a:p>
        </p:txBody>
      </p:sp>
      <p:sp>
        <p:nvSpPr>
          <p:cNvPr id="11" name="Rectangle 10"/>
          <p:cNvSpPr/>
          <p:nvPr/>
        </p:nvSpPr>
        <p:spPr>
          <a:xfrm>
            <a:off x="6301587" y="1591056"/>
            <a:ext cx="54864" cy="274320"/>
          </a:xfrm>
          <a:prstGeom prst="rect">
            <a:avLst/>
          </a:prstGeom>
          <a:solidFill>
            <a:srgbClr val="B8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7891" y="1591056"/>
            <a:ext cx="5058003" cy="310896"/>
          </a:xfrm>
          <a:prstGeom prst="rect">
            <a:avLst/>
          </a:prstGeom>
          <a:noFill/>
        </p:spPr>
        <p:txBody>
          <a:bodyPr wrap="square" lIns="0" rIns="0" tIns="0" bIns="0">
            <a:spAutoFit/>
          </a:bodyPr>
          <a:lstStyle/>
          <a:p>
            <a:r>
              <a:rPr sz="1500" b="1" i="0">
                <a:solidFill>
                  <a:srgbClr val="002B49"/>
                </a:solidFill>
                <a:latin typeface="Segoe UI Semibold"/>
              </a:rPr>
              <a:t>Addenda shipped</a:t>
            </a:r>
          </a:p>
        </p:txBody>
      </p:sp>
      <p:sp>
        <p:nvSpPr>
          <p:cNvPr id="13" name="TextBox 12"/>
          <p:cNvSpPr txBox="1"/>
          <p:nvPr/>
        </p:nvSpPr>
        <p:spPr>
          <a:xfrm>
            <a:off x="6301587" y="2011680"/>
            <a:ext cx="5204307" cy="4114800"/>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di/</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pumps/</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robotics/</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facets/</a:t>
            </a:r>
            <a:r>
              <a:rPr sz="1400" b="1" i="0">
                <a:solidFill>
                  <a:srgbClr val="002B49"/>
                </a:solidFill>
                <a:latin typeface="Segoe UI"/>
              </a:rPr>
              <a:t> — Machinery facets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C6E8C"/>
                </a:solidFill>
                <a:latin typeface="Segoe UI"/>
              </a:rPr>
              <a:t>Working draft, addenda included, no demo yet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Observability Export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47</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Draft version:</a:t>
            </a:r>
            <a:r>
              <a:rPr sz="1700" b="1" i="0">
                <a:solidFill>
                  <a:srgbClr val="002B49"/>
                </a:solidFill>
                <a:latin typeface="Segoe UI"/>
              </a:rPr>
              <a:t> 0.1.0, dated 2026-07-15</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body:</a:t>
            </a:r>
            <a:r>
              <a:rPr sz="1700" b="1" i="0">
                <a:solidFill>
                  <a:srgbClr val="002B49"/>
                </a:solidFill>
                <a:latin typeface="Segoe UI"/>
              </a:rPr>
              <a:t> OPC Foundation Working Group</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Proposed Part:</a:t>
            </a:r>
            <a:r>
              <a:rPr sz="1700" b="1" i="0">
                <a:solidFill>
                  <a:srgbClr val="002B49"/>
                </a:solidFill>
                <a:latin typeface="Segoe UI"/>
              </a:rPr>
              <a:t> OPC 10000-2xx, number to be assigned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a:t>
            </a:r>
            <a:r>
              <a:rPr sz="1700" b="1" i="0">
                <a:solidFill>
                  <a:srgbClr val="002B49"/>
                </a:solidFill>
                <a:latin typeface="Segoe UI"/>
              </a:rPr>
              <a:t> </a:t>
            </a:r>
            <a:r>
              <a:rPr sz="1600" b="1" i="0">
                <a:solidFill>
                  <a:srgbClr val="002B49"/>
                </a:solidFill>
                <a:latin typeface="Consolas"/>
              </a:rPr>
              <a:t>cloud-specs/observability-export/OPC-UA-Observability-Export.md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questions:</a:t>
            </a:r>
            <a:r>
              <a:rPr sz="1700" b="1" i="0">
                <a:solidFill>
                  <a:srgbClr val="002B49"/>
                </a:solidFill>
                <a:latin typeface="Segoe UI"/>
              </a:rPr>
              <a:t> assigned Part number and final NodeIds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a:t>
            </a:r>
            <a:r>
              <a:rPr sz="1700" b="1" i="0">
                <a:solidFill>
                  <a:srgbClr val="002B49"/>
                </a:solidFill>
                <a:latin typeface="Segoe UI"/>
              </a:rPr>
              <a:t> none yet; the deck leaves that gap visible</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model and addenda are draft content; the generic bridge demo is still absent.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874519"/>
            <a:ext cx="1097280" cy="73152"/>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48840"/>
            <a:ext cx="10820095" cy="1005840"/>
          </a:xfrm>
          <a:prstGeom prst="rect">
            <a:avLst/>
          </a:prstGeom>
          <a:noFill/>
        </p:spPr>
        <p:txBody>
          <a:bodyPr wrap="square" lIns="0" rIns="0" tIns="0" bIns="0">
            <a:spAutoFit/>
          </a:bodyPr>
          <a:lstStyle/>
          <a:p>
            <a:r>
              <a:rPr sz="4000" b="1" i="0">
                <a:solidFill>
                  <a:srgbClr val="FFFFFF"/>
                </a:solidFill>
                <a:latin typeface="Segoe UI Semibold"/>
              </a:rPr>
              <a:t>metaverse</a:t>
            </a:r>
          </a:p>
        </p:txBody>
      </p:sp>
      <p:sp>
        <p:nvSpPr>
          <p:cNvPr id="5" name="TextBox 4"/>
          <p:cNvSpPr txBox="1"/>
          <p:nvPr/>
        </p:nvSpPr>
        <p:spPr>
          <a:xfrm>
            <a:off x="685800" y="3218688"/>
            <a:ext cx="8412480" cy="822960"/>
          </a:xfrm>
          <a:prstGeom prst="rect">
            <a:avLst/>
          </a:prstGeom>
          <a:noFill/>
        </p:spPr>
        <p:txBody>
          <a:bodyPr wrap="square" lIns="0" rIns="0" tIns="0" bIns="0">
            <a:spAutoFit/>
          </a:bodyPr>
          <a:lstStyle/>
          <a:p>
            <a:r>
              <a:rPr sz="1700" b="0" i="0">
                <a:solidFill>
                  <a:srgbClr val="FFFFFF"/>
                </a:solidFill>
                <a:latin typeface="Segoe UI"/>
              </a:rPr>
              <a:t>Connecting OPC UA to the systems that visualize, perceive and command physical machines</a:t>
            </a:r>
          </a:p>
        </p:txBody>
      </p:sp>
      <p:sp>
        <p:nvSpPr>
          <p:cNvPr id="6" name="TextBox 5"/>
          <p:cNvSpPr txBox="1"/>
          <p:nvPr/>
        </p:nvSpPr>
        <p:spPr>
          <a:xfrm>
            <a:off x="685800" y="4160520"/>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OpenUSD Part 1 (Binding)</a:t>
            </a:r>
          </a:p>
        </p:txBody>
      </p:sp>
      <p:sp>
        <p:nvSpPr>
          <p:cNvPr id="7" name="TextBox 6"/>
          <p:cNvSpPr txBox="1"/>
          <p:nvPr/>
        </p:nvSpPr>
        <p:spPr>
          <a:xfrm>
            <a:off x="685800" y="4489704"/>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OpenUSD Part 2 (Scene Materialization)</a:t>
            </a:r>
          </a:p>
        </p:txBody>
      </p:sp>
      <p:sp>
        <p:nvSpPr>
          <p:cNvPr id="8" name="TextBox 7"/>
          <p:cNvSpPr txBox="1"/>
          <p:nvPr/>
        </p:nvSpPr>
        <p:spPr>
          <a:xfrm>
            <a:off x="685800" y="4818888"/>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Vision</a:t>
            </a:r>
          </a:p>
        </p:txBody>
      </p:sp>
      <p:sp>
        <p:nvSpPr>
          <p:cNvPr id="9" name="TextBox 8"/>
          <p:cNvSpPr txBox="1"/>
          <p:nvPr/>
        </p:nvSpPr>
        <p:spPr>
          <a:xfrm>
            <a:off x="685800" y="5148072"/>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Robot Intent</a:t>
            </a:r>
          </a:p>
        </p:txBody>
      </p:sp>
      <p:sp>
        <p:nvSpPr>
          <p:cNvPr id="10" name="TextBox 9"/>
          <p:cNvSpPr txBox="1"/>
          <p:nvPr/>
        </p:nvSpPr>
        <p:spPr>
          <a:xfrm>
            <a:off x="685800" y="5477256"/>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AI Model Management and Inference</a:t>
            </a:r>
          </a:p>
        </p:txBody>
      </p:sp>
      <p:sp>
        <p:nvSpPr>
          <p:cNvPr id="11" name="TextBox 10"/>
          <p:cNvSpPr txBox="1"/>
          <p:nvPr/>
        </p:nvSpPr>
        <p:spPr>
          <a:xfrm>
            <a:off x="685800" y="5806440"/>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OpenUSD Artifact Registry Service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the OpenUSD binding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OPC UA can describe the machine, but the viewer cannot see the mapping</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1: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49</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Visual twins still hide OPC UA ↔ USD mapping in connector code</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Each server-viewer pairing becomes another private bridge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NodeIds hard-coded in a renderer break when the AddressSpace changes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USD asset can show a pump before it knows which Object it represents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Live values, alarms, history and commands need one discoverable contract</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gap is not rendering; it is the missing, browsable mapping authority.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A small binding layer over any companion model</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1: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50</a:t>
            </a:r>
          </a:p>
        </p:txBody>
      </p:sp>
      <p:graphicFrame>
        <p:nvGraphicFramePr>
          <p:cNvPr id="8" name="Table 7"/>
          <p:cNvGraphicFramePr>
            <a:graphicFrameLocks noGrp="1"/>
          </p:cNvGraphicFramePr>
          <p:nvPr/>
        </p:nvGraphicFramePr>
        <p:xfrm>
          <a:off x="685800" y="1591056"/>
          <a:ext cx="10820094" cy="3456432"/>
        </p:xfrm>
        <a:graphic>
          <a:graphicData uri="http://schemas.openxmlformats.org/drawingml/2006/table">
            <a:tbl>
              <a:tblPr firstRow="1" bandRow="1">
                <a:tableStyleId>{5C22544A-7EE6-4342-B048-85BDC9FD1C3A}</a:tableStyleId>
              </a:tblPr>
              <a:tblGrid>
                <a:gridCol w="3029626"/>
                <a:gridCol w="3462430"/>
                <a:gridCol w="4328038"/>
              </a:tblGrid>
              <a:tr h="384048">
                <a:tc>
                  <a:txBody>
                    <a:bodyPr/>
                    <a:lstStyle/>
                    <a:p>
                      <a:r>
                        <a:rPr sz="1100" b="1" i="0">
                          <a:solidFill>
                            <a:srgbClr val="FFFFFF"/>
                          </a:solidFill>
                          <a:latin typeface="Segoe UI Semibold"/>
                        </a:rPr>
                        <a:t>Piece</a:t>
                      </a:r>
                    </a:p>
                  </a:txBody>
                  <a:tcPr marL="73152" marR="73152" anchor="ctr">
                    <a:solidFill>
                      <a:srgbClr val="5B3E96"/>
                    </a:solidFill>
                  </a:tcPr>
                </a:tc>
                <a:tc>
                  <a:txBody>
                    <a:bodyPr/>
                    <a:lstStyle/>
                    <a:p>
                      <a:r>
                        <a:rPr sz="1100" b="1" i="0">
                          <a:solidFill>
                            <a:srgbClr val="FFFFFF"/>
                          </a:solidFill>
                          <a:latin typeface="Segoe UI Semibold"/>
                        </a:rPr>
                        <a:t>Browse shape</a:t>
                      </a:r>
                    </a:p>
                  </a:txBody>
                  <a:tcPr marL="73152" marR="73152" anchor="ctr">
                    <a:solidFill>
                      <a:srgbClr val="5B3E96"/>
                    </a:solidFill>
                  </a:tcPr>
                </a:tc>
                <a:tc>
                  <a:txBody>
                    <a:bodyPr/>
                    <a:lstStyle/>
                    <a:p>
                      <a:r>
                        <a:rPr sz="1100" b="1" i="0">
                          <a:solidFill>
                            <a:srgbClr val="FFFFFF"/>
                          </a:solidFill>
                          <a:latin typeface="Segoe UI Semibold"/>
                        </a:rPr>
                        <a:t>Purpose</a:t>
                      </a:r>
                    </a:p>
                  </a:txBody>
                  <a:tcPr marL="73152" marR="73152" anchor="ctr">
                    <a:solidFill>
                      <a:srgbClr val="5B3E96"/>
                    </a:solidFill>
                  </a:tcPr>
                </a:tc>
              </a:tr>
              <a:tr h="384048">
                <a:tc>
                  <a:txBody>
                    <a:bodyPr/>
                    <a:lstStyle/>
                    <a:p>
                      <a:r>
                        <a:rPr sz="1100" b="0" i="0">
                          <a:solidFill>
                            <a:srgbClr val="333B44"/>
                          </a:solidFill>
                          <a:latin typeface="Segoe UI"/>
                        </a:rPr>
                        <a:t>Root</a:t>
                      </a:r>
                    </a:p>
                  </a:txBody>
                  <a:tcPr marL="73152" marR="73152" marT="27432" marB="27432" anchor="ctr">
                    <a:solidFill>
                      <a:srgbClr val="FFFFFF"/>
                    </a:solidFill>
                  </a:tcPr>
                </a:tc>
                <a:tc>
                  <a:txBody>
                    <a:bodyPr/>
                    <a:lstStyle/>
                    <a:p>
                      <a:r>
                        <a:rPr sz="1000" b="0" i="0">
                          <a:solidFill>
                            <a:srgbClr val="002B49"/>
                          </a:solidFill>
                          <a:latin typeface="Consolas"/>
                        </a:rPr>
                        <a:t>Server/OpenUSD</a:t>
                      </a:r>
                    </a:p>
                  </a:txBody>
                  <a:tcPr marL="73152" marR="73152" marT="27432" marB="27432" anchor="ctr">
                    <a:solidFill>
                      <a:srgbClr val="FFFFFF"/>
                    </a:solidFill>
                  </a:tcPr>
                </a:tc>
                <a:tc>
                  <a:txBody>
                    <a:bodyPr/>
                    <a:lstStyle/>
                    <a:p>
                      <a:r>
                        <a:rPr sz="1100" b="0" i="0">
                          <a:solidFill>
                            <a:srgbClr val="333B44"/>
                          </a:solidFill>
                          <a:latin typeface="Segoe UI"/>
                        </a:rPr>
                        <a:t>One discovery entry point</a:t>
                      </a:r>
                    </a:p>
                  </a:txBody>
                  <a:tcPr marL="73152" marR="73152" marT="27432" marB="27432" anchor="ctr">
                    <a:solidFill>
                      <a:srgbClr val="FFFFFF"/>
                    </a:solidFill>
                  </a:tcPr>
                </a:tc>
              </a:tr>
              <a:tr h="384048">
                <a:tc>
                  <a:txBody>
                    <a:bodyPr/>
                    <a:lstStyle/>
                    <a:p>
                      <a:r>
                        <a:rPr sz="1100" b="0" i="0">
                          <a:solidFill>
                            <a:srgbClr val="333B44"/>
                          </a:solidFill>
                          <a:latin typeface="Segoe UI"/>
                        </a:rPr>
                        <a:t>Stages</a:t>
                      </a:r>
                    </a:p>
                  </a:txBody>
                  <a:tcPr marL="73152" marR="73152" marT="27432" marB="27432" anchor="ctr">
                    <a:solidFill>
                      <a:srgbClr val="F4F6F8"/>
                    </a:solidFill>
                  </a:tcPr>
                </a:tc>
                <a:tc>
                  <a:txBody>
                    <a:bodyPr/>
                    <a:lstStyle/>
                    <a:p>
                      <a:r>
                        <a:rPr sz="1000" b="0" i="0">
                          <a:solidFill>
                            <a:srgbClr val="002B49"/>
                          </a:solidFill>
                          <a:latin typeface="Consolas"/>
                        </a:rPr>
                        <a:t>OpenUsdStageType</a:t>
                      </a:r>
                    </a:p>
                  </a:txBody>
                  <a:tcPr marL="73152" marR="73152" marT="27432" marB="27432" anchor="ctr">
                    <a:solidFill>
                      <a:srgbClr val="F4F6F8"/>
                    </a:solidFill>
                  </a:tcPr>
                </a:tc>
                <a:tc>
                  <a:txBody>
                    <a:bodyPr/>
                    <a:lstStyle/>
                    <a:p>
                      <a:r>
                        <a:rPr sz="1100" b="0" i="0">
                          <a:solidFill>
                            <a:srgbClr val="333B44"/>
                          </a:solidFill>
                          <a:latin typeface="Segoe UI"/>
                        </a:rPr>
                        <a:t>Named external USD stages</a:t>
                      </a:r>
                    </a:p>
                  </a:txBody>
                  <a:tcPr marL="73152" marR="73152" marT="27432" marB="27432" anchor="ctr">
                    <a:solidFill>
                      <a:srgbClr val="F4F6F8"/>
                    </a:solidFill>
                  </a:tcPr>
                </a:tc>
              </a:tr>
              <a:tr h="384048">
                <a:tc>
                  <a:txBody>
                    <a:bodyPr/>
                    <a:lstStyle/>
                    <a:p>
                      <a:r>
                        <a:rPr sz="1100" b="0" i="0">
                          <a:solidFill>
                            <a:srgbClr val="333B44"/>
                          </a:solidFill>
                          <a:latin typeface="Segoe UI"/>
                        </a:rPr>
                        <a:t>Representations</a:t>
                      </a:r>
                    </a:p>
                  </a:txBody>
                  <a:tcPr marL="73152" marR="73152" marT="27432" marB="27432" anchor="ctr">
                    <a:solidFill>
                      <a:srgbClr val="FFFFFF"/>
                    </a:solidFill>
                  </a:tcPr>
                </a:tc>
                <a:tc>
                  <a:txBody>
                    <a:bodyPr/>
                    <a:lstStyle/>
                    <a:p>
                      <a:r>
                        <a:rPr sz="1100" b="0" i="0">
                          <a:solidFill>
                            <a:srgbClr val="333B44"/>
                          </a:solidFill>
                          <a:latin typeface="Segoe UI"/>
                        </a:rPr>
                        <a:t>AddIn on domain Objects</a:t>
                      </a:r>
                    </a:p>
                  </a:txBody>
                  <a:tcPr marL="73152" marR="73152" marT="27432" marB="27432" anchor="ctr">
                    <a:solidFill>
                      <a:srgbClr val="FFFFFF"/>
                    </a:solidFill>
                  </a:tcPr>
                </a:tc>
                <a:tc>
                  <a:txBody>
                    <a:bodyPr/>
                    <a:lstStyle/>
                    <a:p>
                      <a:r>
                        <a:rPr sz="1100" b="0" i="0">
                          <a:solidFill>
                            <a:srgbClr val="333B44"/>
                          </a:solidFill>
                          <a:latin typeface="Segoe UI"/>
                        </a:rPr>
                        <a:t>Object ↔ prim identity</a:t>
                      </a:r>
                    </a:p>
                  </a:txBody>
                  <a:tcPr marL="73152" marR="73152" marT="27432" marB="27432" anchor="ctr">
                    <a:solidFill>
                      <a:srgbClr val="FFFFFF"/>
                    </a:solidFill>
                  </a:tcPr>
                </a:tc>
              </a:tr>
              <a:tr h="384048">
                <a:tc>
                  <a:txBody>
                    <a:bodyPr/>
                    <a:lstStyle/>
                    <a:p>
                      <a:r>
                        <a:rPr sz="1100" b="0" i="0">
                          <a:solidFill>
                            <a:srgbClr val="333B44"/>
                          </a:solidFill>
                          <a:latin typeface="Segoe UI"/>
                        </a:rPr>
                        <a:t>Telemetry</a:t>
                      </a:r>
                    </a:p>
                  </a:txBody>
                  <a:tcPr marL="73152" marR="73152" marT="27432" marB="27432" anchor="ctr">
                    <a:solidFill>
                      <a:srgbClr val="F4F6F8"/>
                    </a:solidFill>
                  </a:tcPr>
                </a:tc>
                <a:tc>
                  <a:txBody>
                    <a:bodyPr/>
                    <a:lstStyle/>
                    <a:p>
                      <a:r>
                        <a:rPr sz="1000" b="0" i="0">
                          <a:solidFill>
                            <a:srgbClr val="002B49"/>
                          </a:solidFill>
                          <a:latin typeface="Consolas"/>
                        </a:rPr>
                        <a:t>OpenUsdValueChangeBindingType</a:t>
                      </a:r>
                    </a:p>
                  </a:txBody>
                  <a:tcPr marL="73152" marR="73152" marT="27432" marB="27432" anchor="ctr">
                    <a:solidFill>
                      <a:srgbClr val="F4F6F8"/>
                    </a:solidFill>
                  </a:tcPr>
                </a:tc>
                <a:tc>
                  <a:txBody>
                    <a:bodyPr/>
                    <a:lstStyle/>
                    <a:p>
                      <a:r>
                        <a:rPr sz="1100" b="0" i="0">
                          <a:solidFill>
                            <a:srgbClr val="333B44"/>
                          </a:solidFill>
                          <a:latin typeface="Segoe UI"/>
                        </a:rPr>
                        <a:t>Variable Value → attribute</a:t>
                      </a:r>
                    </a:p>
                  </a:txBody>
                  <a:tcPr marL="73152" marR="73152" marT="27432" marB="27432" anchor="ctr">
                    <a:solidFill>
                      <a:srgbClr val="F4F6F8"/>
                    </a:solidFill>
                  </a:tcPr>
                </a:tc>
              </a:tr>
              <a:tr h="384048">
                <a:tc>
                  <a:txBody>
                    <a:bodyPr/>
                    <a:lstStyle/>
                    <a:p>
                      <a:r>
                        <a:rPr sz="1100" b="0" i="0">
                          <a:solidFill>
                            <a:srgbClr val="333B44"/>
                          </a:solidFill>
                          <a:latin typeface="Segoe UI"/>
                        </a:rPr>
                        <a:t>Alarms/history</a:t>
                      </a:r>
                    </a:p>
                  </a:txBody>
                  <a:tcPr marL="73152" marR="73152" marT="27432" marB="27432" anchor="ctr">
                    <a:solidFill>
                      <a:srgbClr val="FFFFFF"/>
                    </a:solidFill>
                  </a:tcPr>
                </a:tc>
                <a:tc>
                  <a:txBody>
                    <a:bodyPr/>
                    <a:lstStyle/>
                    <a:p>
                      <a:r>
                        <a:rPr sz="1100" b="0" i="0">
                          <a:solidFill>
                            <a:srgbClr val="333B44"/>
                          </a:solidFill>
                          <a:latin typeface="Segoe UI"/>
                        </a:rPr>
                        <a:t>Concrete binding subtypes</a:t>
                      </a:r>
                    </a:p>
                  </a:txBody>
                  <a:tcPr marL="73152" marR="73152" marT="27432" marB="27432" anchor="ctr">
                    <a:solidFill>
                      <a:srgbClr val="FFFFFF"/>
                    </a:solidFill>
                  </a:tcPr>
                </a:tc>
                <a:tc>
                  <a:txBody>
                    <a:bodyPr/>
                    <a:lstStyle/>
                    <a:p>
                      <a:r>
                        <a:rPr sz="1100" b="0" i="0">
                          <a:solidFill>
                            <a:srgbClr val="333B44"/>
                          </a:solidFill>
                          <a:latin typeface="Segoe UI"/>
                        </a:rPr>
                        <a:t>State and playback intent</a:t>
                      </a:r>
                    </a:p>
                  </a:txBody>
                  <a:tcPr marL="73152" marR="73152" marT="27432" marB="27432" anchor="ctr">
                    <a:solidFill>
                      <a:srgbClr val="FFFFFF"/>
                    </a:solidFill>
                  </a:tcPr>
                </a:tc>
              </a:tr>
              <a:tr h="384048">
                <a:tc>
                  <a:txBody>
                    <a:bodyPr/>
                    <a:lstStyle/>
                    <a:p>
                      <a:r>
                        <a:rPr sz="1100" b="0" i="0">
                          <a:solidFill>
                            <a:srgbClr val="333B44"/>
                          </a:solidFill>
                          <a:latin typeface="Segoe UI"/>
                        </a:rPr>
                        <a:t>Commands</a:t>
                      </a:r>
                    </a:p>
                  </a:txBody>
                  <a:tcPr marL="73152" marR="73152" marT="27432" marB="27432" anchor="ctr">
                    <a:solidFill>
                      <a:srgbClr val="F4F6F8"/>
                    </a:solidFill>
                  </a:tcPr>
                </a:tc>
                <a:tc>
                  <a:txBody>
                    <a:bodyPr/>
                    <a:lstStyle/>
                    <a:p>
                      <a:r>
                        <a:rPr sz="1000" b="0" i="0">
                          <a:solidFill>
                            <a:srgbClr val="002B49"/>
                          </a:solidFill>
                          <a:latin typeface="Consolas"/>
                        </a:rPr>
                        <a:t>OpenUsdCommandBindingType</a:t>
                      </a:r>
                    </a:p>
                  </a:txBody>
                  <a:tcPr marL="73152" marR="73152" marT="27432" marB="27432" anchor="ctr">
                    <a:solidFill>
                      <a:srgbClr val="F4F6F8"/>
                    </a:solidFill>
                  </a:tcPr>
                </a:tc>
                <a:tc>
                  <a:txBody>
                    <a:bodyPr/>
                    <a:lstStyle/>
                    <a:p>
                      <a:r>
                        <a:rPr sz="1100" b="0" i="0">
                          <a:solidFill>
                            <a:srgbClr val="333B44"/>
                          </a:solidFill>
                          <a:latin typeface="Segoe UI"/>
                        </a:rPr>
                        <a:t>Opt-in USD → UA action</a:t>
                      </a:r>
                    </a:p>
                  </a:txBody>
                  <a:tcPr marL="73152" marR="73152" marT="27432" marB="27432" anchor="ctr">
                    <a:solidFill>
                      <a:srgbClr val="F4F6F8"/>
                    </a:solidFill>
                  </a:tcPr>
                </a:tc>
              </a:tr>
              <a:tr h="384048">
                <a:tc>
                  <a:txBody>
                    <a:bodyPr/>
                    <a:lstStyle/>
                    <a:p>
                      <a:r>
                        <a:rPr sz="1100" b="0" i="0">
                          <a:solidFill>
                            <a:srgbClr val="333B44"/>
                          </a:solidFill>
                          <a:latin typeface="Segoe UI"/>
                        </a:rPr>
                        <a:t>Composition</a:t>
                      </a:r>
                    </a:p>
                  </a:txBody>
                  <a:tcPr marL="73152" marR="73152" marT="27432" marB="27432" anchor="ctr">
                    <a:solidFill>
                      <a:srgbClr val="FFFFFF"/>
                    </a:solidFill>
                  </a:tcPr>
                </a:tc>
                <a:tc>
                  <a:txBody>
                    <a:bodyPr/>
                    <a:lstStyle/>
                    <a:p>
                      <a:r>
                        <a:rPr sz="1000" b="0" i="0">
                          <a:solidFill>
                            <a:srgbClr val="002B49"/>
                          </a:solidFill>
                          <a:latin typeface="Consolas"/>
                        </a:rPr>
                        <a:t>OpenUsdComponentBindingType</a:t>
                      </a:r>
                    </a:p>
                  </a:txBody>
                  <a:tcPr marL="73152" marR="73152" marT="27432" marB="27432" anchor="ctr">
                    <a:solidFill>
                      <a:srgbClr val="FFFFFF"/>
                    </a:solidFill>
                  </a:tcPr>
                </a:tc>
                <a:tc>
                  <a:txBody>
                    <a:bodyPr/>
                    <a:lstStyle/>
                    <a:p>
                      <a:r>
                        <a:rPr sz="1100" b="0" i="0">
                          <a:solidFill>
                            <a:srgbClr val="333B44"/>
                          </a:solidFill>
                          <a:latin typeface="Segoe UI"/>
                        </a:rPr>
                        <a:t>Components → prim hierarchy</a:t>
                      </a:r>
                    </a:p>
                  </a:txBody>
                  <a:tcPr marL="73152" marR="73152" marT="27432" marB="27432" anchor="ctr">
                    <a:solidFill>
                      <a:srgbClr val="FFFFFF"/>
                    </a:solidFill>
                  </a:tcPr>
                </a:tc>
              </a:tr>
              <a:tr h="384048">
                <a:tc>
                  <a:txBody>
                    <a:bodyPr/>
                    <a:lstStyle/>
                    <a:p>
                      <a:r>
                        <a:rPr sz="1100" b="0" i="0">
                          <a:solidFill>
                            <a:srgbClr val="333B44"/>
                          </a:solidFill>
                          <a:latin typeface="Segoe UI"/>
                        </a:rPr>
                        <a:t>Artifacts</a:t>
                      </a:r>
                    </a:p>
                  </a:txBody>
                  <a:tcPr marL="73152" marR="73152" marT="27432" marB="27432" anchor="ctr">
                    <a:solidFill>
                      <a:srgbClr val="F4F6F8"/>
                    </a:solidFill>
                  </a:tcPr>
                </a:tc>
                <a:tc>
                  <a:txBody>
                    <a:bodyPr/>
                    <a:lstStyle/>
                    <a:p>
                      <a:r>
                        <a:rPr sz="1100" b="0" i="0">
                          <a:solidFill>
                            <a:srgbClr val="333B44"/>
                          </a:solidFill>
                          <a:latin typeface="Segoe UI"/>
                        </a:rPr>
                        <a:t>xRegistry artifact registry</a:t>
                      </a:r>
                    </a:p>
                  </a:txBody>
                  <a:tcPr marL="73152" marR="73152" marT="27432" marB="27432" anchor="ctr">
                    <a:solidFill>
                      <a:srgbClr val="F4F6F8"/>
                    </a:solidFill>
                  </a:tcPr>
                </a:tc>
                <a:tc>
                  <a:txBody>
                    <a:bodyPr/>
                    <a:lstStyle/>
                    <a:p>
                      <a:r>
                        <a:rPr sz="1100" b="0" i="0">
                          <a:solidFill>
                            <a:srgbClr val="333B44"/>
                          </a:solidFill>
                          <a:latin typeface="Segoe UI"/>
                        </a:rPr>
                        <a:t>Served layer closure</a:t>
                      </a:r>
                    </a:p>
                  </a:txBody>
                  <a:tcPr marL="73152" marR="73152" marT="27432" marB="27432" anchor="ctr">
                    <a:solidFill>
                      <a:srgbClr val="F4F6F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 — discovery</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A connector starts at one well-known browse path</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1: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51</a:t>
            </a:r>
          </a:p>
        </p:txBody>
      </p:sp>
      <p:sp>
        <p:nvSpPr>
          <p:cNvPr id="8" name="TextBox 7"/>
          <p:cNvSpPr txBox="1"/>
          <p:nvPr/>
        </p:nvSpPr>
        <p:spPr>
          <a:xfrm>
            <a:off x="685800" y="1591056"/>
            <a:ext cx="10820095" cy="384048"/>
          </a:xfrm>
          <a:prstGeom prst="rect">
            <a:avLst/>
          </a:prstGeom>
          <a:noFill/>
        </p:spPr>
        <p:txBody>
          <a:bodyPr wrap="square" lIns="0" rIns="0" tIns="0" bIns="0">
            <a:spAutoFit/>
          </a:bodyPr>
          <a:lstStyle/>
          <a:p>
            <a:r>
              <a:rPr sz="1300" b="0" i="0">
                <a:solidFill>
                  <a:srgbClr val="333B44"/>
                </a:solidFill>
                <a:latin typeface="Segoe UI"/>
              </a:rPr>
              <a:t>The contract is discoverable before the connector knows the domain model.</a:t>
            </a:r>
          </a:p>
        </p:txBody>
      </p:sp>
      <p:sp>
        <p:nvSpPr>
          <p:cNvPr id="9" name="Rounded Rectangle 8"/>
          <p:cNvSpPr/>
          <p:nvPr/>
        </p:nvSpPr>
        <p:spPr>
          <a:xfrm>
            <a:off x="685800" y="2066544"/>
            <a:ext cx="10820095" cy="3602736"/>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46304" bIns="146304"/>
          <a:lstStyle/>
          <a:p>
            <a:pPr algn="ctr">
              <a:lnSpc>
                <a:spcPct val="106000"/>
              </a:lnSpc>
              <a:spcAft>
                <a:spcPts val="0"/>
              </a:spcAft>
            </a:pPr>
            <a:r>
              <a:rPr sz="1600" b="0" i="0">
                <a:solidFill>
                  <a:srgbClr val="FFFFFF"/>
                </a:solidFill>
                <a:latin typeface="Consolas"/>
              </a:rPr>
              <a:t>Server</a:t>
            </a:r>
          </a:p>
          <a:p>
            <a:pPr>
              <a:lnSpc>
                <a:spcPct val="106000"/>
              </a:lnSpc>
              <a:spcAft>
                <a:spcPts val="0"/>
              </a:spcAft>
            </a:pPr>
            <a:r>
              <a:rPr sz="1600" b="0" i="0">
                <a:solidFill>
                  <a:srgbClr val="FFFFFF"/>
                </a:solidFill>
                <a:latin typeface="Consolas"/>
              </a:rPr>
              <a:t>  OpenUSD : OpenUsdRootType</a:t>
            </a:r>
          </a:p>
          <a:p>
            <a:pPr>
              <a:lnSpc>
                <a:spcPct val="106000"/>
              </a:lnSpc>
              <a:spcAft>
                <a:spcPts val="0"/>
              </a:spcAft>
            </a:pPr>
            <a:r>
              <a:rPr sz="1600" b="0" i="0">
                <a:solidFill>
                  <a:srgbClr val="FFFFFF"/>
                </a:solidFill>
                <a:latin typeface="Consolas"/>
              </a:rPr>
              <a:t>    Stages</a:t>
            </a:r>
          </a:p>
          <a:p>
            <a:pPr>
              <a:lnSpc>
                <a:spcPct val="106000"/>
              </a:lnSpc>
              <a:spcAft>
                <a:spcPts val="0"/>
              </a:spcAft>
            </a:pPr>
            <a:r>
              <a:rPr sz="1600" b="0" i="0">
                <a:solidFill>
                  <a:srgbClr val="FFFFFF"/>
                </a:solidFill>
                <a:latin typeface="Consolas"/>
              </a:rPr>
              <a:t>      PlantStage : OpenUsdStageType</a:t>
            </a:r>
          </a:p>
          <a:p>
            <a:pPr>
              <a:lnSpc>
                <a:spcPct val="106000"/>
              </a:lnSpc>
              <a:spcAft>
                <a:spcPts val="0"/>
              </a:spcAft>
            </a:pPr>
            <a:r>
              <a:rPr sz="1600" b="0" i="0">
                <a:solidFill>
                  <a:srgbClr val="FFFFFF"/>
                </a:solidFill>
                <a:latin typeface="Consolas"/>
              </a:rPr>
              <a:t>    Representations</a:t>
            </a:r>
          </a:p>
          <a:p>
            <a:pPr>
              <a:lnSpc>
                <a:spcPct val="106000"/>
              </a:lnSpc>
              <a:spcAft>
                <a:spcPts val="0"/>
              </a:spcAft>
            </a:pPr>
            <a:r>
              <a:rPr sz="1600" b="0" i="0">
                <a:solidFill>
                  <a:srgbClr val="FFFFFF"/>
                </a:solidFill>
                <a:latin typeface="Consolas"/>
              </a:rPr>
              <a:t>      OpenUsdRepresentation : OpenUsdRepresentationType</a:t>
            </a:r>
          </a:p>
          <a:p>
            <a:pPr>
              <a:lnSpc>
                <a:spcPct val="106000"/>
              </a:lnSpc>
              <a:spcAft>
                <a:spcPts val="0"/>
              </a:spcAft>
            </a:pPr>
            <a:r>
              <a:rPr sz="1600" b="0" i="0">
                <a:solidFill>
                  <a:srgbClr val="FFFFFF"/>
                </a:solidFill>
                <a:latin typeface="Consolas"/>
              </a:rPr>
              <a:t>        Stage = PlantStage</a:t>
            </a:r>
          </a:p>
          <a:p>
            <a:pPr>
              <a:lnSpc>
                <a:spcPct val="106000"/>
              </a:lnSpc>
              <a:spcAft>
                <a:spcPts val="0"/>
              </a:spcAft>
            </a:pPr>
            <a:r>
              <a:rPr sz="1600" b="0" i="0">
                <a:solidFill>
                  <a:srgbClr val="FFFFFF"/>
                </a:solidFill>
                <a:latin typeface="Consolas"/>
              </a:rPr>
              <a:t>        PrimPath = /Plant/Pumps/P101</a:t>
            </a:r>
          </a:p>
          <a:p>
            <a:pPr>
              <a:lnSpc>
                <a:spcPct val="106000"/>
              </a:lnSpc>
              <a:spcAft>
                <a:spcPts val="0"/>
              </a:spcAft>
            </a:pPr>
            <a:r>
              <a:rPr sz="1600" b="0" i="0">
                <a:solidFill>
                  <a:srgbClr val="FFFFFF"/>
                </a:solidFill>
                <a:latin typeface="Consolas"/>
              </a:rPr>
              <a:t>        Speed : OpenUsdValueChangeBindingType</a:t>
            </a:r>
          </a:p>
          <a:p>
            <a:pPr>
              <a:lnSpc>
                <a:spcPct val="106000"/>
              </a:lnSpc>
              <a:spcAft>
                <a:spcPts val="0"/>
              </a:spcAft>
            </a:pPr>
            <a:r>
              <a:rPr sz="1600" b="0" i="0">
                <a:solidFill>
                  <a:srgbClr val="FFFFFF"/>
                </a:solidFill>
                <a:latin typeface="Consolas"/>
              </a:rPr>
              <a:t>        Alarm : OpenUsdAlarmBindingType</a:t>
            </a:r>
          </a:p>
        </p:txBody>
      </p:sp>
      <p:sp>
        <p:nvSpPr>
          <p:cNvPr id="10" name="TextBox 9"/>
          <p:cNvSpPr txBox="1"/>
          <p:nvPr/>
        </p:nvSpPr>
        <p:spPr>
          <a:xfrm>
            <a:off x="685800" y="5779008"/>
            <a:ext cx="10820095" cy="365760"/>
          </a:xfrm>
          <a:prstGeom prst="rect">
            <a:avLst/>
          </a:prstGeom>
          <a:noFill/>
        </p:spPr>
        <p:txBody>
          <a:bodyPr wrap="square" lIns="0" rIns="0" tIns="0" bIns="0">
            <a:spAutoFit/>
          </a:bodyPr>
          <a:lstStyle/>
          <a:p>
            <a:r>
              <a:rPr sz="1200" b="0" i="0">
                <a:solidFill>
                  <a:srgbClr val="333B44"/>
                </a:solidFill>
                <a:latin typeface="Segoe UI"/>
              </a:rPr>
              <a:t>Representation gives identity; child bindings give value, alarm or command intent.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 — safe binding</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The mapping is explicit, typed by intent and fail-closed where it controls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1: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Sources resolve by NodeId, RelativePath or semantic id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Targets name a stage, prim path, property and USD type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Connectors do not fall back to nearest prims or compatible names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Commands require a command subtype, authorization and connector opt-in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Asset bytes can be streamed as Part 5 files and digest-verified</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A generic connector can be portable without guessing.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Working-group draft under OPC Foundation review</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1: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53</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Specification banner: </a:t>
            </a:r>
            <a:r>
              <a:rPr sz="1700" b="1" i="0">
                <a:solidFill>
                  <a:srgbClr val="002B49"/>
                </a:solidFill>
                <a:latin typeface="Segoe UI"/>
              </a:rPr>
              <a:t>Release 0.6.0 — Draft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body: OPC Foundation companion-model review</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Review repository: </a:t>
            </a:r>
            <a:r>
              <a:rPr sz="1600" b="1" i="0">
                <a:solidFill>
                  <a:srgbClr val="002B49"/>
                </a:solidFill>
                <a:latin typeface="Consolas"/>
              </a:rPr>
              <a:t>OPCF-Members/spec-drafts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 path: </a:t>
            </a:r>
            <a:r>
              <a:rPr sz="1600" b="1" i="0">
                <a:solidFill>
                  <a:srgbClr val="002B49"/>
                </a:solidFill>
                <a:latin typeface="Consolas"/>
              </a:rPr>
              <a:t>metaverse-specs/openusd-binding/OPC-UA-OpenUSD-Bindings.md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Reference implementation: </a:t>
            </a:r>
            <a:r>
              <a:rPr sz="1600" b="1" i="0">
                <a:solidFill>
                  <a:srgbClr val="002B49"/>
                </a:solidFill>
                <a:latin typeface="Consolas"/>
              </a:rPr>
              <a:t>src/Opc.Ua.OpenUsd*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Demos: </a:t>
            </a:r>
            <a:r>
              <a:rPr sz="1700" b="1" i="0">
                <a:solidFill>
                  <a:srgbClr val="002B49"/>
                </a:solidFill>
                <a:latin typeface="Segoe UI"/>
              </a:rPr>
              <a:t>2</a:t>
            </a:r>
            <a:r>
              <a:rPr sz="1700" b="1" i="0">
                <a:solidFill>
                  <a:srgbClr val="002B49"/>
                </a:solidFill>
                <a:latin typeface="Segoe UI"/>
              </a:rPr>
              <a:t> robot cell and </a:t>
            </a:r>
            <a:r>
              <a:rPr sz="1700" b="1" i="0">
                <a:solidFill>
                  <a:srgbClr val="002B49"/>
                </a:solidFill>
                <a:latin typeface="Segoe UI"/>
              </a:rPr>
              <a:t>3</a:t>
            </a:r>
            <a:r>
              <a:rPr sz="1700" b="1" i="0">
                <a:solidFill>
                  <a:srgbClr val="002B49"/>
                </a:solidFill>
                <a:latin typeface="Segoe UI"/>
              </a:rPr>
              <a:t> pump/site composition</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Open questions are the reserved profiles: Actions, PubSub and domain USD schemas.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scene materialization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OPC UA can point at a USD stage, but cannot browse the scene itself</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2: Scene Materialization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54</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composed USD scene is usually opaque to OPC UA clients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Prims, attributes and relationships are not native OPC UA nodes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Time-varying USD attributes need subscriptions and history</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.usd</a:t>
            </a:r>
            <a:r>
              <a:rPr sz="1700" b="1" i="0">
                <a:solidFill>
                  <a:srgbClr val="002B49"/>
                </a:solidFill>
                <a:latin typeface="Segoe UI"/>
              </a:rPr>
              <a:t> conversion needs a lossless composed-scene contract</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gap is a scene graph that OPC UA clients can read as OPC UA.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 — scene, not binding</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The OpenUSD model becomes OPC UA nodes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2: Scene Materialization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55</a:t>
            </a:r>
          </a:p>
        </p:txBody>
      </p:sp>
      <p:sp>
        <p:nvSpPr>
          <p:cNvPr id="8" name="Rectangle 7"/>
          <p:cNvSpPr/>
          <p:nvPr/>
        </p:nvSpPr>
        <p:spPr>
          <a:xfrm>
            <a:off x="685800" y="1591056"/>
            <a:ext cx="54864" cy="274320"/>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591056"/>
            <a:ext cx="5058003" cy="310896"/>
          </a:xfrm>
          <a:prstGeom prst="rect">
            <a:avLst/>
          </a:prstGeom>
          <a:noFill/>
        </p:spPr>
        <p:txBody>
          <a:bodyPr wrap="square" lIns="0" rIns="0" tIns="0" bIns="0">
            <a:spAutoFit/>
          </a:bodyPr>
          <a:lstStyle/>
          <a:p>
            <a:r>
              <a:rPr sz="1500" b="1" i="0">
                <a:solidFill>
                  <a:srgbClr val="002B49"/>
                </a:solidFill>
                <a:latin typeface="Segoe UI Semibold"/>
              </a:rPr>
              <a:t>Part 1 — Binding</a:t>
            </a:r>
          </a:p>
        </p:txBody>
      </p:sp>
      <p:sp>
        <p:nvSpPr>
          <p:cNvPr id="10" name="TextBox 9"/>
          <p:cNvSpPr txBox="1"/>
          <p:nvPr/>
        </p:nvSpPr>
        <p:spPr>
          <a:xfrm>
            <a:off x="685800" y="2011680"/>
            <a:ext cx="5204307" cy="4114800"/>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External USD stage</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OPC UA carries which prim/attribute a value maps to</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Connector writes into a USD sink</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Depends on xRegistry for artifact delivery</a:t>
            </a:r>
          </a:p>
        </p:txBody>
      </p:sp>
      <p:sp>
        <p:nvSpPr>
          <p:cNvPr id="11" name="Rectangle 10"/>
          <p:cNvSpPr/>
          <p:nvPr/>
        </p:nvSpPr>
        <p:spPr>
          <a:xfrm>
            <a:off x="6301587" y="1591056"/>
            <a:ext cx="54864" cy="274320"/>
          </a:xfrm>
          <a:prstGeom prst="rect">
            <a:avLst/>
          </a:prstGeom>
          <a:solidFill>
            <a:srgbClr val="B8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7891" y="1591056"/>
            <a:ext cx="5058003" cy="310896"/>
          </a:xfrm>
          <a:prstGeom prst="rect">
            <a:avLst/>
          </a:prstGeom>
          <a:noFill/>
        </p:spPr>
        <p:txBody>
          <a:bodyPr wrap="square" lIns="0" rIns="0" tIns="0" bIns="0">
            <a:spAutoFit/>
          </a:bodyPr>
          <a:lstStyle/>
          <a:p>
            <a:r>
              <a:rPr sz="1500" b="1" i="0">
                <a:solidFill>
                  <a:srgbClr val="002B49"/>
                </a:solidFill>
                <a:latin typeface="Segoe UI Semibold"/>
              </a:rPr>
              <a:t>Part 2 — Scene</a:t>
            </a:r>
          </a:p>
        </p:txBody>
      </p:sp>
      <p:sp>
        <p:nvSpPr>
          <p:cNvPr id="13" name="TextBox 12"/>
          <p:cNvSpPr txBox="1"/>
          <p:nvPr/>
        </p:nvSpPr>
        <p:spPr>
          <a:xfrm>
            <a:off x="6301587" y="2011680"/>
            <a:ext cx="5204307" cy="4114800"/>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UsdStageType</a:t>
            </a:r>
            <a:r>
              <a:rPr sz="1400" b="1" i="0">
                <a:solidFill>
                  <a:srgbClr val="002B49"/>
                </a:solidFill>
                <a:latin typeface="Segoe UI"/>
              </a:rPr>
              <a:t>, </a:t>
            </a:r>
            <a:r>
              <a:rPr sz="1300" b="1" i="0">
                <a:solidFill>
                  <a:srgbClr val="002B49"/>
                </a:solidFill>
                <a:latin typeface="Consolas"/>
              </a:rPr>
              <a:t>UsdPrimType</a:t>
            </a:r>
            <a:r>
              <a:rPr sz="1400" b="1" i="0">
                <a:solidFill>
                  <a:srgbClr val="002B49"/>
                </a:solidFill>
                <a:latin typeface="Segoe UI"/>
              </a:rPr>
              <a:t>, </a:t>
            </a:r>
            <a:r>
              <a:rPr sz="1300" b="1" i="0">
                <a:solidFill>
                  <a:srgbClr val="002B49"/>
                </a:solidFill>
                <a:latin typeface="Consolas"/>
              </a:rPr>
              <a:t>UsdAttributeType</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Relationships, composition arcs and variants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Typed schemas as ObjectType subtypes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Client browses, subscribes or exports </a:t>
            </a:r>
            <a:r>
              <a:rPr sz="1300" b="1" i="0">
                <a:solidFill>
                  <a:srgbClr val="002B49"/>
                </a:solidFill>
                <a:latin typeface="Consolas"/>
              </a:rPr>
              <a:t>.usd</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Self-contained on base OPC UA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 — materialized tree</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Browsing the Server is browsing the composed stage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2: Scene Materialization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56</a:t>
            </a:r>
          </a:p>
        </p:txBody>
      </p:sp>
      <p:sp>
        <p:nvSpPr>
          <p:cNvPr id="8" name="TextBox 7"/>
          <p:cNvSpPr txBox="1"/>
          <p:nvPr/>
        </p:nvSpPr>
        <p:spPr>
          <a:xfrm>
            <a:off x="685800" y="1591056"/>
            <a:ext cx="10820095" cy="384048"/>
          </a:xfrm>
          <a:prstGeom prst="rect">
            <a:avLst/>
          </a:prstGeom>
          <a:noFill/>
        </p:spPr>
        <p:txBody>
          <a:bodyPr wrap="square" lIns="0" rIns="0" tIns="0" bIns="0">
            <a:spAutoFit/>
          </a:bodyPr>
          <a:lstStyle/>
          <a:p>
            <a:r>
              <a:rPr sz="1300" b="0" i="0">
                <a:solidFill>
                  <a:srgbClr val="333B44"/>
                </a:solidFill>
                <a:latin typeface="Segoe UI"/>
              </a:rPr>
              <a:t>The prim hierarchy becomes the OPC UA </a:t>
            </a:r>
            <a:r>
              <a:rPr sz="1200" b="0" i="0">
                <a:solidFill>
                  <a:srgbClr val="002B49"/>
                </a:solidFill>
                <a:latin typeface="Consolas"/>
              </a:rPr>
              <a:t>HasComponent</a:t>
            </a:r>
            <a:r>
              <a:rPr sz="1300" b="0" i="0">
                <a:solidFill>
                  <a:srgbClr val="333B44"/>
                </a:solidFill>
                <a:latin typeface="Segoe UI"/>
              </a:rPr>
              <a:t> hierarchy.</a:t>
            </a:r>
          </a:p>
        </p:txBody>
      </p:sp>
      <p:sp>
        <p:nvSpPr>
          <p:cNvPr id="9" name="Rounded Rectangle 8"/>
          <p:cNvSpPr/>
          <p:nvPr/>
        </p:nvSpPr>
        <p:spPr>
          <a:xfrm>
            <a:off x="685800" y="2066544"/>
            <a:ext cx="10820095" cy="3602736"/>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46304" bIns="146304"/>
          <a:lstStyle/>
          <a:p>
            <a:pPr algn="ctr">
              <a:lnSpc>
                <a:spcPct val="106000"/>
              </a:lnSpc>
              <a:spcAft>
                <a:spcPts val="0"/>
              </a:spcAft>
            </a:pPr>
            <a:r>
              <a:rPr sz="1600" b="0" i="0">
                <a:solidFill>
                  <a:srgbClr val="FFFFFF"/>
                </a:solidFill>
                <a:latin typeface="Consolas"/>
              </a:rPr>
              <a:t>UsdStageType  (Server/OpenUSD/Stages/&lt;stage&gt;)</a:t>
            </a:r>
          </a:p>
          <a:p>
            <a:pPr>
              <a:lnSpc>
                <a:spcPct val="106000"/>
              </a:lnSpc>
              <a:spcAft>
                <a:spcPts val="0"/>
              </a:spcAft>
            </a:pPr>
            <a:r>
              <a:rPr sz="1600" b="0" i="0">
                <a:solidFill>
                  <a:srgbClr val="FFFFFF"/>
                </a:solidFill>
                <a:latin typeface="Consolas"/>
              </a:rPr>
              <a:t>  DefaultPrim, UpAxis, MetersPerUnit</a:t>
            </a:r>
          </a:p>
          <a:p>
            <a:pPr>
              <a:lnSpc>
                <a:spcPct val="106000"/>
              </a:lnSpc>
              <a:spcAft>
                <a:spcPts val="0"/>
              </a:spcAft>
            </a:pPr>
            <a:r>
              <a:rPr sz="1600" b="0" i="0">
                <a:solidFill>
                  <a:srgbClr val="FFFFFF"/>
                </a:solidFill>
                <a:latin typeface="Consolas"/>
              </a:rPr>
              <a:t>  &lt;Prim&gt; : UsdPrimType / UsdGeom...Type</a:t>
            </a:r>
          </a:p>
          <a:p>
            <a:pPr>
              <a:lnSpc>
                <a:spcPct val="106000"/>
              </a:lnSpc>
              <a:spcAft>
                <a:spcPts val="0"/>
              </a:spcAft>
            </a:pPr>
            <a:r>
              <a:rPr sz="1600" b="0" i="0">
                <a:solidFill>
                  <a:srgbClr val="FFFFFF"/>
                </a:solidFill>
                <a:latin typeface="Consolas"/>
              </a:rPr>
              <a:t>    &lt;ChildPrim&gt; : UsdPrimType</a:t>
            </a:r>
          </a:p>
          <a:p>
            <a:pPr>
              <a:lnSpc>
                <a:spcPct val="106000"/>
              </a:lnSpc>
              <a:spcAft>
                <a:spcPts val="0"/>
              </a:spcAft>
            </a:pPr>
            <a:r>
              <a:rPr sz="1600" b="0" i="0">
                <a:solidFill>
                  <a:srgbClr val="FFFFFF"/>
                </a:solidFill>
                <a:latin typeface="Consolas"/>
              </a:rPr>
              <a:t>    &lt;Attribute&gt; : UsdAttributeType</a:t>
            </a:r>
          </a:p>
          <a:p>
            <a:pPr>
              <a:lnSpc>
                <a:spcPct val="106000"/>
              </a:lnSpc>
              <a:spcAft>
                <a:spcPts val="0"/>
              </a:spcAft>
            </a:pPr>
            <a:r>
              <a:rPr sz="1600" b="0" i="0">
                <a:solidFill>
                  <a:srgbClr val="FFFFFF"/>
                </a:solidFill>
                <a:latin typeface="Consolas"/>
              </a:rPr>
              <a:t>    &lt;Relationship&gt; : UsdRelationshipType</a:t>
            </a:r>
          </a:p>
          <a:p>
            <a:pPr>
              <a:lnSpc>
                <a:spcPct val="106000"/>
              </a:lnSpc>
              <a:spcAft>
                <a:spcPts val="0"/>
              </a:spcAft>
            </a:pPr>
            <a:r>
              <a:rPr sz="1600" b="0" i="0">
                <a:solidFill>
                  <a:srgbClr val="FFFFFF"/>
                </a:solidFill>
                <a:latin typeface="Consolas"/>
              </a:rPr>
              <a:t>    AppliedSchemas/ : UsdApiSchemaType AddIns</a:t>
            </a:r>
          </a:p>
          <a:p>
            <a:pPr>
              <a:lnSpc>
                <a:spcPct val="106000"/>
              </a:lnSpc>
              <a:spcAft>
                <a:spcPts val="0"/>
              </a:spcAft>
            </a:pPr>
            <a:r>
              <a:rPr sz="1600" b="0" i="0">
                <a:solidFill>
                  <a:srgbClr val="FFFFFF"/>
                </a:solidFill>
                <a:latin typeface="Consolas"/>
              </a:rPr>
              <a:t>    Composition/ : UsdCompositionArcType</a:t>
            </a:r>
          </a:p>
          <a:p>
            <a:pPr>
              <a:lnSpc>
                <a:spcPct val="106000"/>
              </a:lnSpc>
              <a:spcAft>
                <a:spcPts val="0"/>
              </a:spcAft>
            </a:pPr>
            <a:r>
              <a:rPr sz="1600" b="0" i="0">
                <a:solidFill>
                  <a:srgbClr val="FFFFFF"/>
                </a:solidFill>
                <a:latin typeface="Consolas"/>
              </a:rPr>
              <a:t>    VariantSets/ : UsdVariantSetType</a:t>
            </a:r>
          </a:p>
        </p:txBody>
      </p:sp>
      <p:sp>
        <p:nvSpPr>
          <p:cNvPr id="10" name="TextBox 9"/>
          <p:cNvSpPr txBox="1"/>
          <p:nvPr/>
        </p:nvSpPr>
        <p:spPr>
          <a:xfrm>
            <a:off x="685800" y="5779008"/>
            <a:ext cx="10820095" cy="365760"/>
          </a:xfrm>
          <a:prstGeom prst="rect">
            <a:avLst/>
          </a:prstGeom>
          <a:noFill/>
        </p:spPr>
        <p:txBody>
          <a:bodyPr wrap="square" lIns="0" rIns="0" tIns="0" bIns="0">
            <a:spAutoFit/>
          </a:bodyPr>
          <a:lstStyle/>
          <a:p>
            <a:r>
              <a:rPr sz="1200" b="0" i="0">
                <a:solidFill>
                  <a:srgbClr val="333B44"/>
                </a:solidFill>
                <a:latin typeface="Segoe UI"/>
              </a:rPr>
              <a:t>Unknown schemas and value types are retained, not dropped.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 — conversion and live data</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The contract is composed-scene lossless, not layer-stack lossless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2: Scene Materialization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57</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Import creates nodes from the composed prim tree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Export maps nodes back to a flattened composed </a:t>
            </a:r>
            <a:r>
              <a:rPr sz="1600" b="1" i="0">
                <a:solidFill>
                  <a:srgbClr val="002B49"/>
                </a:solidFill>
                <a:latin typeface="Consolas"/>
              </a:rPr>
              <a:t>.usd</a:t>
            </a:r>
            <a:r>
              <a:rPr sz="1700" b="1" i="0">
                <a:solidFill>
                  <a:srgbClr val="002B49"/>
                </a:solidFill>
                <a:latin typeface="Segoe UI"/>
              </a:rPr>
              <a:t> layer</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UsdTypeName</a:t>
            </a:r>
            <a:r>
              <a:rPr sz="1700" b="1" i="0">
                <a:solidFill>
                  <a:srgbClr val="002B49"/>
                </a:solidFill>
                <a:latin typeface="Segoe UI"/>
              </a:rPr>
              <a:t> preserves the exact USD value type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Live attributes are ordinary Variables with optional history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Part 1 bindings may target materialized attribute Variables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model preserves the composed scene while exposing OPC UA semantics.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Working-group draft under OPC Foundation review</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OpenUSD — Part 2: Scene Materialization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58</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Specification banner: </a:t>
            </a:r>
            <a:r>
              <a:rPr sz="1700" b="1" i="0">
                <a:solidFill>
                  <a:srgbClr val="002B49"/>
                </a:solidFill>
                <a:latin typeface="Segoe UI"/>
              </a:rPr>
              <a:t>Release 0.4.0 — Draft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body: OPC Foundation companion-model review</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Review repository: </a:t>
            </a:r>
            <a:r>
              <a:rPr sz="1600" b="1" i="0">
                <a:solidFill>
                  <a:srgbClr val="002B49"/>
                </a:solidFill>
                <a:latin typeface="Consolas"/>
              </a:rPr>
              <a:t>OPCF-Members/spec-drafts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 path: </a:t>
            </a:r>
            <a:r>
              <a:rPr sz="1600" b="1" i="0">
                <a:solidFill>
                  <a:srgbClr val="002B49"/>
                </a:solidFill>
                <a:latin typeface="Consolas"/>
              </a:rPr>
              <a:t>metaverse-specs/openusd-scene/OPC-UA-OpenUSD-Scene-Materialization.md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Reference implementation: </a:t>
            </a:r>
            <a:r>
              <a:rPr sz="1600" b="1" i="0">
                <a:solidFill>
                  <a:srgbClr val="002B49"/>
                </a:solidFill>
                <a:latin typeface="Consolas"/>
              </a:rPr>
              <a:t>src/Opc.Ua.OpenUsdScene*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Demos: </a:t>
            </a:r>
            <a:r>
              <a:rPr sz="1700" b="1" i="0">
                <a:solidFill>
                  <a:srgbClr val="002B49"/>
                </a:solidFill>
                <a:latin typeface="Segoe UI"/>
              </a:rPr>
              <a:t>2</a:t>
            </a:r>
            <a:r>
              <a:rPr sz="1700" b="1" i="0">
                <a:solidFill>
                  <a:srgbClr val="002B49"/>
                </a:solidFill>
                <a:latin typeface="Segoe UI"/>
              </a:rPr>
              <a:t> robot cell and </a:t>
            </a:r>
            <a:r>
              <a:rPr sz="1700" b="1" i="0">
                <a:solidFill>
                  <a:srgbClr val="002B49"/>
                </a:solidFill>
                <a:latin typeface="Segoe UI"/>
              </a:rPr>
              <a:t>3</a:t>
            </a:r>
            <a:r>
              <a:rPr sz="1700" b="1" i="0">
                <a:solidFill>
                  <a:srgbClr val="002B49"/>
                </a:solidFill>
                <a:latin typeface="Segoe UI"/>
              </a:rPr>
              <a:t> pump/site composition</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Open questions are value clips, layer editing and full domain-schema surfaces.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3 — Pump USD and composition</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Device server owns pumps; site server owns composition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demos — Pump USD and composition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59</a:t>
            </a:r>
          </a:p>
        </p:txBody>
      </p:sp>
      <p:sp>
        <p:nvSpPr>
          <p:cNvPr id="8" name="Rounded Rectangle 7"/>
          <p:cNvSpPr/>
          <p:nvPr/>
        </p:nvSpPr>
        <p:spPr>
          <a:xfrm>
            <a:off x="9631376" y="466344"/>
            <a:ext cx="1874519" cy="310896"/>
          </a:xfrm>
          <a:prstGeom prst="round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RUNS ON master</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Several live pumps appear in one stage</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The site shell comes from a separate server</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Federation follows a component endpoint</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USD composition replaces a bespoke aggregator</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PumpDeviceIntegrationServer publishes PumpType machines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SiteCompositionServer publishes the site shell</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OpenUSD connector runs with --federate</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Viewer renders the composed site</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pwsh decks\demos\03-pump-usd-composition\run-demo.ps1</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OpenUSD Part 1 and Part 2 let machines and sites compose through declared USD relationships instead of through a custom aggregation service.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Vision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OPC UA can orchestrate vision work, but it does not standardize what the camera concluded</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Vision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60</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OPC 40100-1 leaves result content </a:t>
            </a:r>
            <a:r>
              <a:rPr sz="1700" b="1" i="0">
                <a:solidFill>
                  <a:srgbClr val="002B49"/>
                </a:solidFill>
                <a:latin typeface="Segoe UI"/>
              </a:rPr>
              <a:t>application-specific</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A verdict, a measurement, and a detection have no shared payload shape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OPC 40100-2 models lenses and lamps, not the image sensor's data</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OPC 40010-1 has no vision, camera, perception or calibration types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 OPC UA model describes the AI artefact that interpreted the image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Two conformant Servers can still be mutually unintelligible</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problem is not getting pixels; it is publishing the meaning of those pixels.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One root describes sensors, media, calibration, inference pipelines, results and feedback</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Vision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61</a:t>
            </a:r>
          </a:p>
        </p:txBody>
      </p:sp>
      <p:sp>
        <p:nvSpPr>
          <p:cNvPr id="8" name="Rounded Rectangle 7"/>
          <p:cNvSpPr/>
          <p:nvPr/>
        </p:nvSpPr>
        <p:spPr>
          <a:xfrm>
            <a:off x="4472833" y="1591056"/>
            <a:ext cx="3246028" cy="566928"/>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Segoe UI"/>
              </a:rPr>
              <a:t>VisionRootType</a:t>
            </a:r>
          </a:p>
          <a:p>
            <a:pPr algn="ctr">
              <a:spcBef>
                <a:spcPts val="100"/>
              </a:spcBef>
            </a:pPr>
            <a:r>
              <a:rPr sz="1000" b="0" i="0">
                <a:solidFill>
                  <a:srgbClr val="FFFFFF"/>
                </a:solidFill>
                <a:latin typeface="Segoe UI"/>
              </a:rPr>
              <a:t>well-known </a:t>
            </a:r>
            <a:r>
              <a:rPr sz="900" b="0" i="0">
                <a:solidFill>
                  <a:srgbClr val="002B49"/>
                </a:solidFill>
                <a:latin typeface="Consolas"/>
              </a:rPr>
              <a:t>Server/Vision</a:t>
            </a:r>
          </a:p>
        </p:txBody>
      </p:sp>
      <p:sp>
        <p:nvSpPr>
          <p:cNvPr id="9" name="Rounded Rectangle 8"/>
          <p:cNvSpPr/>
          <p:nvPr/>
        </p:nvSpPr>
        <p:spPr>
          <a:xfrm>
            <a:off x="1046469" y="2535936"/>
            <a:ext cx="2795191" cy="755904"/>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VisionSensorType</a:t>
            </a:r>
          </a:p>
          <a:p>
            <a:pPr algn="ctr">
              <a:spcBef>
                <a:spcPts val="100"/>
              </a:spcBef>
            </a:pPr>
            <a:r>
              <a:rPr sz="1000" b="0" i="0">
                <a:solidFill>
                  <a:srgbClr val="002B49"/>
                </a:solidFill>
                <a:latin typeface="Segoe UI"/>
              </a:rPr>
              <a:t>ImageSensorType · Depth3DSensorType</a:t>
            </a:r>
          </a:p>
        </p:txBody>
      </p:sp>
      <p:sp>
        <p:nvSpPr>
          <p:cNvPr id="10" name="Rounded Rectangle 9"/>
          <p:cNvSpPr/>
          <p:nvPr/>
        </p:nvSpPr>
        <p:spPr>
          <a:xfrm>
            <a:off x="1046469" y="3934358"/>
            <a:ext cx="2795191" cy="755904"/>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002B49"/>
                </a:solidFill>
                <a:latin typeface="Segoe UI"/>
              </a:rPr>
              <a:t>VisionMediaManagementType</a:t>
            </a:r>
          </a:p>
          <a:p>
            <a:pPr algn="ctr">
              <a:spcBef>
                <a:spcPts val="100"/>
              </a:spcBef>
            </a:pPr>
            <a:r>
              <a:rPr sz="1000" b="0" i="0">
                <a:solidFill>
                  <a:srgbClr val="002B49"/>
                </a:solidFill>
                <a:latin typeface="Segoe UI"/>
              </a:rPr>
              <a:t>StreamEndpointType · ClipEndpointType</a:t>
            </a:r>
          </a:p>
        </p:txBody>
      </p:sp>
      <p:sp>
        <p:nvSpPr>
          <p:cNvPr id="11" name="Rounded Rectangle 10"/>
          <p:cNvSpPr/>
          <p:nvPr/>
        </p:nvSpPr>
        <p:spPr>
          <a:xfrm>
            <a:off x="4698251" y="3934358"/>
            <a:ext cx="2795191" cy="755904"/>
          </a:xfrm>
          <a:prstGeom prst="roundRect">
            <a:avLst/>
          </a:prstGeom>
          <a:solidFill>
            <a:srgbClr val="5B3E96"/>
          </a:solidFill>
          <a:ln w="9525">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Segoe UI"/>
              </a:rPr>
              <a:t>CoordinateFrameType</a:t>
            </a:r>
          </a:p>
          <a:p>
            <a:pPr algn="ctr">
              <a:spcBef>
                <a:spcPts val="100"/>
              </a:spcBef>
            </a:pPr>
            <a:r>
              <a:rPr sz="1000" b="0" i="0">
                <a:solidFill>
                  <a:srgbClr val="FFFFFF"/>
                </a:solidFill>
                <a:latin typeface="Segoe UI"/>
              </a:rPr>
              <a:t>Intrinsic · Extrinsic calibration</a:t>
            </a:r>
          </a:p>
        </p:txBody>
      </p:sp>
      <p:sp>
        <p:nvSpPr>
          <p:cNvPr id="12" name="Rounded Rectangle 11"/>
          <p:cNvSpPr/>
          <p:nvPr/>
        </p:nvSpPr>
        <p:spPr>
          <a:xfrm>
            <a:off x="8350033" y="2535936"/>
            <a:ext cx="2795191" cy="755904"/>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Segoe UI"/>
              </a:rPr>
              <a:t>InferencePipelineType</a:t>
            </a:r>
          </a:p>
          <a:p>
            <a:pPr algn="ctr">
              <a:spcBef>
                <a:spcPts val="100"/>
              </a:spcBef>
            </a:pPr>
            <a:r>
              <a:rPr sz="1000" b="0" i="0">
                <a:solidFill>
                  <a:srgbClr val="FFFFFF"/>
                </a:solidFill>
                <a:latin typeface="Segoe UI"/>
              </a:rPr>
              <a:t>Deployment is a </a:t>
            </a:r>
            <a:r>
              <a:rPr sz="900" b="0" i="0">
                <a:solidFill>
                  <a:srgbClr val="002B49"/>
                </a:solidFill>
                <a:latin typeface="Consolas"/>
              </a:rPr>
              <a:t>NodeId</a:t>
            </a:r>
          </a:p>
        </p:txBody>
      </p:sp>
      <p:sp>
        <p:nvSpPr>
          <p:cNvPr id="13" name="Rounded Rectangle 12"/>
          <p:cNvSpPr/>
          <p:nvPr/>
        </p:nvSpPr>
        <p:spPr>
          <a:xfrm>
            <a:off x="8350033" y="3934358"/>
            <a:ext cx="2795191" cy="755904"/>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002B49"/>
                </a:solidFill>
                <a:latin typeface="Segoe UI"/>
              </a:rPr>
              <a:t>VisionResultType</a:t>
            </a:r>
          </a:p>
          <a:p>
            <a:pPr algn="ctr">
              <a:spcBef>
                <a:spcPts val="100"/>
              </a:spcBef>
            </a:pPr>
            <a:r>
              <a:rPr sz="1000" b="0" i="0">
                <a:solidFill>
                  <a:srgbClr val="002B49"/>
                </a:solidFill>
                <a:latin typeface="Segoe UI"/>
              </a:rPr>
              <a:t>Inspection · Detection · Segmentation</a:t>
            </a:r>
          </a:p>
        </p:txBody>
      </p:sp>
      <p:sp>
        <p:nvSpPr>
          <p:cNvPr id="14" name="Rounded Rectangle 13"/>
          <p:cNvSpPr/>
          <p:nvPr/>
        </p:nvSpPr>
        <p:spPr>
          <a:xfrm>
            <a:off x="4698251" y="5181600"/>
            <a:ext cx="2795191" cy="604723"/>
          </a:xfrm>
          <a:prstGeom prst="roundRect">
            <a:avLst/>
          </a:prstGeom>
          <a:solidFill>
            <a:srgbClr val="F4F6F8"/>
          </a:solidFill>
          <a:ln w="9525">
            <a:solidFill>
              <a:srgbClr val="F4F6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333B44"/>
                </a:solidFill>
                <a:latin typeface="Segoe UI"/>
              </a:rPr>
              <a:t>VisionFeedbackType</a:t>
            </a:r>
          </a:p>
          <a:p>
            <a:pPr algn="ctr">
              <a:spcBef>
                <a:spcPts val="100"/>
              </a:spcBef>
            </a:pPr>
            <a:r>
              <a:rPr sz="1000" b="0" i="0">
                <a:solidFill>
                  <a:srgbClr val="333B44"/>
                </a:solidFill>
                <a:latin typeface="Segoe UI"/>
              </a:rPr>
              <a:t>corrections flow back</a:t>
            </a:r>
          </a:p>
        </p:txBody>
      </p:sp>
      <p:cxnSp>
        <p:nvCxnSpPr>
          <p:cNvPr id="15" name="Connector 14"/>
          <p:cNvCxnSpPr>
            <a:stCxn id="8" idx="1"/>
            <a:endCxn id="9" idx="3"/>
          </p:cNvCxnSpPr>
          <p:nvPr/>
        </p:nvCxnSpPr>
        <p:spPr>
          <a:xfrm flipH="1">
            <a:off x="3841660" y="1874520"/>
            <a:ext cx="631173" cy="1039368"/>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a:stCxn id="8" idx="3"/>
            <a:endCxn id="12" idx="1"/>
          </p:cNvCxnSpPr>
          <p:nvPr/>
        </p:nvCxnSpPr>
        <p:spPr>
          <a:xfrm>
            <a:off x="7718861" y="1874520"/>
            <a:ext cx="631172" cy="1039368"/>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9" idx="2"/>
            <a:endCxn id="10" idx="0"/>
          </p:cNvCxnSpPr>
          <p:nvPr/>
        </p:nvCxnSpPr>
        <p:spPr>
          <a:xfrm>
            <a:off x="2444064" y="3291840"/>
            <a:ext cx="0" cy="642518"/>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12" idx="2"/>
            <a:endCxn id="13" idx="0"/>
          </p:cNvCxnSpPr>
          <p:nvPr/>
        </p:nvCxnSpPr>
        <p:spPr>
          <a:xfrm>
            <a:off x="9747628" y="3291840"/>
            <a:ext cx="0" cy="642518"/>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9" idx="3"/>
            <a:endCxn id="11" idx="1"/>
          </p:cNvCxnSpPr>
          <p:nvPr/>
        </p:nvCxnSpPr>
        <p:spPr>
          <a:xfrm>
            <a:off x="3841660" y="2913888"/>
            <a:ext cx="856591" cy="1398422"/>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3" idx="1"/>
            <a:endCxn id="14" idx="3"/>
          </p:cNvCxnSpPr>
          <p:nvPr/>
        </p:nvCxnSpPr>
        <p:spPr>
          <a:xfrm flipH="1">
            <a:off x="7493442" y="4312310"/>
            <a:ext cx="856591" cy="1171651"/>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5914826"/>
            <a:ext cx="10820095" cy="365760"/>
          </a:xfrm>
          <a:prstGeom prst="rect">
            <a:avLst/>
          </a:prstGeom>
          <a:noFill/>
        </p:spPr>
        <p:txBody>
          <a:bodyPr wrap="square" lIns="0" rIns="0" tIns="0" bIns="0">
            <a:spAutoFit/>
          </a:bodyPr>
          <a:lstStyle/>
          <a:p>
            <a:pPr algn="ctr"/>
            <a:r>
              <a:rPr sz="1100" b="0" i="1">
                <a:solidFill>
                  <a:srgbClr val="6B7480"/>
                </a:solidFill>
                <a:latin typeface="Segoe UI"/>
              </a:rPr>
              <a:t>The AI model lives in AI Model Management; Vision points to its deployment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The media plane is brokered by OPC UA; it is not the OPC UA payload</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Vision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conforming Server exposes exactly one </a:t>
            </a:r>
            <a:r>
              <a:rPr sz="1600" b="1" i="0">
                <a:solidFill>
                  <a:srgbClr val="002B49"/>
                </a:solidFill>
                <a:latin typeface="Consolas"/>
              </a:rPr>
              <a:t>Server/Vision</a:t>
            </a:r>
            <a:r>
              <a:rPr sz="1700" b="1" i="0">
                <a:solidFill>
                  <a:srgbClr val="002B49"/>
                </a:solidFill>
                <a:latin typeface="Segoe UI"/>
              </a:rPr>
              <a:t> root</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Sensors</a:t>
            </a:r>
            <a:r>
              <a:rPr sz="1700" b="1" i="0">
                <a:solidFill>
                  <a:srgbClr val="002B49"/>
                </a:solidFill>
                <a:latin typeface="Segoe UI"/>
              </a:rPr>
              <a:t> is mandatory; </a:t>
            </a:r>
            <a:r>
              <a:rPr sz="1600" b="1" i="0">
                <a:solidFill>
                  <a:srgbClr val="002B49"/>
                </a:solidFill>
                <a:latin typeface="Consolas"/>
              </a:rPr>
              <a:t>Pipelines</a:t>
            </a:r>
            <a:r>
              <a:rPr sz="1700" b="1" i="0">
                <a:solidFill>
                  <a:srgbClr val="002B49"/>
                </a:solidFill>
                <a:latin typeface="Segoe UI"/>
              </a:rPr>
              <a:t> and </a:t>
            </a:r>
            <a:r>
              <a:rPr sz="1600" b="1" i="0">
                <a:solidFill>
                  <a:srgbClr val="002B49"/>
                </a:solidFill>
                <a:latin typeface="Consolas"/>
              </a:rPr>
              <a:t>Frames</a:t>
            </a:r>
            <a:r>
              <a:rPr sz="1700" b="1" i="0">
                <a:solidFill>
                  <a:srgbClr val="002B49"/>
                </a:solidFill>
                <a:latin typeface="Segoe UI"/>
              </a:rPr>
              <a:t> are optional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Media defaults to </a:t>
            </a:r>
            <a:r>
              <a:rPr sz="1700" b="1" i="0">
                <a:solidFill>
                  <a:srgbClr val="002B49"/>
                </a:solidFill>
                <a:latin typeface="Segoe UI"/>
              </a:rPr>
              <a:t>RTSP</a:t>
            </a:r>
            <a:r>
              <a:rPr sz="1700" b="1" i="0">
                <a:solidFill>
                  <a:srgbClr val="002B49"/>
                </a:solidFill>
                <a:latin typeface="Segoe UI"/>
              </a:rPr>
              <a:t> streams and </a:t>
            </a:r>
            <a:r>
              <a:rPr sz="1700" b="1" i="0">
                <a:solidFill>
                  <a:srgbClr val="002B49"/>
                </a:solidFill>
                <a:latin typeface="Segoe UI"/>
              </a:rPr>
              <a:t>JPEG</a:t>
            </a:r>
            <a:r>
              <a:rPr sz="1700" b="1" i="0">
                <a:solidFill>
                  <a:srgbClr val="002B49"/>
                </a:solidFill>
                <a:latin typeface="Segoe UI"/>
              </a:rPr>
              <a:t> clips</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GetStreamEndpoint</a:t>
            </a:r>
            <a:r>
              <a:rPr sz="1700" b="1" i="0">
                <a:solidFill>
                  <a:srgbClr val="002B49"/>
                </a:solidFill>
                <a:latin typeface="Segoe UI"/>
              </a:rPr>
              <a:t> leases a URI; </a:t>
            </a:r>
            <a:r>
              <a:rPr sz="1600" b="1" i="0">
                <a:solidFill>
                  <a:srgbClr val="002B49"/>
                </a:solidFill>
                <a:latin typeface="Consolas"/>
              </a:rPr>
              <a:t>ReleaseStreamEndpoint</a:t>
            </a:r>
            <a:r>
              <a:rPr sz="1700" b="1" i="0">
                <a:solidFill>
                  <a:srgbClr val="002B49"/>
                </a:solidFill>
                <a:latin typeface="Segoe UI"/>
              </a:rPr>
              <a:t> is idempotent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Inline clips and Data Channels are optional facets, not the default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Results carry frames, calibration context and a provenance path to the model</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OPC UA describes, authorizes and correlates media; the bulk bytes normally travel elsewhere.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Working-group draft 0.1.0; Demo 9 is a walkthrough, not an implementation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Vision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63</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a:t>
            </a:r>
            <a:r>
              <a:rPr sz="1700" b="1" i="0">
                <a:solidFill>
                  <a:srgbClr val="002B49"/>
                </a:solidFill>
                <a:latin typeface="Segoe UI"/>
              </a:rPr>
              <a:t>Release 0.1.0 — working-group draft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OPC Foundation companion model, provisional and not endorsed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Path: </a:t>
            </a:r>
            <a:r>
              <a:rPr sz="1600" b="1" i="0">
                <a:solidFill>
                  <a:srgbClr val="002B49"/>
                </a:solidFill>
                <a:latin typeface="Consolas"/>
              </a:rPr>
              <a:t>metaverse-specs/vision/OPC-UA-Vision.md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NodeSet: </a:t>
            </a:r>
            <a:r>
              <a:rPr sz="1600" b="1" i="0">
                <a:solidFill>
                  <a:srgbClr val="002B49"/>
                </a:solidFill>
                <a:latin typeface="Consolas"/>
              </a:rPr>
              <a:t>Opc.Ua.Vision.NodeSet2.xml</a:t>
            </a:r>
            <a:r>
              <a:rPr sz="1700" b="1" i="0">
                <a:solidFill>
                  <a:srgbClr val="002B49"/>
                </a:solidFill>
                <a:latin typeface="Segoe UI"/>
              </a:rPr>
              <a:t>; base OPC UA is the only required model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recipes and normative interop dependencies remain out of scope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 </a:t>
            </a:r>
            <a:r>
              <a:rPr sz="1700" b="1" i="0">
                <a:solidFill>
                  <a:srgbClr val="002B49"/>
                </a:solidFill>
                <a:latin typeface="Segoe UI"/>
              </a:rPr>
              <a:t>9 — Vision</a:t>
            </a:r>
            <a:r>
              <a:rPr sz="1700" b="1" i="0">
                <a:solidFill>
                  <a:srgbClr val="002B49"/>
                </a:solidFill>
                <a:latin typeface="Segoe UI"/>
              </a:rPr>
              <a:t> is a walkthrough only; no stack implementation yet</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draft is the semantic contract for a future implementation, not running code today.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9 — Vision</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Camera, media, model and result shape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Vision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64</a:t>
            </a:r>
          </a:p>
        </p:txBody>
      </p:sp>
      <p:sp>
        <p:nvSpPr>
          <p:cNvPr id="8" name="Rounded Rectangle 7"/>
          <p:cNvSpPr/>
          <p:nvPr/>
        </p:nvSpPr>
        <p:spPr>
          <a:xfrm>
            <a:off x="9631376" y="466344"/>
            <a:ext cx="1874519" cy="310896"/>
          </a:xfrm>
          <a:prstGeom prst="roundRect">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WALKTHROUGH ONLY</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Sensor is physical or simulated by property</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Media is brokered by endpoint references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Pipeline points at an AI deployment</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Results have standard OPC UA shapes</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metaverse-specs\vision\OPC-UA-Vision.md</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metaverse-specs\vision\Opc.Ua.Vision.NodeSet2.xml</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core-specs\data-channels\OPC-UA-Data-Channels.md</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metaverse-specs\ai-model-management</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decks\demos\09-vision\README.md</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Vision needs a standard result model, not only a camera job coordinator.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Robot Intent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OPC UA Robotics describes a robot, but gives a client no portable motion verbs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Robot Intent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65</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OPC 40010-1 describes topology, axes, drives, controller and safety states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It defines </a:t>
            </a:r>
            <a:r>
              <a:rPr sz="1700" b="1" i="0">
                <a:solidFill>
                  <a:srgbClr val="002B49"/>
                </a:solidFill>
                <a:latin typeface="Segoe UI"/>
              </a:rPr>
              <a:t>no motion verbs</a:t>
            </a:r>
            <a:r>
              <a:rPr sz="1700" b="1" i="0">
                <a:solidFill>
                  <a:srgbClr val="002B49"/>
                </a:solidFill>
                <a:latin typeface="Segoe UI"/>
              </a:rPr>
              <a:t> beyond </a:t>
            </a:r>
            <a:r>
              <a:rPr sz="1600" b="1" i="0">
                <a:solidFill>
                  <a:srgbClr val="002B49"/>
                </a:solidFill>
                <a:latin typeface="Consolas"/>
              </a:rPr>
              <a:t>Start</a:t>
            </a:r>
            <a:r>
              <a:rPr sz="1700" b="1" i="0">
                <a:solidFill>
                  <a:srgbClr val="002B49"/>
                </a:solidFill>
                <a:latin typeface="Segoe UI"/>
              </a:rPr>
              <a:t>, </a:t>
            </a:r>
            <a:r>
              <a:rPr sz="1600" b="1" i="0">
                <a:solidFill>
                  <a:srgbClr val="002B49"/>
                </a:solidFill>
                <a:latin typeface="Consolas"/>
              </a:rPr>
              <a:t>Stop</a:t>
            </a:r>
            <a:r>
              <a:rPr sz="1700" b="1" i="0">
                <a:solidFill>
                  <a:srgbClr val="002B49"/>
                </a:solidFill>
                <a:latin typeface="Segoe UI"/>
              </a:rPr>
              <a:t> and program loading</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Every integrator writes vendor motion code for the same cell tasks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blocking Method loses the outcome if the Session drops mid-task</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pick or path can run for minutes; a </a:t>
            </a:r>
            <a:r>
              <a:rPr sz="1600" b="1" i="0">
                <a:solidFill>
                  <a:srgbClr val="002B49"/>
                </a:solidFill>
                <a:latin typeface="Consolas"/>
              </a:rPr>
              <a:t>Call</a:t>
            </a:r>
            <a:r>
              <a:rPr sz="1700" b="1" i="0">
                <a:solidFill>
                  <a:srgbClr val="002B49"/>
                </a:solidFill>
                <a:latin typeface="Segoe UI"/>
              </a:rPr>
              <a:t> cannot be the lifecycle</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missing primitive is a portable task request with an observable lifetime.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Intents are DataTypes; execution is represented as Part 10 program instances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Robot Intent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66</a:t>
            </a:r>
          </a:p>
        </p:txBody>
      </p:sp>
      <p:graphicFrame>
        <p:nvGraphicFramePr>
          <p:cNvPr id="8" name="Table 7"/>
          <p:cNvGraphicFramePr>
            <a:graphicFrameLocks noGrp="1"/>
          </p:cNvGraphicFramePr>
          <p:nvPr/>
        </p:nvGraphicFramePr>
        <p:xfrm>
          <a:off x="685800" y="1591056"/>
          <a:ext cx="10820094" cy="3072384"/>
        </p:xfrm>
        <a:graphic>
          <a:graphicData uri="http://schemas.openxmlformats.org/drawingml/2006/table">
            <a:tbl>
              <a:tblPr firstRow="1" bandRow="1">
                <a:tableStyleId>{5C22544A-7EE6-4342-B048-85BDC9FD1C3A}</a:tableStyleId>
              </a:tblPr>
              <a:tblGrid>
                <a:gridCol w="3678832"/>
                <a:gridCol w="3678832"/>
                <a:gridCol w="3462430"/>
              </a:tblGrid>
              <a:tr h="384048">
                <a:tc>
                  <a:txBody>
                    <a:bodyPr/>
                    <a:lstStyle/>
                    <a:p>
                      <a:r>
                        <a:rPr sz="1100" b="1" i="0">
                          <a:solidFill>
                            <a:srgbClr val="FFFFFF"/>
                          </a:solidFill>
                          <a:latin typeface="Segoe UI Semibold"/>
                        </a:rPr>
                        <a:t>Model element</a:t>
                      </a:r>
                    </a:p>
                  </a:txBody>
                  <a:tcPr marL="73152" marR="73152" anchor="ctr">
                    <a:solidFill>
                      <a:srgbClr val="5B3E96"/>
                    </a:solidFill>
                  </a:tcPr>
                </a:tc>
                <a:tc>
                  <a:txBody>
                    <a:bodyPr/>
                    <a:lstStyle/>
                    <a:p>
                      <a:r>
                        <a:rPr sz="1100" b="1" i="0">
                          <a:solidFill>
                            <a:srgbClr val="FFFFFF"/>
                          </a:solidFill>
                          <a:latin typeface="Segoe UI Semibold"/>
                        </a:rPr>
                        <a:t>Role</a:t>
                      </a:r>
                    </a:p>
                  </a:txBody>
                  <a:tcPr marL="73152" marR="73152" anchor="ctr">
                    <a:solidFill>
                      <a:srgbClr val="5B3E96"/>
                    </a:solidFill>
                  </a:tcPr>
                </a:tc>
                <a:tc>
                  <a:txBody>
                    <a:bodyPr/>
                    <a:lstStyle/>
                    <a:p>
                      <a:r>
                        <a:rPr sz="1100" b="1" i="0">
                          <a:solidFill>
                            <a:srgbClr val="FFFFFF"/>
                          </a:solidFill>
                          <a:latin typeface="Segoe UI Semibold"/>
                        </a:rPr>
                        <a:t>Key point</a:t>
                      </a:r>
                    </a:p>
                  </a:txBody>
                  <a:tcPr marL="73152" marR="73152" anchor="ctr">
                    <a:solidFill>
                      <a:srgbClr val="5B3E96"/>
                    </a:solidFill>
                  </a:tcPr>
                </a:tc>
              </a:tr>
              <a:tr h="384048">
                <a:tc>
                  <a:txBody>
                    <a:bodyPr/>
                    <a:lstStyle/>
                    <a:p>
                      <a:r>
                        <a:rPr sz="1000" b="0" i="0">
                          <a:solidFill>
                            <a:srgbClr val="002B49"/>
                          </a:solidFill>
                          <a:latin typeface="Consolas"/>
                        </a:rPr>
                        <a:t>RobotIntentRootType</a:t>
                      </a:r>
                    </a:p>
                  </a:txBody>
                  <a:tcPr marL="73152" marR="73152" marT="27432" marB="27432" anchor="ctr">
                    <a:solidFill>
                      <a:srgbClr val="FFFFFF"/>
                    </a:solidFill>
                  </a:tcPr>
                </a:tc>
                <a:tc>
                  <a:txBody>
                    <a:bodyPr/>
                    <a:lstStyle/>
                    <a:p>
                      <a:r>
                        <a:rPr sz="1100" b="0" i="0">
                          <a:solidFill>
                            <a:srgbClr val="333B44"/>
                          </a:solidFill>
                          <a:latin typeface="Segoe UI"/>
                        </a:rPr>
                        <a:t>Entry point</a:t>
                      </a:r>
                    </a:p>
                  </a:txBody>
                  <a:tcPr marL="73152" marR="73152" marT="27432" marB="27432" anchor="ctr">
                    <a:solidFill>
                      <a:srgbClr val="FFFFFF"/>
                    </a:solidFill>
                  </a:tcPr>
                </a:tc>
                <a:tc>
                  <a:txBody>
                    <a:bodyPr/>
                    <a:lstStyle/>
                    <a:p>
                      <a:r>
                        <a:rPr sz="1000" b="0" i="0">
                          <a:solidFill>
                            <a:srgbClr val="002B49"/>
                          </a:solidFill>
                          <a:latin typeface="Consolas"/>
                        </a:rPr>
                        <a:t>Server/RobotIntent</a:t>
                      </a:r>
                    </a:p>
                  </a:txBody>
                  <a:tcPr marL="73152" marR="73152" marT="27432" marB="27432" anchor="ctr">
                    <a:solidFill>
                      <a:srgbClr val="FFFFFF"/>
                    </a:solidFill>
                  </a:tcPr>
                </a:tc>
              </a:tr>
              <a:tr h="384048">
                <a:tc>
                  <a:txBody>
                    <a:bodyPr/>
                    <a:lstStyle/>
                    <a:p>
                      <a:r>
                        <a:rPr sz="1000" b="0" i="0">
                          <a:solidFill>
                            <a:srgbClr val="002B49"/>
                          </a:solidFill>
                          <a:latin typeface="Consolas"/>
                        </a:rPr>
                        <a:t>IntentControllerType</a:t>
                      </a:r>
                    </a:p>
                  </a:txBody>
                  <a:tcPr marL="73152" marR="73152" marT="27432" marB="27432" anchor="ctr">
                    <a:solidFill>
                      <a:srgbClr val="F4F6F8"/>
                    </a:solidFill>
                  </a:tcPr>
                </a:tc>
                <a:tc>
                  <a:txBody>
                    <a:bodyPr/>
                    <a:lstStyle/>
                    <a:p>
                      <a:r>
                        <a:rPr sz="1100" b="0" i="0">
                          <a:solidFill>
                            <a:srgbClr val="333B44"/>
                          </a:solidFill>
                          <a:latin typeface="Segoe UI"/>
                        </a:rPr>
                        <a:t>One controllable robot</a:t>
                      </a:r>
                    </a:p>
                  </a:txBody>
                  <a:tcPr marL="73152" marR="73152" marT="27432" marB="27432" anchor="ctr">
                    <a:solidFill>
                      <a:srgbClr val="F4F6F8"/>
                    </a:solidFill>
                  </a:tcPr>
                </a:tc>
                <a:tc>
                  <a:txBody>
                    <a:bodyPr/>
                    <a:lstStyle/>
                    <a:p>
                      <a:r>
                        <a:rPr sz="1100" b="0" i="0">
                          <a:solidFill>
                            <a:srgbClr val="333B44"/>
                          </a:solidFill>
                          <a:latin typeface="Segoe UI"/>
                        </a:rPr>
                        <a:t>Capabilities and Methods</a:t>
                      </a:r>
                    </a:p>
                  </a:txBody>
                  <a:tcPr marL="73152" marR="73152" marT="27432" marB="27432" anchor="ctr">
                    <a:solidFill>
                      <a:srgbClr val="F4F6F8"/>
                    </a:solidFill>
                  </a:tcPr>
                </a:tc>
              </a:tr>
              <a:tr h="384048">
                <a:tc>
                  <a:txBody>
                    <a:bodyPr/>
                    <a:lstStyle/>
                    <a:p>
                      <a:r>
                        <a:rPr sz="1000" b="0" i="0">
                          <a:solidFill>
                            <a:srgbClr val="002B49"/>
                          </a:solidFill>
                          <a:latin typeface="Consolas"/>
                        </a:rPr>
                        <a:t>IntentDataType</a:t>
                      </a:r>
                    </a:p>
                  </a:txBody>
                  <a:tcPr marL="73152" marR="73152" marT="27432" marB="27432" anchor="ctr">
                    <a:solidFill>
                      <a:srgbClr val="FFFFFF"/>
                    </a:solidFill>
                  </a:tcPr>
                </a:tc>
                <a:tc>
                  <a:txBody>
                    <a:bodyPr/>
                    <a:lstStyle/>
                    <a:p>
                      <a:r>
                        <a:rPr sz="1100" b="0" i="0">
                          <a:solidFill>
                            <a:srgbClr val="333B44"/>
                          </a:solidFill>
                          <a:latin typeface="Segoe UI"/>
                        </a:rPr>
                        <a:t>Abstract request</a:t>
                      </a:r>
                    </a:p>
                  </a:txBody>
                  <a:tcPr marL="73152" marR="73152" marT="27432" marB="27432" anchor="ctr">
                    <a:solidFill>
                      <a:srgbClr val="FFFFFF"/>
                    </a:solidFill>
                  </a:tcPr>
                </a:tc>
                <a:tc>
                  <a:txBody>
                    <a:bodyPr/>
                    <a:lstStyle/>
                    <a:p>
                      <a:r>
                        <a:rPr sz="1100" b="0" i="0">
                          <a:solidFill>
                            <a:srgbClr val="333B44"/>
                          </a:solidFill>
                          <a:latin typeface="Segoe UI"/>
                        </a:rPr>
                        <a:t>One hierarchy of verbs</a:t>
                      </a:r>
                    </a:p>
                  </a:txBody>
                  <a:tcPr marL="73152" marR="73152" marT="27432" marB="27432" anchor="ctr">
                    <a:solidFill>
                      <a:srgbClr val="FFFFFF"/>
                    </a:solidFill>
                  </a:tcPr>
                </a:tc>
              </a:tr>
              <a:tr h="384048">
                <a:tc>
                  <a:txBody>
                    <a:bodyPr/>
                    <a:lstStyle/>
                    <a:p>
                      <a:r>
                        <a:rPr sz="1000" b="0" i="0">
                          <a:solidFill>
                            <a:srgbClr val="002B49"/>
                          </a:solidFill>
                          <a:latin typeface="Consolas"/>
                        </a:rPr>
                        <a:t>IntentOperationType</a:t>
                      </a:r>
                    </a:p>
                  </a:txBody>
                  <a:tcPr marL="73152" marR="73152" marT="27432" marB="27432" anchor="ctr">
                    <a:solidFill>
                      <a:srgbClr val="F4F6F8"/>
                    </a:solidFill>
                  </a:tcPr>
                </a:tc>
                <a:tc>
                  <a:txBody>
                    <a:bodyPr/>
                    <a:lstStyle/>
                    <a:p>
                      <a:r>
                        <a:rPr sz="1100" b="0" i="0">
                          <a:solidFill>
                            <a:srgbClr val="333B44"/>
                          </a:solidFill>
                          <a:latin typeface="Segoe UI"/>
                        </a:rPr>
                        <a:t>One submitted intent</a:t>
                      </a:r>
                    </a:p>
                  </a:txBody>
                  <a:tcPr marL="73152" marR="73152" marT="27432" marB="27432" anchor="ctr">
                    <a:solidFill>
                      <a:srgbClr val="F4F6F8"/>
                    </a:solidFill>
                  </a:tcPr>
                </a:tc>
                <a:tc>
                  <a:txBody>
                    <a:bodyPr/>
                    <a:lstStyle/>
                    <a:p>
                      <a:r>
                        <a:rPr sz="1100" b="0" i="0">
                          <a:solidFill>
                            <a:srgbClr val="333B44"/>
                          </a:solidFill>
                          <a:latin typeface="Segoe UI"/>
                        </a:rPr>
                        <a:t>Part 10 lifecycle</a:t>
                      </a:r>
                    </a:p>
                  </a:txBody>
                  <a:tcPr marL="73152" marR="73152" marT="27432" marB="27432" anchor="ctr">
                    <a:solidFill>
                      <a:srgbClr val="F4F6F8"/>
                    </a:solidFill>
                  </a:tcPr>
                </a:tc>
              </a:tr>
              <a:tr h="384048">
                <a:tc>
                  <a:txBody>
                    <a:bodyPr/>
                    <a:lstStyle/>
                    <a:p>
                      <a:r>
                        <a:rPr sz="1000" b="0" i="0">
                          <a:solidFill>
                            <a:srgbClr val="002B49"/>
                          </a:solidFill>
                          <a:latin typeface="Consolas"/>
                        </a:rPr>
                        <a:t>MissionType</a:t>
                      </a:r>
                    </a:p>
                  </a:txBody>
                  <a:tcPr marL="73152" marR="73152" marT="27432" marB="27432" anchor="ctr">
                    <a:solidFill>
                      <a:srgbClr val="FFFFFF"/>
                    </a:solidFill>
                  </a:tcPr>
                </a:tc>
                <a:tc>
                  <a:txBody>
                    <a:bodyPr/>
                    <a:lstStyle/>
                    <a:p>
                      <a:r>
                        <a:rPr sz="1100" b="0" i="0">
                          <a:solidFill>
                            <a:srgbClr val="333B44"/>
                          </a:solidFill>
                          <a:latin typeface="Segoe UI"/>
                        </a:rPr>
                        <a:t>Ordered intent set</a:t>
                      </a:r>
                    </a:p>
                  </a:txBody>
                  <a:tcPr marL="73152" marR="73152" marT="27432" marB="27432" anchor="ctr">
                    <a:solidFill>
                      <a:srgbClr val="FFFFFF"/>
                    </a:solidFill>
                  </a:tcPr>
                </a:tc>
                <a:tc>
                  <a:txBody>
                    <a:bodyPr/>
                    <a:lstStyle/>
                    <a:p>
                      <a:r>
                        <a:rPr sz="1100" b="0" i="0">
                          <a:solidFill>
                            <a:srgbClr val="333B44"/>
                          </a:solidFill>
                          <a:latin typeface="Segoe UI"/>
                        </a:rPr>
                        <a:t>Base plus horizon</a:t>
                      </a:r>
                    </a:p>
                  </a:txBody>
                  <a:tcPr marL="73152" marR="73152" marT="27432" marB="27432" anchor="ctr">
                    <a:solidFill>
                      <a:srgbClr val="FFFFFF"/>
                    </a:solidFill>
                  </a:tcPr>
                </a:tc>
              </a:tr>
              <a:tr h="384048">
                <a:tc>
                  <a:txBody>
                    <a:bodyPr/>
                    <a:lstStyle/>
                    <a:p>
                      <a:r>
                        <a:rPr sz="1000" b="0" i="0">
                          <a:solidFill>
                            <a:srgbClr val="002B49"/>
                          </a:solidFill>
                          <a:latin typeface="Consolas"/>
                        </a:rPr>
                        <a:t>SafetyStateType</a:t>
                      </a:r>
                    </a:p>
                  </a:txBody>
                  <a:tcPr marL="73152" marR="73152" marT="27432" marB="27432" anchor="ctr">
                    <a:solidFill>
                      <a:srgbClr val="F4F6F8"/>
                    </a:solidFill>
                  </a:tcPr>
                </a:tc>
                <a:tc>
                  <a:txBody>
                    <a:bodyPr/>
                    <a:lstStyle/>
                    <a:p>
                      <a:r>
                        <a:rPr sz="1100" b="0" i="0">
                          <a:solidFill>
                            <a:srgbClr val="333B44"/>
                          </a:solidFill>
                          <a:latin typeface="Segoe UI"/>
                        </a:rPr>
                        <a:t>Safety awareness</a:t>
                      </a:r>
                    </a:p>
                  </a:txBody>
                  <a:tcPr marL="73152" marR="73152" marT="27432" marB="27432" anchor="ctr">
                    <a:solidFill>
                      <a:srgbClr val="F4F6F8"/>
                    </a:solidFill>
                  </a:tcPr>
                </a:tc>
                <a:tc>
                  <a:txBody>
                    <a:bodyPr/>
                    <a:lstStyle/>
                    <a:p>
                      <a:r>
                        <a:rPr sz="1100" b="0" i="0">
                          <a:solidFill>
                            <a:srgbClr val="333B44"/>
                          </a:solidFill>
                          <a:latin typeface="Segoe UI"/>
                        </a:rPr>
                        <a:t>Read-only reports</a:t>
                      </a:r>
                    </a:p>
                  </a:txBody>
                  <a:tcPr marL="73152" marR="73152" marT="27432" marB="27432" anchor="ctr">
                    <a:solidFill>
                      <a:srgbClr val="F4F6F8"/>
                    </a:solidFill>
                  </a:tcPr>
                </a:tc>
              </a:tr>
              <a:tr h="384048">
                <a:tc>
                  <a:txBody>
                    <a:bodyPr/>
                    <a:lstStyle/>
                    <a:p>
                      <a:r>
                        <a:rPr sz="1000" b="0" i="0">
                          <a:solidFill>
                            <a:srgbClr val="002B49"/>
                          </a:solidFill>
                          <a:latin typeface="Consolas"/>
                        </a:rPr>
                        <a:t>RealTimeChannelType</a:t>
                      </a:r>
                    </a:p>
                  </a:txBody>
                  <a:tcPr marL="73152" marR="73152" marT="27432" marB="27432" anchor="ctr">
                    <a:solidFill>
                      <a:srgbClr val="FFFFFF"/>
                    </a:solidFill>
                  </a:tcPr>
                </a:tc>
                <a:tc>
                  <a:txBody>
                    <a:bodyPr/>
                    <a:lstStyle/>
                    <a:p>
                      <a:r>
                        <a:rPr sz="1100" b="0" i="0">
                          <a:solidFill>
                            <a:srgbClr val="333B44"/>
                          </a:solidFill>
                          <a:latin typeface="Segoe UI"/>
                        </a:rPr>
                        <a:t>High-rate brokerage</a:t>
                      </a:r>
                    </a:p>
                  </a:txBody>
                  <a:tcPr marL="73152" marR="73152" marT="27432" marB="27432" anchor="ctr">
                    <a:solidFill>
                      <a:srgbClr val="FFFFFF"/>
                    </a:solidFill>
                  </a:tcPr>
                </a:tc>
                <a:tc>
                  <a:txBody>
                    <a:bodyPr/>
                    <a:lstStyle/>
                    <a:p>
                      <a:r>
                        <a:rPr sz="1100" b="0" i="0">
                          <a:solidFill>
                            <a:srgbClr val="333B44"/>
                          </a:solidFill>
                          <a:latin typeface="Segoe UI"/>
                        </a:rPr>
                        <a:t>Samples travel elsewhere</a:t>
                      </a:r>
                    </a:p>
                  </a:txBody>
                  <a:tcPr marL="73152" marR="73152" marT="27432" marB="27432" anchor="ctr">
                    <a:solidFill>
                      <a:srgbClr val="FFFF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Submit once, then subscribe to the operation instead of waiting on the Method call</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Robot Intent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67</a:t>
            </a:r>
          </a:p>
        </p:txBody>
      </p:sp>
      <p:sp>
        <p:nvSpPr>
          <p:cNvPr id="8" name="Rounded Rectangle 7"/>
          <p:cNvSpPr/>
          <p:nvPr/>
        </p:nvSpPr>
        <p:spPr>
          <a:xfrm>
            <a:off x="866134" y="2006803"/>
            <a:ext cx="2164019" cy="642518"/>
          </a:xfrm>
          <a:prstGeom prst="roundRect">
            <a:avLst/>
          </a:prstGeom>
          <a:solidFill>
            <a:srgbClr val="002B49"/>
          </a:solidFill>
          <a:ln w="9525">
            <a:solidFill>
              <a:srgbClr val="002B4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Segoe UI"/>
              </a:rPr>
              <a:t>Client</a:t>
            </a:r>
          </a:p>
        </p:txBody>
      </p:sp>
      <p:sp>
        <p:nvSpPr>
          <p:cNvPr id="9" name="Rounded Rectangle 8"/>
          <p:cNvSpPr/>
          <p:nvPr/>
        </p:nvSpPr>
        <p:spPr>
          <a:xfrm>
            <a:off x="4427749" y="1855622"/>
            <a:ext cx="3336195" cy="831494"/>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IntentControllerType</a:t>
            </a:r>
          </a:p>
          <a:p>
            <a:pPr algn="ctr">
              <a:spcBef>
                <a:spcPts val="100"/>
              </a:spcBef>
            </a:pPr>
            <a:r>
              <a:rPr sz="1000" b="0" i="0">
                <a:solidFill>
                  <a:srgbClr val="FFFFFF"/>
                </a:solidFill>
                <a:latin typeface="Segoe UI"/>
              </a:rPr>
              <a:t>RequestControl · SubmitIntent</a:t>
            </a:r>
          </a:p>
        </p:txBody>
      </p:sp>
      <p:sp>
        <p:nvSpPr>
          <p:cNvPr id="10" name="Rounded Rectangle 9"/>
          <p:cNvSpPr/>
          <p:nvPr/>
        </p:nvSpPr>
        <p:spPr>
          <a:xfrm>
            <a:off x="4427749" y="3329635"/>
            <a:ext cx="3336195" cy="831494"/>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IntentOperationType</a:t>
            </a:r>
          </a:p>
          <a:p>
            <a:pPr algn="ctr">
              <a:spcBef>
                <a:spcPts val="100"/>
              </a:spcBef>
            </a:pPr>
            <a:r>
              <a:rPr sz="1000" b="0" i="0">
                <a:solidFill>
                  <a:srgbClr val="FFFFFF"/>
                </a:solidFill>
                <a:latin typeface="Segoe UI"/>
              </a:rPr>
              <a:t>Accepted → Queued → Executing</a:t>
            </a:r>
          </a:p>
        </p:txBody>
      </p:sp>
      <p:sp>
        <p:nvSpPr>
          <p:cNvPr id="11" name="Rounded Rectangle 10"/>
          <p:cNvSpPr/>
          <p:nvPr/>
        </p:nvSpPr>
        <p:spPr>
          <a:xfrm>
            <a:off x="8755787" y="3329635"/>
            <a:ext cx="2479605" cy="831494"/>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Terminal result</a:t>
            </a:r>
          </a:p>
          <a:p>
            <a:pPr algn="ctr">
              <a:spcBef>
                <a:spcPts val="100"/>
              </a:spcBef>
            </a:pPr>
            <a:r>
              <a:rPr sz="1000" b="0" i="0">
                <a:solidFill>
                  <a:srgbClr val="002B49"/>
                </a:solidFill>
                <a:latin typeface="Segoe UI"/>
              </a:rPr>
              <a:t>Succeeded · Failed · Cancelled</a:t>
            </a:r>
          </a:p>
        </p:txBody>
      </p:sp>
      <p:sp>
        <p:nvSpPr>
          <p:cNvPr id="12" name="Rounded Rectangle 11"/>
          <p:cNvSpPr/>
          <p:nvPr/>
        </p:nvSpPr>
        <p:spPr>
          <a:xfrm>
            <a:off x="866134" y="4765852"/>
            <a:ext cx="2705023" cy="680313"/>
          </a:xfrm>
          <a:prstGeom prst="roundRect">
            <a:avLst/>
          </a:prstGeom>
          <a:solidFill>
            <a:srgbClr val="5B3E96"/>
          </a:solidFill>
          <a:ln w="9525">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Segoe UI"/>
              </a:rPr>
              <a:t>SafetyStateType</a:t>
            </a:r>
          </a:p>
          <a:p>
            <a:pPr algn="ctr">
              <a:spcBef>
                <a:spcPts val="100"/>
              </a:spcBef>
            </a:pPr>
            <a:r>
              <a:rPr sz="1000" b="0" i="0">
                <a:solidFill>
                  <a:srgbClr val="FFFFFF"/>
                </a:solidFill>
                <a:latin typeface="Segoe UI"/>
              </a:rPr>
              <a:t>reports limits; refuses excess</a:t>
            </a:r>
          </a:p>
        </p:txBody>
      </p:sp>
      <p:sp>
        <p:nvSpPr>
          <p:cNvPr id="13" name="Rounded Rectangle 12"/>
          <p:cNvSpPr/>
          <p:nvPr/>
        </p:nvSpPr>
        <p:spPr>
          <a:xfrm>
            <a:off x="8530368" y="4765852"/>
            <a:ext cx="2705023" cy="680313"/>
          </a:xfrm>
          <a:prstGeom prst="roundRect">
            <a:avLst/>
          </a:prstGeom>
          <a:solidFill>
            <a:srgbClr val="F4F6F8"/>
          </a:solidFill>
          <a:ln w="9525">
            <a:solidFill>
              <a:srgbClr val="F4F6F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333B44"/>
                </a:solidFill>
                <a:latin typeface="Segoe UI"/>
              </a:rPr>
              <a:t>RealTimeChannelType</a:t>
            </a:r>
          </a:p>
          <a:p>
            <a:pPr algn="ctr">
              <a:spcBef>
                <a:spcPts val="100"/>
              </a:spcBef>
            </a:pPr>
            <a:r>
              <a:rPr sz="1000" b="0" i="0">
                <a:solidFill>
                  <a:srgbClr val="333B44"/>
                </a:solidFill>
                <a:latin typeface="Segoe UI"/>
              </a:rPr>
              <a:t>brokered high-rate path</a:t>
            </a:r>
          </a:p>
        </p:txBody>
      </p:sp>
      <p:cxnSp>
        <p:nvCxnSpPr>
          <p:cNvPr id="14" name="Connector 13"/>
          <p:cNvCxnSpPr>
            <a:stCxn id="8" idx="3"/>
            <a:endCxn id="9" idx="1"/>
          </p:cNvCxnSpPr>
          <p:nvPr/>
        </p:nvCxnSpPr>
        <p:spPr>
          <a:xfrm flipV="1">
            <a:off x="3030153" y="2271369"/>
            <a:ext cx="1397596" cy="56693"/>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951711" y="2125065"/>
            <a:ext cx="1554480" cy="274320"/>
          </a:xfrm>
          <a:prstGeom prst="rect">
            <a:avLst/>
          </a:prstGeom>
          <a:noFill/>
        </p:spPr>
        <p:txBody>
          <a:bodyPr wrap="square" lIns="0" rIns="0" tIns="0" bIns="0">
            <a:spAutoFit/>
          </a:bodyPr>
          <a:lstStyle/>
          <a:p>
            <a:pPr algn="ctr"/>
            <a:r>
              <a:rPr sz="900" b="0" i="1">
                <a:solidFill>
                  <a:srgbClr val="6B7480"/>
                </a:solidFill>
                <a:latin typeface="Segoe UI"/>
              </a:rPr>
              <a:t>SubmitIntent</a:t>
            </a:r>
          </a:p>
        </p:txBody>
      </p:sp>
      <p:cxnSp>
        <p:nvCxnSpPr>
          <p:cNvPr id="16" name="Connector 15"/>
          <p:cNvCxnSpPr>
            <a:stCxn id="9" idx="2"/>
            <a:endCxn id="10" idx="0"/>
          </p:cNvCxnSpPr>
          <p:nvPr/>
        </p:nvCxnSpPr>
        <p:spPr>
          <a:xfrm>
            <a:off x="6095846" y="2687116"/>
            <a:ext cx="0" cy="642519"/>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18606" y="2862071"/>
            <a:ext cx="1554480" cy="274320"/>
          </a:xfrm>
          <a:prstGeom prst="rect">
            <a:avLst/>
          </a:prstGeom>
          <a:noFill/>
        </p:spPr>
        <p:txBody>
          <a:bodyPr wrap="square" lIns="0" rIns="0" tIns="0" bIns="0">
            <a:spAutoFit/>
          </a:bodyPr>
          <a:lstStyle/>
          <a:p>
            <a:pPr algn="ctr"/>
            <a:r>
              <a:rPr sz="900" b="0" i="1">
                <a:solidFill>
                  <a:srgbClr val="6B7480"/>
                </a:solidFill>
                <a:latin typeface="Segoe UI"/>
              </a:rPr>
              <a:t>returns NodeId</a:t>
            </a:r>
          </a:p>
        </p:txBody>
      </p:sp>
      <p:cxnSp>
        <p:nvCxnSpPr>
          <p:cNvPr id="18" name="Connector 17"/>
          <p:cNvCxnSpPr>
            <a:stCxn id="10" idx="3"/>
            <a:endCxn id="11" idx="1"/>
          </p:cNvCxnSpPr>
          <p:nvPr/>
        </p:nvCxnSpPr>
        <p:spPr>
          <a:xfrm>
            <a:off x="7763944" y="3745382"/>
            <a:ext cx="991843" cy="0"/>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82625" y="3599078"/>
            <a:ext cx="1554480" cy="274320"/>
          </a:xfrm>
          <a:prstGeom prst="rect">
            <a:avLst/>
          </a:prstGeom>
          <a:noFill/>
        </p:spPr>
        <p:txBody>
          <a:bodyPr wrap="square" lIns="0" rIns="0" tIns="0" bIns="0">
            <a:spAutoFit/>
          </a:bodyPr>
          <a:lstStyle/>
          <a:p>
            <a:pPr algn="ctr"/>
            <a:r>
              <a:rPr sz="900" b="0" i="1">
                <a:solidFill>
                  <a:srgbClr val="6B7480"/>
                </a:solidFill>
                <a:latin typeface="Segoe UI"/>
              </a:rPr>
              <a:t>observe</a:t>
            </a:r>
          </a:p>
        </p:txBody>
      </p:sp>
      <p:cxnSp>
        <p:nvCxnSpPr>
          <p:cNvPr id="20" name="Connector 19"/>
          <p:cNvCxnSpPr>
            <a:stCxn id="12" idx="0"/>
            <a:endCxn id="9" idx="2"/>
          </p:cNvCxnSpPr>
          <p:nvPr/>
        </p:nvCxnSpPr>
        <p:spPr>
          <a:xfrm flipV="1">
            <a:off x="2218645" y="2687116"/>
            <a:ext cx="3877201" cy="2078736"/>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a:stCxn id="9" idx="2"/>
            <a:endCxn id="13" idx="0"/>
          </p:cNvCxnSpPr>
          <p:nvPr/>
        </p:nvCxnSpPr>
        <p:spPr>
          <a:xfrm>
            <a:off x="6095846" y="2687116"/>
            <a:ext cx="3787033" cy="2078736"/>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5786323"/>
            <a:ext cx="10820095" cy="365760"/>
          </a:xfrm>
          <a:prstGeom prst="rect">
            <a:avLst/>
          </a:prstGeom>
          <a:noFill/>
        </p:spPr>
        <p:txBody>
          <a:bodyPr wrap="square" lIns="0" rIns="0" tIns="0" bIns="0">
            <a:spAutoFit/>
          </a:bodyPr>
          <a:lstStyle/>
          <a:p>
            <a:pPr algn="ctr"/>
            <a:r>
              <a:rPr sz="1100" b="0" i="1">
                <a:solidFill>
                  <a:srgbClr val="6B7480"/>
                </a:solidFill>
                <a:latin typeface="Segoe UI"/>
              </a:rPr>
              <a:t>Refusals are structured operation outputs, not vague transport failures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The safety boundary</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The interface is safety-aware, but it is explicitly not safety-rated</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Robot Intent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68</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 Method in this model is a safety function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Safety-rated control stays in the independent safety system</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SafetyStateType</a:t>
            </a:r>
            <a:r>
              <a:rPr sz="1700" b="1" i="0">
                <a:solidFill>
                  <a:srgbClr val="002B49"/>
                </a:solidFill>
                <a:latin typeface="Segoe UI"/>
              </a:rPr>
              <a:t> reports active limits and stop conditions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Submission is allowed only in </a:t>
            </a:r>
            <a:r>
              <a:rPr sz="1600" b="1" i="0">
                <a:solidFill>
                  <a:srgbClr val="002B49"/>
                </a:solidFill>
                <a:latin typeface="Consolas"/>
              </a:rPr>
              <a:t>Automatic</a:t>
            </a:r>
            <a:r>
              <a:rPr sz="1700" b="1" i="0">
                <a:solidFill>
                  <a:srgbClr val="002B49"/>
                </a:solidFill>
                <a:latin typeface="Segoe UI"/>
              </a:rPr>
              <a:t> or </a:t>
            </a:r>
            <a:r>
              <a:rPr sz="1600" b="1" i="0">
                <a:solidFill>
                  <a:srgbClr val="002B49"/>
                </a:solidFill>
                <a:latin typeface="Consolas"/>
              </a:rPr>
              <a:t>AutomaticExternal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Server refuses work that would exceed an enforced safe limit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High-rate servo loops use a brokered channel, never repeated submissions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model reports what the safety system enforces; it does not replace that system.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Working-group draft 0.1.0; implemented in the OPC UA .NET Standard stack</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Robot Intent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69</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a:t>
            </a:r>
            <a:r>
              <a:rPr sz="1700" b="1" i="0">
                <a:solidFill>
                  <a:srgbClr val="002B49"/>
                </a:solidFill>
                <a:latin typeface="Segoe UI"/>
              </a:rPr>
              <a:t>Release 0.1.0 — working-group draft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OPC Foundation companion model, provisional and not endorsed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Path: </a:t>
            </a:r>
            <a:r>
              <a:rPr sz="1600" b="1" i="0">
                <a:solidFill>
                  <a:srgbClr val="002B49"/>
                </a:solidFill>
                <a:latin typeface="Consolas"/>
              </a:rPr>
              <a:t>metaverse-specs/robot-intent/OPC-UA-Robot-Intent.md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Stack: </a:t>
            </a:r>
            <a:r>
              <a:rPr sz="1600" b="1" i="0">
                <a:solidFill>
                  <a:srgbClr val="002B49"/>
                </a:solidFill>
                <a:latin typeface="Consolas"/>
              </a:rPr>
              <a:t>docs/Robotics.md</a:t>
            </a:r>
            <a:r>
              <a:rPr sz="1700" b="1" i="0">
                <a:solidFill>
                  <a:srgbClr val="002B49"/>
                </a:solidFill>
                <a:latin typeface="Segoe UI"/>
              </a:rPr>
              <a:t>, </a:t>
            </a:r>
            <a:r>
              <a:rPr sz="1600" b="1" i="0">
                <a:solidFill>
                  <a:srgbClr val="002B49"/>
                </a:solidFill>
                <a:latin typeface="Consolas"/>
              </a:rPr>
              <a:t>src/Opc.Ua.Robotics*</a:t>
            </a:r>
            <a:r>
              <a:rPr sz="1700" b="1" i="0">
                <a:solidFill>
                  <a:srgbClr val="002B49"/>
                </a:solidFill>
                <a:latin typeface="Segoe UI"/>
              </a:rPr>
              <a:t>, </a:t>
            </a:r>
            <a:r>
              <a:rPr sz="1600" b="1" i="0">
                <a:solidFill>
                  <a:srgbClr val="002B49"/>
                </a:solidFill>
                <a:latin typeface="Consolas"/>
              </a:rPr>
              <a:t>samples/Robotics/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high-rate payloads are brokered; safety remains external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Demos: </a:t>
            </a:r>
            <a:r>
              <a:rPr sz="1700" b="1" i="0">
                <a:solidFill>
                  <a:srgbClr val="002B49"/>
                </a:solidFill>
                <a:latin typeface="Segoe UI"/>
              </a:rPr>
              <a:t>2</a:t>
            </a:r>
            <a:r>
              <a:rPr sz="1700" b="1" i="0">
                <a:solidFill>
                  <a:srgbClr val="002B49"/>
                </a:solidFill>
                <a:latin typeface="Segoe UI"/>
              </a:rPr>
              <a:t> robot + USD, and </a:t>
            </a:r>
            <a:r>
              <a:rPr sz="1700" b="1" i="0">
                <a:solidFill>
                  <a:srgbClr val="002B49"/>
                </a:solidFill>
                <a:latin typeface="Segoe UI"/>
              </a:rPr>
              <a:t>5</a:t>
            </a:r>
            <a:r>
              <a:rPr sz="1700" b="1" i="0">
                <a:solidFill>
                  <a:srgbClr val="002B49"/>
                </a:solidFill>
                <a:latin typeface="Segoe UI"/>
              </a:rPr>
              <a:t> robot intent viewer plus MCP</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This one is not only prose: the stack has server, client and sample support.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2 — Robot with GPOS/RSL and USD</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One robot server composes Robotics, RSL, GPOS and OpenUSD</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demos — Robot with GPOS/RSL and USD</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70</a:t>
            </a:r>
          </a:p>
        </p:txBody>
      </p:sp>
      <p:sp>
        <p:nvSpPr>
          <p:cNvPr id="8" name="Rounded Rectangle 7"/>
          <p:cNvSpPr/>
          <p:nvPr/>
        </p:nvSpPr>
        <p:spPr>
          <a:xfrm>
            <a:off x="9631376" y="466344"/>
            <a:ext cx="1874519" cy="310896"/>
          </a:xfrm>
          <a:prstGeom prst="round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RUNS ON master</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Two mobile robots move in the OpenUSD viewport</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RSL frames drive robot-relative transforms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GPOS values drive global location attributes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The connector uses no robot-specific bridge</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MinimalRobotServer publishes the robot cell</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Opc.Ua.Positioning supplies RSL and GPOS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Opc.Ua.OpenUsd.Connector renders the stage</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OpenUSD viewer shows live subscribed values</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pwsh decks\demos\02-robot-gpos-rsl-usd\run-demo.ps1</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OpenUSD bindings and scene materialization can make a companion-model robot cell visible directly from OPC UA, with RSL and GPOS providing the pose context.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5 — robot intent viewer plus MCP</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Task-level robot commands with a live viewer</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Robot Intent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71</a:t>
            </a:r>
          </a:p>
        </p:txBody>
      </p:sp>
      <p:sp>
        <p:nvSpPr>
          <p:cNvPr id="8" name="Rounded Rectangle 7"/>
          <p:cNvSpPr/>
          <p:nvPr/>
        </p:nvSpPr>
        <p:spPr>
          <a:xfrm>
            <a:off x="9631376" y="466344"/>
            <a:ext cx="1874519" cy="310896"/>
          </a:xfrm>
          <a:prstGeom prst="round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RUNS ON master</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Intent robot publishes frames, tools and target locations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Viewer discovers facets and tracks Part 10 operations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MCP tools submit the same task intent</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Safety and authority refusals are visible outcomes</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samples\Robotics\IntentEnabledRobot</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samples\Robotics\IntentViewerClient</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tools\Opc.Ua.Mcp</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Robot Intent draft NodeSet and client APIs</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pwsh decks\demos\05-robot-intent-viewer-mcp\run-demo.ps1</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Robot Intent commands OPC 40010 robots through RI-Interop-40010 without duplicating topology.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AI Model Management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OPC UA has no standard answer to which model produced a decision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AI Model Management and Inference</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An industrial AI model is an operator-supplied artefact, not firmware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same equipment runs different models over its life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OPC UA cannot say what it was trained on or who promoted it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It cannot say where inference runs or whether plant data leaves the site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Six months later, an auditor still needs the provenance chain</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missing answer is: which model produced this result, and can I audit it?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Model, dataset, deployment, source, job and catalogue become address-space objects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AI Model Management and Inference</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73</a:t>
            </a:r>
          </a:p>
        </p:txBody>
      </p:sp>
      <p:graphicFrame>
        <p:nvGraphicFramePr>
          <p:cNvPr id="8" name="Table 7"/>
          <p:cNvGraphicFramePr>
            <a:graphicFrameLocks noGrp="1"/>
          </p:cNvGraphicFramePr>
          <p:nvPr/>
        </p:nvGraphicFramePr>
        <p:xfrm>
          <a:off x="685800" y="1591056"/>
          <a:ext cx="10820093" cy="3072384"/>
        </p:xfrm>
        <a:graphic>
          <a:graphicData uri="http://schemas.openxmlformats.org/drawingml/2006/table">
            <a:tbl>
              <a:tblPr firstRow="1" bandRow="1">
                <a:tableStyleId>{5C22544A-7EE6-4342-B048-85BDC9FD1C3A}</a:tableStyleId>
              </a:tblPr>
              <a:tblGrid>
                <a:gridCol w="3354229"/>
                <a:gridCol w="4544439"/>
                <a:gridCol w="2921425"/>
              </a:tblGrid>
              <a:tr h="384048">
                <a:tc>
                  <a:txBody>
                    <a:bodyPr/>
                    <a:lstStyle/>
                    <a:p>
                      <a:r>
                        <a:rPr sz="1100" b="1" i="0">
                          <a:solidFill>
                            <a:srgbClr val="FFFFFF"/>
                          </a:solidFill>
                          <a:latin typeface="Segoe UI Semibold"/>
                        </a:rPr>
                        <a:t>Type</a:t>
                      </a:r>
                    </a:p>
                  </a:txBody>
                  <a:tcPr marL="73152" marR="73152" anchor="ctr">
                    <a:solidFill>
                      <a:srgbClr val="5B3E96"/>
                    </a:solidFill>
                  </a:tcPr>
                </a:tc>
                <a:tc>
                  <a:txBody>
                    <a:bodyPr/>
                    <a:lstStyle/>
                    <a:p>
                      <a:r>
                        <a:rPr sz="1100" b="1" i="0">
                          <a:solidFill>
                            <a:srgbClr val="FFFFFF"/>
                          </a:solidFill>
                          <a:latin typeface="Segoe UI Semibold"/>
                        </a:rPr>
                        <a:t>Question</a:t>
                      </a:r>
                    </a:p>
                  </a:txBody>
                  <a:tcPr marL="73152" marR="73152" anchor="ctr">
                    <a:solidFill>
                      <a:srgbClr val="5B3E96"/>
                    </a:solidFill>
                  </a:tcPr>
                </a:tc>
                <a:tc>
                  <a:txBody>
                    <a:bodyPr/>
                    <a:lstStyle/>
                    <a:p>
                      <a:r>
                        <a:rPr sz="1100" b="1" i="0">
                          <a:solidFill>
                            <a:srgbClr val="FFFFFF"/>
                          </a:solidFill>
                          <a:latin typeface="Segoe UI Semibold"/>
                        </a:rPr>
                        <a:t>Important member</a:t>
                      </a:r>
                    </a:p>
                  </a:txBody>
                  <a:tcPr marL="73152" marR="73152" anchor="ctr">
                    <a:solidFill>
                      <a:srgbClr val="5B3E96"/>
                    </a:solidFill>
                  </a:tcPr>
                </a:tc>
              </a:tr>
              <a:tr h="384048">
                <a:tc>
                  <a:txBody>
                    <a:bodyPr/>
                    <a:lstStyle/>
                    <a:p>
                      <a:r>
                        <a:rPr sz="1000" b="0" i="0">
                          <a:solidFill>
                            <a:srgbClr val="002B49"/>
                          </a:solidFill>
                          <a:latin typeface="Consolas"/>
                        </a:rPr>
                        <a:t>AiRootType</a:t>
                      </a:r>
                    </a:p>
                  </a:txBody>
                  <a:tcPr marL="73152" marR="73152" marT="27432" marB="27432" anchor="ctr">
                    <a:solidFill>
                      <a:srgbClr val="FFFFFF"/>
                    </a:solidFill>
                  </a:tcPr>
                </a:tc>
                <a:tc>
                  <a:txBody>
                    <a:bodyPr/>
                    <a:lstStyle/>
                    <a:p>
                      <a:r>
                        <a:rPr sz="1100" b="0" i="0">
                          <a:solidFill>
                            <a:srgbClr val="333B44"/>
                          </a:solidFill>
                          <a:latin typeface="Segoe UI"/>
                        </a:rPr>
                        <a:t>Where do I browse?</a:t>
                      </a:r>
                    </a:p>
                  </a:txBody>
                  <a:tcPr marL="73152" marR="73152" marT="27432" marB="27432" anchor="ctr">
                    <a:solidFill>
                      <a:srgbClr val="FFFFFF"/>
                    </a:solidFill>
                  </a:tcPr>
                </a:tc>
                <a:tc>
                  <a:txBody>
                    <a:bodyPr/>
                    <a:lstStyle/>
                    <a:p>
                      <a:r>
                        <a:rPr sz="1100" b="0" i="0">
                          <a:solidFill>
                            <a:srgbClr val="333B44"/>
                          </a:solidFill>
                          <a:latin typeface="Segoe UI"/>
                        </a:rPr>
                        <a:t>Models, Deployments</a:t>
                      </a:r>
                    </a:p>
                  </a:txBody>
                  <a:tcPr marL="73152" marR="73152" marT="27432" marB="27432" anchor="ctr">
                    <a:solidFill>
                      <a:srgbClr val="FFFFFF"/>
                    </a:solidFill>
                  </a:tcPr>
                </a:tc>
              </a:tr>
              <a:tr h="384048">
                <a:tc>
                  <a:txBody>
                    <a:bodyPr/>
                    <a:lstStyle/>
                    <a:p>
                      <a:r>
                        <a:rPr sz="1000" b="0" i="0">
                          <a:solidFill>
                            <a:srgbClr val="002B49"/>
                          </a:solidFill>
                          <a:latin typeface="Consolas"/>
                        </a:rPr>
                        <a:t>ModelType</a:t>
                      </a:r>
                    </a:p>
                  </a:txBody>
                  <a:tcPr marL="73152" marR="73152" marT="27432" marB="27432" anchor="ctr">
                    <a:solidFill>
                      <a:srgbClr val="F4F6F8"/>
                    </a:solidFill>
                  </a:tcPr>
                </a:tc>
                <a:tc>
                  <a:txBody>
                    <a:bodyPr/>
                    <a:lstStyle/>
                    <a:p>
                      <a:r>
                        <a:rPr sz="1100" b="0" i="0">
                          <a:solidFill>
                            <a:srgbClr val="333B44"/>
                          </a:solidFill>
                          <a:latin typeface="Segoe UI"/>
                        </a:rPr>
                        <a:t>Which artefact is it?</a:t>
                      </a:r>
                    </a:p>
                  </a:txBody>
                  <a:tcPr marL="73152" marR="73152" marT="27432" marB="27432" anchor="ctr">
                    <a:solidFill>
                      <a:srgbClr val="F4F6F8"/>
                    </a:solidFill>
                  </a:tcPr>
                </a:tc>
                <a:tc>
                  <a:txBody>
                    <a:bodyPr/>
                    <a:lstStyle/>
                    <a:p>
                      <a:r>
                        <a:rPr sz="1100" b="0" i="0">
                          <a:solidFill>
                            <a:srgbClr val="333B44"/>
                          </a:solidFill>
                          <a:latin typeface="Segoe UI"/>
                        </a:rPr>
                        <a:t>Digest</a:t>
                      </a:r>
                    </a:p>
                  </a:txBody>
                  <a:tcPr marL="73152" marR="73152" marT="27432" marB="27432" anchor="ctr">
                    <a:solidFill>
                      <a:srgbClr val="F4F6F8"/>
                    </a:solidFill>
                  </a:tcPr>
                </a:tc>
              </a:tr>
              <a:tr h="384048">
                <a:tc>
                  <a:txBody>
                    <a:bodyPr/>
                    <a:lstStyle/>
                    <a:p>
                      <a:r>
                        <a:rPr sz="1000" b="0" i="0">
                          <a:solidFill>
                            <a:srgbClr val="002B49"/>
                          </a:solidFill>
                          <a:latin typeface="Consolas"/>
                        </a:rPr>
                        <a:t>DatasetType</a:t>
                      </a:r>
                    </a:p>
                  </a:txBody>
                  <a:tcPr marL="73152" marR="73152" marT="27432" marB="27432" anchor="ctr">
                    <a:solidFill>
                      <a:srgbClr val="FFFFFF"/>
                    </a:solidFill>
                  </a:tcPr>
                </a:tc>
                <a:tc>
                  <a:txBody>
                    <a:bodyPr/>
                    <a:lstStyle/>
                    <a:p>
                      <a:r>
                        <a:rPr sz="1100" b="0" i="0">
                          <a:solidFill>
                            <a:srgbClr val="333B44"/>
                          </a:solidFill>
                          <a:latin typeface="Segoe UI"/>
                        </a:rPr>
                        <a:t>What trained it?</a:t>
                      </a:r>
                    </a:p>
                  </a:txBody>
                  <a:tcPr marL="73152" marR="73152" marT="27432" marB="27432" anchor="ctr">
                    <a:solidFill>
                      <a:srgbClr val="FFFFFF"/>
                    </a:solidFill>
                  </a:tcPr>
                </a:tc>
                <a:tc>
                  <a:txBody>
                    <a:bodyPr/>
                    <a:lstStyle/>
                    <a:p>
                      <a:r>
                        <a:rPr sz="1100" b="0" i="0">
                          <a:solidFill>
                            <a:srgbClr val="333B44"/>
                          </a:solidFill>
                          <a:latin typeface="Segoe UI"/>
                        </a:rPr>
                        <a:t>SourceKind</a:t>
                      </a:r>
                    </a:p>
                  </a:txBody>
                  <a:tcPr marL="73152" marR="73152" marT="27432" marB="27432" anchor="ctr">
                    <a:solidFill>
                      <a:srgbClr val="FFFFFF"/>
                    </a:solidFill>
                  </a:tcPr>
                </a:tc>
              </a:tr>
              <a:tr h="384048">
                <a:tc>
                  <a:txBody>
                    <a:bodyPr/>
                    <a:lstStyle/>
                    <a:p>
                      <a:r>
                        <a:rPr sz="1000" b="0" i="0">
                          <a:solidFill>
                            <a:srgbClr val="002B49"/>
                          </a:solidFill>
                          <a:latin typeface="Consolas"/>
                        </a:rPr>
                        <a:t>DeploymentType</a:t>
                      </a:r>
                    </a:p>
                  </a:txBody>
                  <a:tcPr marL="73152" marR="73152" marT="27432" marB="27432" anchor="ctr">
                    <a:solidFill>
                      <a:srgbClr val="F4F6F8"/>
                    </a:solidFill>
                  </a:tcPr>
                </a:tc>
                <a:tc>
                  <a:txBody>
                    <a:bodyPr/>
                    <a:lstStyle/>
                    <a:p>
                      <a:r>
                        <a:rPr sz="1100" b="0" i="0">
                          <a:solidFill>
                            <a:srgbClr val="333B44"/>
                          </a:solidFill>
                          <a:latin typeface="Segoe UI"/>
                        </a:rPr>
                        <a:t>Where does it run?</a:t>
                      </a:r>
                    </a:p>
                  </a:txBody>
                  <a:tcPr marL="73152" marR="73152" marT="27432" marB="27432" anchor="ctr">
                    <a:solidFill>
                      <a:srgbClr val="F4F6F8"/>
                    </a:solidFill>
                  </a:tcPr>
                </a:tc>
                <a:tc>
                  <a:txBody>
                    <a:bodyPr/>
                    <a:lstStyle/>
                    <a:p>
                      <a:r>
                        <a:rPr sz="1100" b="0" i="0">
                          <a:solidFill>
                            <a:srgbClr val="333B44"/>
                          </a:solidFill>
                          <a:latin typeface="Segoe UI"/>
                        </a:rPr>
                        <a:t>InferenceLocation</a:t>
                      </a:r>
                    </a:p>
                  </a:txBody>
                  <a:tcPr marL="73152" marR="73152" marT="27432" marB="27432" anchor="ctr">
                    <a:solidFill>
                      <a:srgbClr val="F4F6F8"/>
                    </a:solidFill>
                  </a:tcPr>
                </a:tc>
              </a:tr>
              <a:tr h="384048">
                <a:tc>
                  <a:txBody>
                    <a:bodyPr/>
                    <a:lstStyle/>
                    <a:p>
                      <a:r>
                        <a:rPr sz="1000" b="0" i="0">
                          <a:solidFill>
                            <a:srgbClr val="002B49"/>
                          </a:solidFill>
                          <a:latin typeface="Consolas"/>
                        </a:rPr>
                        <a:t>ModelSourceType</a:t>
                      </a:r>
                    </a:p>
                  </a:txBody>
                  <a:tcPr marL="73152" marR="73152" marT="27432" marB="27432" anchor="ctr">
                    <a:solidFill>
                      <a:srgbClr val="FFFFFF"/>
                    </a:solidFill>
                  </a:tcPr>
                </a:tc>
                <a:tc>
                  <a:txBody>
                    <a:bodyPr/>
                    <a:lstStyle/>
                    <a:p>
                      <a:r>
                        <a:rPr sz="1100" b="0" i="0">
                          <a:solidFill>
                            <a:srgbClr val="333B44"/>
                          </a:solidFill>
                          <a:latin typeface="Segoe UI"/>
                        </a:rPr>
                        <a:t>How is remote inference called?</a:t>
                      </a:r>
                    </a:p>
                  </a:txBody>
                  <a:tcPr marL="73152" marR="73152" marT="27432" marB="27432" anchor="ctr">
                    <a:solidFill>
                      <a:srgbClr val="FFFFFF"/>
                    </a:solidFill>
                  </a:tcPr>
                </a:tc>
                <a:tc>
                  <a:txBody>
                    <a:bodyPr/>
                    <a:lstStyle/>
                    <a:p>
                      <a:r>
                        <a:rPr sz="1100" b="0" i="0">
                          <a:solidFill>
                            <a:srgbClr val="333B44"/>
                          </a:solidFill>
                          <a:latin typeface="Segoe UI"/>
                        </a:rPr>
                        <a:t>ApiDialect</a:t>
                      </a:r>
                    </a:p>
                  </a:txBody>
                  <a:tcPr marL="73152" marR="73152" marT="27432" marB="27432" anchor="ctr">
                    <a:solidFill>
                      <a:srgbClr val="FFFFFF"/>
                    </a:solidFill>
                  </a:tcPr>
                </a:tc>
              </a:tr>
              <a:tr h="384048">
                <a:tc>
                  <a:txBody>
                    <a:bodyPr/>
                    <a:lstStyle/>
                    <a:p>
                      <a:r>
                        <a:rPr sz="1000" b="0" i="0">
                          <a:solidFill>
                            <a:srgbClr val="002B49"/>
                          </a:solidFill>
                          <a:latin typeface="Consolas"/>
                        </a:rPr>
                        <a:t>LearningJobType</a:t>
                      </a:r>
                    </a:p>
                  </a:txBody>
                  <a:tcPr marL="73152" marR="73152" marT="27432" marB="27432" anchor="ctr">
                    <a:solidFill>
                      <a:srgbClr val="F4F6F8"/>
                    </a:solidFill>
                  </a:tcPr>
                </a:tc>
                <a:tc>
                  <a:txBody>
                    <a:bodyPr/>
                    <a:lstStyle/>
                    <a:p>
                      <a:r>
                        <a:rPr sz="1100" b="0" i="0">
                          <a:solidFill>
                            <a:srgbClr val="333B44"/>
                          </a:solidFill>
                          <a:latin typeface="Segoe UI"/>
                        </a:rPr>
                        <a:t>How is it replaced?</a:t>
                      </a:r>
                    </a:p>
                  </a:txBody>
                  <a:tcPr marL="73152" marR="73152" marT="27432" marB="27432" anchor="ctr">
                    <a:solidFill>
                      <a:srgbClr val="F4F6F8"/>
                    </a:solidFill>
                  </a:tcPr>
                </a:tc>
                <a:tc>
                  <a:txBody>
                    <a:bodyPr/>
                    <a:lstStyle/>
                    <a:p>
                      <a:r>
                        <a:rPr sz="1100" b="0" i="0">
                          <a:solidFill>
                            <a:srgbClr val="333B44"/>
                          </a:solidFill>
                          <a:latin typeface="Segoe UI"/>
                        </a:rPr>
                        <a:t>PromoteModel</a:t>
                      </a:r>
                    </a:p>
                  </a:txBody>
                  <a:tcPr marL="73152" marR="73152" marT="27432" marB="27432" anchor="ctr">
                    <a:solidFill>
                      <a:srgbClr val="F4F6F8"/>
                    </a:solidFill>
                  </a:tcPr>
                </a:tc>
              </a:tr>
              <a:tr h="384048">
                <a:tc>
                  <a:txBody>
                    <a:bodyPr/>
                    <a:lstStyle/>
                    <a:p>
                      <a:r>
                        <a:rPr sz="1000" b="0" i="0">
                          <a:solidFill>
                            <a:srgbClr val="002B49"/>
                          </a:solidFill>
                          <a:latin typeface="Consolas"/>
                        </a:rPr>
                        <a:t>ModelRegistryType</a:t>
                      </a:r>
                    </a:p>
                  </a:txBody>
                  <a:tcPr marL="73152" marR="73152" marT="27432" marB="27432" anchor="ctr">
                    <a:solidFill>
                      <a:srgbClr val="FFFFFF"/>
                    </a:solidFill>
                  </a:tcPr>
                </a:tc>
                <a:tc>
                  <a:txBody>
                    <a:bodyPr/>
                    <a:lstStyle/>
                    <a:p>
                      <a:r>
                        <a:rPr sz="1100" b="0" i="0">
                          <a:solidFill>
                            <a:srgbClr val="333B44"/>
                          </a:solidFill>
                          <a:latin typeface="Segoe UI"/>
                        </a:rPr>
                        <a:t>Where did it come from?</a:t>
                      </a:r>
                    </a:p>
                  </a:txBody>
                  <a:tcPr marL="73152" marR="73152" marT="27432" marB="27432" anchor="ctr">
                    <a:solidFill>
                      <a:srgbClr val="FFFFFF"/>
                    </a:solidFill>
                  </a:tcPr>
                </a:tc>
                <a:tc>
                  <a:txBody>
                    <a:bodyPr/>
                    <a:lstStyle/>
                    <a:p>
                      <a:r>
                        <a:rPr sz="1100" b="0" i="0">
                          <a:solidFill>
                            <a:srgbClr val="333B44"/>
                          </a:solidFill>
                          <a:latin typeface="Segoe UI"/>
                        </a:rPr>
                        <a:t>xRegistry</a:t>
                      </a:r>
                    </a:p>
                  </a:txBody>
                  <a:tcPr marL="73152" marR="73152" marT="27432" marB="27432" anchor="ctr">
                    <a:solidFill>
                      <a:srgbClr val="FFFFFF"/>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invocation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One deployment call surface covers local, edge, cloud and simulator execution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AI Model Management and Inference</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74</a:t>
            </a:r>
          </a:p>
        </p:txBody>
      </p:sp>
      <p:sp>
        <p:nvSpPr>
          <p:cNvPr id="8" name="Rounded Rectangle 7"/>
          <p:cNvSpPr/>
          <p:nvPr/>
        </p:nvSpPr>
        <p:spPr>
          <a:xfrm>
            <a:off x="866134" y="2006803"/>
            <a:ext cx="2164019" cy="642518"/>
          </a:xfrm>
          <a:prstGeom prst="roundRect">
            <a:avLst/>
          </a:prstGeom>
          <a:solidFill>
            <a:srgbClr val="002B49"/>
          </a:solidFill>
          <a:ln w="9525">
            <a:solidFill>
              <a:srgbClr val="002B4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Segoe UI"/>
              </a:rPr>
              <a:t>Client</a:t>
            </a:r>
          </a:p>
        </p:txBody>
      </p:sp>
      <p:sp>
        <p:nvSpPr>
          <p:cNvPr id="9" name="Rounded Rectangle 8"/>
          <p:cNvSpPr/>
          <p:nvPr/>
        </p:nvSpPr>
        <p:spPr>
          <a:xfrm>
            <a:off x="4292498" y="1855622"/>
            <a:ext cx="3426363" cy="831494"/>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DeploymentType</a:t>
            </a:r>
          </a:p>
          <a:p>
            <a:pPr algn="ctr">
              <a:spcBef>
                <a:spcPts val="100"/>
              </a:spcBef>
            </a:pPr>
            <a:r>
              <a:rPr sz="1000" b="0" i="0">
                <a:solidFill>
                  <a:srgbClr val="FFFFFF"/>
                </a:solidFill>
                <a:latin typeface="Segoe UI"/>
              </a:rPr>
              <a:t>Invoke · InvokeAsync · BeginTransfer</a:t>
            </a:r>
          </a:p>
        </p:txBody>
      </p:sp>
      <p:sp>
        <p:nvSpPr>
          <p:cNvPr id="10" name="Rounded Rectangle 9"/>
          <p:cNvSpPr/>
          <p:nvPr/>
        </p:nvSpPr>
        <p:spPr>
          <a:xfrm>
            <a:off x="8710703" y="2006803"/>
            <a:ext cx="2524688" cy="642518"/>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ModelType</a:t>
            </a:r>
          </a:p>
          <a:p>
            <a:pPr algn="ctr">
              <a:spcBef>
                <a:spcPts val="100"/>
              </a:spcBef>
            </a:pPr>
            <a:r>
              <a:rPr sz="1000" b="0" i="0">
                <a:solidFill>
                  <a:srgbClr val="FFFFFF"/>
                </a:solidFill>
                <a:latin typeface="Segoe UI"/>
              </a:rPr>
              <a:t>Digest · Version</a:t>
            </a:r>
          </a:p>
        </p:txBody>
      </p:sp>
      <p:sp>
        <p:nvSpPr>
          <p:cNvPr id="11" name="Rounded Rectangle 10"/>
          <p:cNvSpPr/>
          <p:nvPr/>
        </p:nvSpPr>
        <p:spPr>
          <a:xfrm>
            <a:off x="4292498" y="3405225"/>
            <a:ext cx="3426363" cy="793699"/>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ModelSourceType</a:t>
            </a:r>
          </a:p>
          <a:p>
            <a:pPr algn="ctr">
              <a:spcBef>
                <a:spcPts val="100"/>
              </a:spcBef>
            </a:pPr>
            <a:r>
              <a:rPr sz="1000" b="0" i="0">
                <a:solidFill>
                  <a:srgbClr val="002B49"/>
                </a:solidFill>
                <a:latin typeface="Segoe UI"/>
              </a:rPr>
              <a:t>ApiDialect · credential ref</a:t>
            </a:r>
          </a:p>
        </p:txBody>
      </p:sp>
      <p:sp>
        <p:nvSpPr>
          <p:cNvPr id="12" name="Rounded Rectangle 11"/>
          <p:cNvSpPr/>
          <p:nvPr/>
        </p:nvSpPr>
        <p:spPr>
          <a:xfrm>
            <a:off x="866134" y="4728057"/>
            <a:ext cx="2705023" cy="680313"/>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002B49"/>
                </a:solidFill>
                <a:latin typeface="Segoe UI"/>
              </a:rPr>
              <a:t>InferenceTransferType</a:t>
            </a:r>
          </a:p>
          <a:p>
            <a:pPr algn="ctr">
              <a:spcBef>
                <a:spcPts val="100"/>
              </a:spcBef>
            </a:pPr>
            <a:r>
              <a:rPr sz="1000" b="0" i="0">
                <a:solidFill>
                  <a:srgbClr val="002B49"/>
                </a:solidFill>
                <a:latin typeface="Segoe UI"/>
              </a:rPr>
              <a:t>FileType request/response</a:t>
            </a:r>
          </a:p>
        </p:txBody>
      </p:sp>
      <p:sp>
        <p:nvSpPr>
          <p:cNvPr id="13" name="Rounded Rectangle 12"/>
          <p:cNvSpPr/>
          <p:nvPr/>
        </p:nvSpPr>
        <p:spPr>
          <a:xfrm>
            <a:off x="8530368" y="4728057"/>
            <a:ext cx="2705023" cy="680313"/>
          </a:xfrm>
          <a:prstGeom prst="roundRect">
            <a:avLst/>
          </a:prstGeom>
          <a:solidFill>
            <a:srgbClr val="5B3E96"/>
          </a:solidFill>
          <a:ln w="9525">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Segoe UI"/>
              </a:rPr>
              <a:t>InferenceJobType</a:t>
            </a:r>
          </a:p>
          <a:p>
            <a:pPr algn="ctr">
              <a:spcBef>
                <a:spcPts val="100"/>
              </a:spcBef>
            </a:pPr>
            <a:r>
              <a:rPr sz="1000" b="0" i="0">
                <a:solidFill>
                  <a:srgbClr val="FFFFFF"/>
                </a:solidFill>
                <a:latin typeface="Segoe UI"/>
              </a:rPr>
              <a:t>Part 10 async lifecycle</a:t>
            </a:r>
          </a:p>
        </p:txBody>
      </p:sp>
      <p:cxnSp>
        <p:nvCxnSpPr>
          <p:cNvPr id="14" name="Connector 13"/>
          <p:cNvCxnSpPr>
            <a:stCxn id="8" idx="3"/>
            <a:endCxn id="9" idx="1"/>
          </p:cNvCxnSpPr>
          <p:nvPr/>
        </p:nvCxnSpPr>
        <p:spPr>
          <a:xfrm flipV="1">
            <a:off x="3030153" y="2271369"/>
            <a:ext cx="1262345" cy="56693"/>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884085" y="2125065"/>
            <a:ext cx="1554480" cy="274320"/>
          </a:xfrm>
          <a:prstGeom prst="rect">
            <a:avLst/>
          </a:prstGeom>
          <a:noFill/>
        </p:spPr>
        <p:txBody>
          <a:bodyPr wrap="square" lIns="0" rIns="0" tIns="0" bIns="0">
            <a:spAutoFit/>
          </a:bodyPr>
          <a:lstStyle/>
          <a:p>
            <a:pPr algn="ctr"/>
            <a:r>
              <a:rPr sz="900" b="0" i="1">
                <a:solidFill>
                  <a:srgbClr val="6B7480"/>
                </a:solidFill>
                <a:latin typeface="Segoe UI"/>
              </a:rPr>
              <a:t>Invoke</a:t>
            </a:r>
          </a:p>
        </p:txBody>
      </p:sp>
      <p:cxnSp>
        <p:nvCxnSpPr>
          <p:cNvPr id="16" name="Connector 15"/>
          <p:cNvCxnSpPr>
            <a:stCxn id="9" idx="3"/>
            <a:endCxn id="10" idx="1"/>
          </p:cNvCxnSpPr>
          <p:nvPr/>
        </p:nvCxnSpPr>
        <p:spPr>
          <a:xfrm>
            <a:off x="7718861" y="2271369"/>
            <a:ext cx="991842" cy="56693"/>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37542" y="2181758"/>
            <a:ext cx="1554480" cy="274320"/>
          </a:xfrm>
          <a:prstGeom prst="rect">
            <a:avLst/>
          </a:prstGeom>
          <a:noFill/>
        </p:spPr>
        <p:txBody>
          <a:bodyPr wrap="square" lIns="0" rIns="0" tIns="0" bIns="0">
            <a:spAutoFit/>
          </a:bodyPr>
          <a:lstStyle/>
          <a:p>
            <a:pPr algn="ctr"/>
            <a:r>
              <a:rPr sz="900" b="0" i="1">
                <a:solidFill>
                  <a:srgbClr val="6B7480"/>
                </a:solidFill>
                <a:latin typeface="Segoe UI"/>
              </a:rPr>
              <a:t>UsesModel</a:t>
            </a:r>
          </a:p>
        </p:txBody>
      </p:sp>
      <p:cxnSp>
        <p:nvCxnSpPr>
          <p:cNvPr id="18" name="Connector 17"/>
          <p:cNvCxnSpPr>
            <a:stCxn id="9" idx="2"/>
            <a:endCxn id="11" idx="0"/>
          </p:cNvCxnSpPr>
          <p:nvPr/>
        </p:nvCxnSpPr>
        <p:spPr>
          <a:xfrm>
            <a:off x="6005679" y="2687116"/>
            <a:ext cx="0" cy="718109"/>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28439" y="2899866"/>
            <a:ext cx="1554480" cy="274320"/>
          </a:xfrm>
          <a:prstGeom prst="rect">
            <a:avLst/>
          </a:prstGeom>
          <a:noFill/>
        </p:spPr>
        <p:txBody>
          <a:bodyPr wrap="square" lIns="0" rIns="0" tIns="0" bIns="0">
            <a:spAutoFit/>
          </a:bodyPr>
          <a:lstStyle/>
          <a:p>
            <a:pPr algn="ctr"/>
            <a:r>
              <a:rPr sz="900" b="0" i="1">
                <a:solidFill>
                  <a:srgbClr val="6B7480"/>
                </a:solidFill>
                <a:latin typeface="Segoe UI"/>
              </a:rPr>
              <a:t>remote</a:t>
            </a:r>
          </a:p>
        </p:txBody>
      </p:sp>
      <p:cxnSp>
        <p:nvCxnSpPr>
          <p:cNvPr id="20" name="Connector 19"/>
          <p:cNvCxnSpPr>
            <a:stCxn id="9" idx="2"/>
            <a:endCxn id="12" idx="0"/>
          </p:cNvCxnSpPr>
          <p:nvPr/>
        </p:nvCxnSpPr>
        <p:spPr>
          <a:xfrm flipH="1">
            <a:off x="2218645" y="2687116"/>
            <a:ext cx="3787034" cy="2040941"/>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41405" y="3561282"/>
            <a:ext cx="1554480" cy="274320"/>
          </a:xfrm>
          <a:prstGeom prst="rect">
            <a:avLst/>
          </a:prstGeom>
          <a:noFill/>
        </p:spPr>
        <p:txBody>
          <a:bodyPr wrap="square" lIns="0" rIns="0" tIns="0" bIns="0">
            <a:spAutoFit/>
          </a:bodyPr>
          <a:lstStyle/>
          <a:p>
            <a:pPr algn="ctr"/>
            <a:r>
              <a:rPr sz="900" b="0" i="1">
                <a:solidFill>
                  <a:srgbClr val="6B7480"/>
                </a:solidFill>
                <a:latin typeface="Segoe UI"/>
              </a:rPr>
              <a:t>large payload</a:t>
            </a:r>
          </a:p>
        </p:txBody>
      </p:sp>
      <p:cxnSp>
        <p:nvCxnSpPr>
          <p:cNvPr id="22" name="Connector 21"/>
          <p:cNvCxnSpPr>
            <a:stCxn id="9" idx="2"/>
            <a:endCxn id="13" idx="0"/>
          </p:cNvCxnSpPr>
          <p:nvPr/>
        </p:nvCxnSpPr>
        <p:spPr>
          <a:xfrm>
            <a:off x="6005679" y="2687116"/>
            <a:ext cx="3877200" cy="2040941"/>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05639" y="3561282"/>
            <a:ext cx="1554480" cy="274320"/>
          </a:xfrm>
          <a:prstGeom prst="rect">
            <a:avLst/>
          </a:prstGeom>
          <a:noFill/>
        </p:spPr>
        <p:txBody>
          <a:bodyPr wrap="square" lIns="0" rIns="0" tIns="0" bIns="0">
            <a:spAutoFit/>
          </a:bodyPr>
          <a:lstStyle/>
          <a:p>
            <a:pPr algn="ctr"/>
            <a:r>
              <a:rPr sz="900" b="0" i="1">
                <a:solidFill>
                  <a:srgbClr val="6B7480"/>
                </a:solidFill>
                <a:latin typeface="Segoe UI"/>
              </a:rPr>
              <a:t>answer later</a:t>
            </a:r>
          </a:p>
        </p:txBody>
      </p:sp>
      <p:sp>
        <p:nvSpPr>
          <p:cNvPr id="24" name="TextBox 23"/>
          <p:cNvSpPr txBox="1"/>
          <p:nvPr/>
        </p:nvSpPr>
        <p:spPr>
          <a:xfrm>
            <a:off x="685800" y="5786323"/>
            <a:ext cx="10820095" cy="365760"/>
          </a:xfrm>
          <a:prstGeom prst="rect">
            <a:avLst/>
          </a:prstGeom>
          <a:noFill/>
        </p:spPr>
        <p:txBody>
          <a:bodyPr wrap="square" lIns="0" rIns="0" tIns="0" bIns="0">
            <a:spAutoFit/>
          </a:bodyPr>
          <a:lstStyle/>
          <a:p>
            <a:pPr algn="ctr"/>
            <a:r>
              <a:rPr sz="1100" b="0" i="1">
                <a:solidFill>
                  <a:srgbClr val="6B7480"/>
                </a:solidFill>
                <a:latin typeface="Segoe UI"/>
              </a:rPr>
              <a:t>The caller sees one envelope; the Server records which model actually answered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Provenance and rollout</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The model records evidence, not just names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AI Model Management and Inference</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75</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UsesModel</a:t>
            </a:r>
            <a:r>
              <a:rPr sz="1700" b="1" i="0">
                <a:solidFill>
                  <a:srgbClr val="002B49"/>
                </a:solidFill>
                <a:latin typeface="Segoe UI"/>
              </a:rPr>
              <a:t> is exactly one, so a deployment has one current artefact</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Digest</a:t>
            </a:r>
            <a:r>
              <a:rPr sz="1700" b="1" i="0">
                <a:solidFill>
                  <a:srgbClr val="002B49"/>
                </a:solidFill>
                <a:latin typeface="Segoe UI"/>
              </a:rPr>
              <a:t> and </a:t>
            </a:r>
            <a:r>
              <a:rPr sz="1600" b="1" i="0">
                <a:solidFill>
                  <a:srgbClr val="002B49"/>
                </a:solidFill>
                <a:latin typeface="Consolas"/>
              </a:rPr>
              <a:t>DigestAlgorithm</a:t>
            </a:r>
            <a:r>
              <a:rPr sz="1700" b="1" i="0">
                <a:solidFill>
                  <a:srgbClr val="002B49"/>
                </a:solidFill>
                <a:latin typeface="Segoe UI"/>
              </a:rPr>
              <a:t> are mandatory on </a:t>
            </a:r>
            <a:r>
              <a:rPr sz="1600" b="1" i="0">
                <a:solidFill>
                  <a:srgbClr val="002B49"/>
                </a:solidFill>
                <a:latin typeface="Consolas"/>
              </a:rPr>
              <a:t>ModelType</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DigestProvenance</a:t>
            </a:r>
            <a:r>
              <a:rPr sz="1700" b="1" i="0">
                <a:solidFill>
                  <a:srgbClr val="002B49"/>
                </a:solidFill>
                <a:latin typeface="Segoe UI"/>
              </a:rPr>
              <a:t> says whether evidence is available or verified</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VersionBinding</a:t>
            </a:r>
            <a:r>
              <a:rPr sz="1700" b="1" i="0">
                <a:solidFill>
                  <a:srgbClr val="002B49"/>
                </a:solidFill>
                <a:latin typeface="Segoe UI"/>
              </a:rPr>
              <a:t> distinguishes </a:t>
            </a:r>
            <a:r>
              <a:rPr sz="1600" b="1" i="0">
                <a:solidFill>
                  <a:srgbClr val="002B49"/>
                </a:solidFill>
                <a:latin typeface="Consolas"/>
              </a:rPr>
              <a:t>Pinned</a:t>
            </a:r>
            <a:r>
              <a:rPr sz="1700" b="1" i="0">
                <a:solidFill>
                  <a:srgbClr val="002B49"/>
                </a:solidFill>
                <a:latin typeface="Segoe UI"/>
              </a:rPr>
              <a:t> from </a:t>
            </a:r>
            <a:r>
              <a:rPr sz="1600" b="1" i="0">
                <a:solidFill>
                  <a:srgbClr val="002B49"/>
                </a:solidFill>
                <a:latin typeface="Consolas"/>
              </a:rPr>
              <a:t>FollowsRef</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LearningJobType</a:t>
            </a:r>
            <a:r>
              <a:rPr sz="1700" b="1" i="0">
                <a:solidFill>
                  <a:srgbClr val="002B49"/>
                </a:solidFill>
                <a:latin typeface="Segoe UI"/>
              </a:rPr>
              <a:t> runs </a:t>
            </a:r>
            <a:r>
              <a:rPr sz="1600" b="1" i="0">
                <a:solidFill>
                  <a:srgbClr val="002B49"/>
                </a:solidFill>
                <a:latin typeface="Consolas"/>
              </a:rPr>
              <a:t>Idle → Collecting → ... → Promoted</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PromoteModel</a:t>
            </a:r>
            <a:r>
              <a:rPr sz="1700" b="1" i="0">
                <a:solidFill>
                  <a:srgbClr val="002B49"/>
                </a:solidFill>
                <a:latin typeface="Segoe UI"/>
              </a:rPr>
              <a:t> changes what equipment decides and needs distinct authorization</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Provenance is strong only when the Server can point to, compute or verify the artefact.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Working-group draft 0.4.0; eleven implementation guides map real systems to the model</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AI Model Management and Inference</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76</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Version: </a:t>
            </a:r>
            <a:r>
              <a:rPr sz="1700" b="1" i="0">
                <a:solidFill>
                  <a:srgbClr val="002B49"/>
                </a:solidFill>
                <a:latin typeface="Segoe UI"/>
              </a:rPr>
              <a:t>Release 0.4.0 — working-group draft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OPC Foundation companion model, provisional and not endorsed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Path: </a:t>
            </a:r>
            <a:r>
              <a:rPr sz="1600" b="1" i="0">
                <a:solidFill>
                  <a:srgbClr val="002B49"/>
                </a:solidFill>
                <a:latin typeface="Consolas"/>
              </a:rPr>
              <a:t>metaverse-specs/ai-model-management/OPC-UA-AI-Model-Management.md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Dependency: xRegistry, for model and dataset catalogues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Guides: Azure AI Foundry, Bedrock, Triton, KServe, embedded runtimes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 </a:t>
            </a:r>
            <a:r>
              <a:rPr sz="1700" b="1" i="0">
                <a:solidFill>
                  <a:srgbClr val="002B49"/>
                </a:solidFill>
                <a:latin typeface="Segoe UI"/>
              </a:rPr>
              <a:t>10 — AI model loading</a:t>
            </a:r>
            <a:r>
              <a:rPr sz="1700" b="1" i="0">
                <a:solidFill>
                  <a:srgbClr val="002B49"/>
                </a:solidFill>
                <a:latin typeface="Segoe UI"/>
              </a:rPr>
              <a:t>, on branch </a:t>
            </a:r>
            <a:r>
              <a:rPr sz="1600" b="1" i="0">
                <a:solidFill>
                  <a:srgbClr val="002B49"/>
                </a:solidFill>
                <a:latin typeface="Consolas"/>
              </a:rPr>
              <a:t>fork/marcschier/ai-model-management</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This is the large metaverse draft: lifecycle, inference, catalogue and audit in one model.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10 — AI model loading</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Invoke a model and keep the provenance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AI model loading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77</a:t>
            </a:r>
          </a:p>
        </p:txBody>
      </p:sp>
      <p:sp>
        <p:nvSpPr>
          <p:cNvPr id="8" name="Rounded Rectangle 7"/>
          <p:cNvSpPr/>
          <p:nvPr/>
        </p:nvSpPr>
        <p:spPr>
          <a:xfrm>
            <a:off x="9631376" y="466344"/>
            <a:ext cx="1874519" cy="310896"/>
          </a:xfrm>
          <a:prstGeom prst="roundRect">
            <a:avLst/>
          </a:prstGeom>
          <a:solidFill>
            <a:srgbClr val="B8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RUNS ON A BRANCH</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Local test backend answers model calls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Server publishes deployments and sources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Client invokes inline, transfer and async paths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Output reports which model answered</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samples\AiModelManagement\AiModelManagementServer</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samples\AiModelManagement\AiModelManagementClient</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samples\AiModelManagement\AiModelManagement.Bridge</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samples\AiModelManagement\Model</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pwsh decks\demos\10-ai-model-loading\run-demo.ps1 -StackRoot &lt;ai-models worktree&gt;</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A model call can be OPC UA while the execution location stays an implementation detail.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the USD Artifact Registry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USD assets resolve by deployment convention, not by a standard registry</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OpenUSD Artifact Registry Service</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78</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layer's </a:t>
            </a:r>
            <a:r>
              <a:rPr sz="1600" b="1" i="0">
                <a:solidFill>
                  <a:srgbClr val="002B49"/>
                </a:solidFill>
                <a:latin typeface="Consolas"/>
              </a:rPr>
              <a:t>@...@</a:t>
            </a:r>
            <a:r>
              <a:rPr sz="1700" b="1" i="0">
                <a:solidFill>
                  <a:srgbClr val="002B49"/>
                </a:solidFill>
                <a:latin typeface="Segoe UI"/>
              </a:rPr>
              <a:t> reference says nothing about where bytes live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File shares, object stores and vendor services do not interoperate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consumer must know whether the dependency closure is complete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Integrity, version and federation metadata need one document shape</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missing piece is a registry-backed asset resolver contract.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An xRegistry domain model for OpenUSD artifacts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OpenUSD Artifact Registry Service</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79</a:t>
            </a:r>
          </a:p>
        </p:txBody>
      </p:sp>
      <p:graphicFrame>
        <p:nvGraphicFramePr>
          <p:cNvPr id="8" name="Table 7"/>
          <p:cNvGraphicFramePr>
            <a:graphicFrameLocks noGrp="1"/>
          </p:cNvGraphicFramePr>
          <p:nvPr/>
        </p:nvGraphicFramePr>
        <p:xfrm>
          <a:off x="685800" y="1591056"/>
          <a:ext cx="10820094" cy="3456432"/>
        </p:xfrm>
        <a:graphic>
          <a:graphicData uri="http://schemas.openxmlformats.org/drawingml/2006/table">
            <a:tbl>
              <a:tblPr firstRow="1" bandRow="1">
                <a:tableStyleId>{5C22544A-7EE6-4342-B048-85BDC9FD1C3A}</a:tableStyleId>
              </a:tblPr>
              <a:tblGrid>
                <a:gridCol w="3246028"/>
                <a:gridCol w="3246028"/>
                <a:gridCol w="4328038"/>
              </a:tblGrid>
              <a:tr h="384048">
                <a:tc>
                  <a:txBody>
                    <a:bodyPr/>
                    <a:lstStyle/>
                    <a:p>
                      <a:r>
                        <a:rPr sz="1100" b="1" i="0">
                          <a:solidFill>
                            <a:srgbClr val="FFFFFF"/>
                          </a:solidFill>
                          <a:latin typeface="Segoe UI Semibold"/>
                        </a:rPr>
                        <a:t>Model piece</a:t>
                      </a:r>
                    </a:p>
                  </a:txBody>
                  <a:tcPr marL="73152" marR="73152" anchor="ctr">
                    <a:solidFill>
                      <a:srgbClr val="5B3E96"/>
                    </a:solidFill>
                  </a:tcPr>
                </a:tc>
                <a:tc>
                  <a:txBody>
                    <a:bodyPr/>
                    <a:lstStyle/>
                    <a:p>
                      <a:r>
                        <a:rPr sz="1100" b="1" i="0">
                          <a:solidFill>
                            <a:srgbClr val="FFFFFF"/>
                          </a:solidFill>
                          <a:latin typeface="Segoe UI Semibold"/>
                        </a:rPr>
                        <a:t>Collection</a:t>
                      </a:r>
                    </a:p>
                  </a:txBody>
                  <a:tcPr marL="73152" marR="73152" anchor="ctr">
                    <a:solidFill>
                      <a:srgbClr val="5B3E96"/>
                    </a:solidFill>
                  </a:tcPr>
                </a:tc>
                <a:tc>
                  <a:txBody>
                    <a:bodyPr/>
                    <a:lstStyle/>
                    <a:p>
                      <a:r>
                        <a:rPr sz="1100" b="1" i="0">
                          <a:solidFill>
                            <a:srgbClr val="FFFFFF"/>
                          </a:solidFill>
                          <a:latin typeface="Segoe UI Semibold"/>
                        </a:rPr>
                        <a:t>Contract</a:t>
                      </a:r>
                    </a:p>
                  </a:txBody>
                  <a:tcPr marL="73152" marR="73152" anchor="ctr">
                    <a:solidFill>
                      <a:srgbClr val="5B3E96"/>
                    </a:solidFill>
                  </a:tcPr>
                </a:tc>
              </a:tr>
              <a:tr h="384048">
                <a:tc>
                  <a:txBody>
                    <a:bodyPr/>
                    <a:lstStyle/>
                    <a:p>
                      <a:r>
                        <a:rPr sz="1100" b="0" i="0">
                          <a:solidFill>
                            <a:srgbClr val="333B44"/>
                          </a:solidFill>
                          <a:latin typeface="Segoe UI"/>
                        </a:rPr>
                        <a:t>Asset container</a:t>
                      </a:r>
                    </a:p>
                  </a:txBody>
                  <a:tcPr marL="73152" marR="73152" marT="27432" marB="27432" anchor="ctr">
                    <a:solidFill>
                      <a:srgbClr val="FFFFFF"/>
                    </a:solidFill>
                  </a:tcPr>
                </a:tc>
                <a:tc>
                  <a:txBody>
                    <a:bodyPr/>
                    <a:lstStyle/>
                    <a:p>
                      <a:r>
                        <a:rPr sz="1000" b="0" i="0">
                          <a:solidFill>
                            <a:srgbClr val="002B49"/>
                          </a:solidFill>
                          <a:latin typeface="Consolas"/>
                        </a:rPr>
                        <a:t>usdassetgroups</a:t>
                      </a:r>
                    </a:p>
                  </a:txBody>
                  <a:tcPr marL="73152" marR="73152" marT="27432" marB="27432" anchor="ctr">
                    <a:solidFill>
                      <a:srgbClr val="FFFFFF"/>
                    </a:solidFill>
                  </a:tcPr>
                </a:tc>
                <a:tc>
                  <a:txBody>
                    <a:bodyPr/>
                    <a:lstStyle/>
                    <a:p>
                      <a:r>
                        <a:rPr sz="1100" b="0" i="0">
                          <a:solidFill>
                            <a:srgbClr val="333B44"/>
                          </a:solidFill>
                          <a:latin typeface="Segoe UI"/>
                        </a:rPr>
                        <a:t>Scene unit and root layer</a:t>
                      </a:r>
                    </a:p>
                  </a:txBody>
                  <a:tcPr marL="73152" marR="73152" marT="27432" marB="27432" anchor="ctr">
                    <a:solidFill>
                      <a:srgbClr val="FFFFFF"/>
                    </a:solidFill>
                  </a:tcPr>
                </a:tc>
              </a:tr>
              <a:tr h="384048">
                <a:tc>
                  <a:txBody>
                    <a:bodyPr/>
                    <a:lstStyle/>
                    <a:p>
                      <a:r>
                        <a:rPr sz="1100" b="0" i="0">
                          <a:solidFill>
                            <a:srgbClr val="333B44"/>
                          </a:solidFill>
                          <a:latin typeface="Segoe UI"/>
                        </a:rPr>
                        <a:t>USD artifact</a:t>
                      </a:r>
                    </a:p>
                  </a:txBody>
                  <a:tcPr marL="73152" marR="73152" marT="27432" marB="27432" anchor="ctr">
                    <a:solidFill>
                      <a:srgbClr val="F4F6F8"/>
                    </a:solidFill>
                  </a:tcPr>
                </a:tc>
                <a:tc>
                  <a:txBody>
                    <a:bodyPr/>
                    <a:lstStyle/>
                    <a:p>
                      <a:r>
                        <a:rPr sz="1000" b="0" i="0">
                          <a:solidFill>
                            <a:srgbClr val="002B49"/>
                          </a:solidFill>
                          <a:latin typeface="Consolas"/>
                        </a:rPr>
                        <a:t>usdassets</a:t>
                      </a:r>
                    </a:p>
                  </a:txBody>
                  <a:tcPr marL="73152" marR="73152" marT="27432" marB="27432" anchor="ctr">
                    <a:solidFill>
                      <a:srgbClr val="F4F6F8"/>
                    </a:solidFill>
                  </a:tcPr>
                </a:tc>
                <a:tc>
                  <a:txBody>
                    <a:bodyPr/>
                    <a:lstStyle/>
                    <a:p>
                      <a:r>
                        <a:rPr sz="1100" b="0" i="0">
                          <a:solidFill>
                            <a:srgbClr val="333B44"/>
                          </a:solidFill>
                          <a:latin typeface="Segoe UI"/>
                        </a:rPr>
                        <a:t>Layer, texture, package, plugin</a:t>
                      </a:r>
                    </a:p>
                  </a:txBody>
                  <a:tcPr marL="73152" marR="73152" marT="27432" marB="27432" anchor="ctr">
                    <a:solidFill>
                      <a:srgbClr val="F4F6F8"/>
                    </a:solidFill>
                  </a:tcPr>
                </a:tc>
              </a:tr>
              <a:tr h="384048">
                <a:tc>
                  <a:txBody>
                    <a:bodyPr/>
                    <a:lstStyle/>
                    <a:p>
                      <a:r>
                        <a:rPr sz="1100" b="0" i="0">
                          <a:solidFill>
                            <a:srgbClr val="333B44"/>
                          </a:solidFill>
                          <a:latin typeface="Segoe UI"/>
                        </a:rPr>
                        <a:t>Root layer</a:t>
                      </a:r>
                    </a:p>
                  </a:txBody>
                  <a:tcPr marL="73152" marR="73152" marT="27432" marB="27432" anchor="ctr">
                    <a:solidFill>
                      <a:srgbClr val="FFFFFF"/>
                    </a:solidFill>
                  </a:tcPr>
                </a:tc>
                <a:tc>
                  <a:txBody>
                    <a:bodyPr/>
                    <a:lstStyle/>
                    <a:p>
                      <a:r>
                        <a:rPr sz="1000" b="0" i="0">
                          <a:solidFill>
                            <a:srgbClr val="002B49"/>
                          </a:solidFill>
                          <a:latin typeface="Consolas"/>
                        </a:rPr>
                        <a:t>rootlayer</a:t>
                      </a:r>
                    </a:p>
                  </a:txBody>
                  <a:tcPr marL="73152" marR="73152" marT="27432" marB="27432" anchor="ctr">
                    <a:solidFill>
                      <a:srgbClr val="FFFFFF"/>
                    </a:solidFill>
                  </a:tcPr>
                </a:tc>
                <a:tc>
                  <a:txBody>
                    <a:bodyPr/>
                    <a:lstStyle/>
                    <a:p>
                      <a:r>
                        <a:rPr sz="1100" b="0" i="0">
                          <a:solidFill>
                            <a:srgbClr val="333B44"/>
                          </a:solidFill>
                          <a:latin typeface="Segoe UI"/>
                        </a:rPr>
                        <a:t>Composition entry point</a:t>
                      </a:r>
                    </a:p>
                  </a:txBody>
                  <a:tcPr marL="73152" marR="73152" marT="27432" marB="27432" anchor="ctr">
                    <a:solidFill>
                      <a:srgbClr val="FFFFFF"/>
                    </a:solidFill>
                  </a:tcPr>
                </a:tc>
              </a:tr>
              <a:tr h="384048">
                <a:tc>
                  <a:txBody>
                    <a:bodyPr/>
                    <a:lstStyle/>
                    <a:p>
                      <a:r>
                        <a:rPr sz="1100" b="0" i="0">
                          <a:solidFill>
                            <a:srgbClr val="333B44"/>
                          </a:solidFill>
                          <a:latin typeface="Segoe UI"/>
                        </a:rPr>
                        <a:t>Identifier</a:t>
                      </a:r>
                    </a:p>
                  </a:txBody>
                  <a:tcPr marL="73152" marR="73152" marT="27432" marB="27432" anchor="ctr">
                    <a:solidFill>
                      <a:srgbClr val="F4F6F8"/>
                    </a:solidFill>
                  </a:tcPr>
                </a:tc>
                <a:tc>
                  <a:txBody>
                    <a:bodyPr/>
                    <a:lstStyle/>
                    <a:p>
                      <a:r>
                        <a:rPr sz="1000" b="0" i="0">
                          <a:solidFill>
                            <a:srgbClr val="002B49"/>
                          </a:solidFill>
                          <a:latin typeface="Consolas"/>
                        </a:rPr>
                        <a:t>assetidentifier</a:t>
                      </a:r>
                    </a:p>
                  </a:txBody>
                  <a:tcPr marL="73152" marR="73152" marT="27432" marB="27432" anchor="ctr">
                    <a:solidFill>
                      <a:srgbClr val="F4F6F8"/>
                    </a:solidFill>
                  </a:tcPr>
                </a:tc>
                <a:tc>
                  <a:txBody>
                    <a:bodyPr/>
                    <a:lstStyle/>
                    <a:p>
                      <a:r>
                        <a:rPr sz="1100" b="0" i="0">
                          <a:solidFill>
                            <a:srgbClr val="333B44"/>
                          </a:solidFill>
                          <a:latin typeface="Segoe UI"/>
                        </a:rPr>
                        <a:t>Authored USD reference</a:t>
                      </a:r>
                    </a:p>
                  </a:txBody>
                  <a:tcPr marL="73152" marR="73152" marT="27432" marB="27432" anchor="ctr">
                    <a:solidFill>
                      <a:srgbClr val="F4F6F8"/>
                    </a:solidFill>
                  </a:tcPr>
                </a:tc>
              </a:tr>
              <a:tr h="384048">
                <a:tc>
                  <a:txBody>
                    <a:bodyPr/>
                    <a:lstStyle/>
                    <a:p>
                      <a:r>
                        <a:rPr sz="1100" b="0" i="0">
                          <a:solidFill>
                            <a:srgbClr val="333B44"/>
                          </a:solidFill>
                          <a:latin typeface="Segoe UI"/>
                        </a:rPr>
                        <a:t>Role</a:t>
                      </a:r>
                    </a:p>
                  </a:txBody>
                  <a:tcPr marL="73152" marR="73152" marT="27432" marB="27432" anchor="ctr">
                    <a:solidFill>
                      <a:srgbClr val="FFFFFF"/>
                    </a:solidFill>
                  </a:tcPr>
                </a:tc>
                <a:tc>
                  <a:txBody>
                    <a:bodyPr/>
                    <a:lstStyle/>
                    <a:p>
                      <a:r>
                        <a:rPr sz="1000" b="0" i="0">
                          <a:solidFill>
                            <a:srgbClr val="002B49"/>
                          </a:solidFill>
                          <a:latin typeface="Consolas"/>
                        </a:rPr>
                        <a:t>assetkind</a:t>
                      </a:r>
                    </a:p>
                  </a:txBody>
                  <a:tcPr marL="73152" marR="73152" marT="27432" marB="27432" anchor="ctr">
                    <a:solidFill>
                      <a:srgbClr val="FFFFFF"/>
                    </a:solidFill>
                  </a:tcPr>
                </a:tc>
                <a:tc>
                  <a:txBody>
                    <a:bodyPr/>
                    <a:lstStyle/>
                    <a:p>
                      <a:r>
                        <a:rPr sz="1100" b="0" i="0">
                          <a:solidFill>
                            <a:srgbClr val="333B44"/>
                          </a:solidFill>
                          <a:latin typeface="Segoe UI"/>
                        </a:rPr>
                        <a:t>Root, sublayer, payload, texture</a:t>
                      </a:r>
                    </a:p>
                  </a:txBody>
                  <a:tcPr marL="73152" marR="73152" marT="27432" marB="27432" anchor="ctr">
                    <a:solidFill>
                      <a:srgbClr val="FFFFFF"/>
                    </a:solidFill>
                  </a:tcPr>
                </a:tc>
              </a:tr>
              <a:tr h="384048">
                <a:tc>
                  <a:txBody>
                    <a:bodyPr/>
                    <a:lstStyle/>
                    <a:p>
                      <a:r>
                        <a:rPr sz="1100" b="0" i="0">
                          <a:solidFill>
                            <a:srgbClr val="333B44"/>
                          </a:solidFill>
                          <a:latin typeface="Segoe UI"/>
                        </a:rPr>
                        <a:t>Closure</a:t>
                      </a:r>
                    </a:p>
                  </a:txBody>
                  <a:tcPr marL="73152" marR="73152" marT="27432" marB="27432" anchor="ctr">
                    <a:solidFill>
                      <a:srgbClr val="F4F6F8"/>
                    </a:solidFill>
                  </a:tcPr>
                </a:tc>
                <a:tc>
                  <a:txBody>
                    <a:bodyPr/>
                    <a:lstStyle/>
                    <a:p>
                      <a:r>
                        <a:rPr sz="1000" b="0" i="0">
                          <a:solidFill>
                            <a:srgbClr val="002B49"/>
                          </a:solidFill>
                          <a:latin typeface="Consolas"/>
                        </a:rPr>
                        <a:t>dependson</a:t>
                      </a:r>
                    </a:p>
                  </a:txBody>
                  <a:tcPr marL="73152" marR="73152" marT="27432" marB="27432" anchor="ctr">
                    <a:solidFill>
                      <a:srgbClr val="F4F6F8"/>
                    </a:solidFill>
                  </a:tcPr>
                </a:tc>
                <a:tc>
                  <a:txBody>
                    <a:bodyPr/>
                    <a:lstStyle/>
                    <a:p>
                      <a:r>
                        <a:rPr sz="1100" b="0" i="0">
                          <a:solidFill>
                            <a:srgbClr val="333B44"/>
                          </a:solidFill>
                          <a:latin typeface="Segoe UI"/>
                        </a:rPr>
                        <a:t>Direct dependency list</a:t>
                      </a:r>
                    </a:p>
                  </a:txBody>
                  <a:tcPr marL="73152" marR="73152" marT="27432" marB="27432" anchor="ctr">
                    <a:solidFill>
                      <a:srgbClr val="F4F6F8"/>
                    </a:solidFill>
                  </a:tcPr>
                </a:tc>
              </a:tr>
              <a:tr h="384048">
                <a:tc>
                  <a:txBody>
                    <a:bodyPr/>
                    <a:lstStyle/>
                    <a:p>
                      <a:r>
                        <a:rPr sz="1100" b="0" i="0">
                          <a:solidFill>
                            <a:srgbClr val="333B44"/>
                          </a:solidFill>
                          <a:latin typeface="Segoe UI"/>
                        </a:rPr>
                        <a:t>Integrity</a:t>
                      </a:r>
                    </a:p>
                  </a:txBody>
                  <a:tcPr marL="73152" marR="73152" marT="27432" marB="27432" anchor="ctr">
                    <a:solidFill>
                      <a:srgbClr val="FFFFFF"/>
                    </a:solidFill>
                  </a:tcPr>
                </a:tc>
                <a:tc>
                  <a:txBody>
                    <a:bodyPr/>
                    <a:lstStyle/>
                    <a:p>
                      <a:r>
                        <a:rPr sz="1000" b="0" i="0">
                          <a:solidFill>
                            <a:srgbClr val="002B49"/>
                          </a:solidFill>
                          <a:latin typeface="Consolas"/>
                        </a:rPr>
                        <a:t>digest</a:t>
                      </a:r>
                      <a:r>
                        <a:rPr sz="1100" b="0" i="0">
                          <a:solidFill>
                            <a:srgbClr val="333B44"/>
                          </a:solidFill>
                          <a:latin typeface="Segoe UI"/>
                        </a:rPr>
                        <a:t> + </a:t>
                      </a:r>
                      <a:r>
                        <a:rPr sz="1000" b="0" i="0">
                          <a:solidFill>
                            <a:srgbClr val="002B49"/>
                          </a:solidFill>
                          <a:latin typeface="Consolas"/>
                        </a:rPr>
                        <a:t>digestalg</a:t>
                      </a:r>
                    </a:p>
                  </a:txBody>
                  <a:tcPr marL="73152" marR="73152" marT="27432" marB="27432" anchor="ctr">
                    <a:solidFill>
                      <a:srgbClr val="FFFFFF"/>
                    </a:solidFill>
                  </a:tcPr>
                </a:tc>
                <a:tc>
                  <a:txBody>
                    <a:bodyPr/>
                    <a:lstStyle/>
                    <a:p>
                      <a:r>
                        <a:rPr sz="1100" b="0" i="0">
                          <a:solidFill>
                            <a:srgbClr val="333B44"/>
                          </a:solidFill>
                          <a:latin typeface="Segoe UI"/>
                        </a:rPr>
                        <a:t>Verify retrieved bytes</a:t>
                      </a:r>
                    </a:p>
                  </a:txBody>
                  <a:tcPr marL="73152" marR="73152" marT="27432" marB="27432" anchor="ctr">
                    <a:solidFill>
                      <a:srgbClr val="FFFFFF"/>
                    </a:solidFill>
                  </a:tcPr>
                </a:tc>
              </a:tr>
              <a:tr h="384048">
                <a:tc>
                  <a:txBody>
                    <a:bodyPr/>
                    <a:lstStyle/>
                    <a:p>
                      <a:r>
                        <a:rPr sz="1100" b="0" i="0">
                          <a:solidFill>
                            <a:srgbClr val="333B44"/>
                          </a:solidFill>
                          <a:latin typeface="Segoe UI"/>
                        </a:rPr>
                        <a:t>Schema plugins</a:t>
                      </a:r>
                    </a:p>
                  </a:txBody>
                  <a:tcPr marL="73152" marR="73152" marT="27432" marB="27432" anchor="ctr">
                    <a:solidFill>
                      <a:srgbClr val="F4F6F8"/>
                    </a:solidFill>
                  </a:tcPr>
                </a:tc>
                <a:tc>
                  <a:txBody>
                    <a:bodyPr/>
                    <a:lstStyle/>
                    <a:p>
                      <a:r>
                        <a:rPr sz="1000" b="0" i="0">
                          <a:solidFill>
                            <a:srgbClr val="002B49"/>
                          </a:solidFill>
                          <a:latin typeface="Consolas"/>
                        </a:rPr>
                        <a:t>usdschemaplugingroups</a:t>
                      </a:r>
                    </a:p>
                  </a:txBody>
                  <a:tcPr marL="73152" marR="73152" marT="27432" marB="27432" anchor="ctr">
                    <a:solidFill>
                      <a:srgbClr val="F4F6F8"/>
                    </a:solidFill>
                  </a:tcPr>
                </a:tc>
                <a:tc>
                  <a:txBody>
                    <a:bodyPr/>
                    <a:lstStyle/>
                    <a:p>
                      <a:r>
                        <a:rPr sz="1100" b="0" i="0">
                          <a:solidFill>
                            <a:srgbClr val="333B44"/>
                          </a:solidFill>
                          <a:latin typeface="Segoe UI"/>
                        </a:rPr>
                        <a:t>PlugInfo and generated schema</a:t>
                      </a:r>
                    </a:p>
                  </a:txBody>
                  <a:tcPr marL="73152" marR="73152" marT="27432" marB="27432" anchor="ctr">
                    <a:solidFill>
                      <a:srgbClr val="F4F6F8"/>
                    </a:solidFill>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5B3E96"/>
                </a:solidFill>
                <a:latin typeface="Segoe UI"/>
              </a:rPr>
              <a:t>Public xRegistry-domain draft, peer to the OPC UA projection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OpenUSD Artifact Registry Service</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80</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Specification banner: </a:t>
            </a:r>
            <a:r>
              <a:rPr sz="1700" b="1" i="0">
                <a:solidFill>
                  <a:srgbClr val="002B49"/>
                </a:solidFill>
                <a:latin typeface="Segoe UI"/>
              </a:rPr>
              <a:t>Version 1.0-rc1</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body: xregistry.org domain specification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 path: </a:t>
            </a:r>
            <a:r>
              <a:rPr sz="1600" b="1" i="0">
                <a:solidFill>
                  <a:srgbClr val="002B49"/>
                </a:solidFill>
                <a:latin typeface="Consolas"/>
              </a:rPr>
              <a:t>metaverse-specs/openusd-binding/xRegistry-OpenUsd.md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It stays public while OpenUSD Parts 1 and 2 are under OPCF review</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It subtypes the </a:t>
            </a:r>
            <a:r>
              <a:rPr sz="1600" b="1" i="0">
                <a:solidFill>
                  <a:srgbClr val="002B49"/>
                </a:solidFill>
                <a:latin typeface="Consolas"/>
              </a:rPr>
              <a:t>core-specs/xregistry</a:t>
            </a:r>
            <a:r>
              <a:rPr sz="1700" b="1" i="0">
                <a:solidFill>
                  <a:srgbClr val="002B49"/>
                </a:solidFill>
                <a:latin typeface="Segoe UI"/>
              </a:rPr>
              <a:t> base model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It is the artifact store behind Part 1 asset delivery</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Open questions are cross-registry validation and resolver policy.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874519"/>
            <a:ext cx="1097280" cy="73152"/>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48840"/>
            <a:ext cx="10820095" cy="1005840"/>
          </a:xfrm>
          <a:prstGeom prst="rect">
            <a:avLst/>
          </a:prstGeom>
          <a:noFill/>
        </p:spPr>
        <p:txBody>
          <a:bodyPr wrap="square" lIns="0" rIns="0" tIns="0" bIns="0">
            <a:spAutoFit/>
          </a:bodyPr>
          <a:lstStyle/>
          <a:p>
            <a:r>
              <a:rPr sz="4000" b="1" i="0">
                <a:solidFill>
                  <a:srgbClr val="FFFFFF"/>
                </a:solidFill>
                <a:latin typeface="Segoe UI Semibold"/>
              </a:rPr>
              <a:t>wot — Web of Things</a:t>
            </a:r>
          </a:p>
        </p:txBody>
      </p:sp>
      <p:sp>
        <p:nvSpPr>
          <p:cNvPr id="5" name="TextBox 4"/>
          <p:cNvSpPr txBox="1"/>
          <p:nvPr/>
        </p:nvSpPr>
        <p:spPr>
          <a:xfrm>
            <a:off x="685800" y="3218688"/>
            <a:ext cx="8412480" cy="822960"/>
          </a:xfrm>
          <a:prstGeom prst="rect">
            <a:avLst/>
          </a:prstGeom>
          <a:noFill/>
        </p:spPr>
        <p:txBody>
          <a:bodyPr wrap="square" lIns="0" rIns="0" tIns="0" bIns="0">
            <a:spAutoFit/>
          </a:bodyPr>
          <a:lstStyle/>
          <a:p>
            <a:r>
              <a:rPr sz="1700" b="0" i="0">
                <a:solidFill>
                  <a:srgbClr val="FFFFFF"/>
                </a:solidFill>
                <a:latin typeface="Segoe UI"/>
              </a:rPr>
              <a:t>W3C Thing Description documents, OPC UA models and one registry-shaped way to serve them</a:t>
            </a:r>
          </a:p>
        </p:txBody>
      </p:sp>
      <p:sp>
        <p:nvSpPr>
          <p:cNvPr id="6" name="TextBox 5"/>
          <p:cNvSpPr txBox="1"/>
          <p:nvPr/>
        </p:nvSpPr>
        <p:spPr>
          <a:xfrm>
            <a:off x="685800" y="4160520"/>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OPC UA — Web of Things Binding</a:t>
            </a:r>
          </a:p>
        </p:txBody>
      </p:sp>
      <p:sp>
        <p:nvSpPr>
          <p:cNvPr id="7" name="TextBox 6"/>
          <p:cNvSpPr txBox="1"/>
          <p:nvPr/>
        </p:nvSpPr>
        <p:spPr>
          <a:xfrm>
            <a:off x="685800" y="4489704"/>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OPC UA — WoT Connectivity</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the WoT Binding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Thing Descriptions cannot carry every OPC UA model fact today</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Web of Things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TD can target a value, but OPC UA knows more than a value path</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Session-local namespace indexes make persisted documents fragile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ObjectTypes, references, units and modelling rules need readable terms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round-trip must not drop facts the vocabulary cannot yet express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gap is lossless model identity, not another wire protocol.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Three layers, each usable on its own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Web of Things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83</a:t>
            </a:r>
          </a:p>
        </p:txBody>
      </p:sp>
      <p:graphicFrame>
        <p:nvGraphicFramePr>
          <p:cNvPr id="8" name="Table 7"/>
          <p:cNvGraphicFramePr>
            <a:graphicFrameLocks noGrp="1"/>
          </p:cNvGraphicFramePr>
          <p:nvPr/>
        </p:nvGraphicFramePr>
        <p:xfrm>
          <a:off x="685800" y="1591056"/>
          <a:ext cx="10820094" cy="2688336"/>
        </p:xfrm>
        <a:graphic>
          <a:graphicData uri="http://schemas.openxmlformats.org/drawingml/2006/table">
            <a:tbl>
              <a:tblPr firstRow="1" bandRow="1">
                <a:tableStyleId>{5C22544A-7EE6-4342-B048-85BDC9FD1C3A}</a:tableStyleId>
              </a:tblPr>
              <a:tblGrid>
                <a:gridCol w="2705023"/>
                <a:gridCol w="3895234"/>
                <a:gridCol w="4219837"/>
              </a:tblGrid>
              <a:tr h="384048">
                <a:tc>
                  <a:txBody>
                    <a:bodyPr/>
                    <a:lstStyle/>
                    <a:p>
                      <a:r>
                        <a:rPr sz="1100" b="1" i="0">
                          <a:solidFill>
                            <a:srgbClr val="FFFFFF"/>
                          </a:solidFill>
                          <a:latin typeface="Segoe UI Semibold"/>
                        </a:rPr>
                        <a:t>Layer</a:t>
                      </a:r>
                    </a:p>
                  </a:txBody>
                  <a:tcPr marL="73152" marR="73152" anchor="ctr">
                    <a:solidFill>
                      <a:srgbClr val="0B6E5E"/>
                    </a:solidFill>
                  </a:tcPr>
                </a:tc>
                <a:tc>
                  <a:txBody>
                    <a:bodyPr/>
                    <a:lstStyle/>
                    <a:p>
                      <a:r>
                        <a:rPr sz="1100" b="1" i="0">
                          <a:solidFill>
                            <a:srgbClr val="FFFFFF"/>
                          </a:solidFill>
                          <a:latin typeface="Segoe UI Semibold"/>
                        </a:rPr>
                        <a:t>Adds</a:t>
                      </a:r>
                    </a:p>
                  </a:txBody>
                  <a:tcPr marL="73152" marR="73152" anchor="ctr">
                    <a:solidFill>
                      <a:srgbClr val="0B6E5E"/>
                    </a:solidFill>
                  </a:tcPr>
                </a:tc>
                <a:tc>
                  <a:txBody>
                    <a:bodyPr/>
                    <a:lstStyle/>
                    <a:p>
                      <a:r>
                        <a:rPr sz="1100" b="1" i="0">
                          <a:solidFill>
                            <a:srgbClr val="FFFFFF"/>
                          </a:solidFill>
                          <a:latin typeface="Segoe UI Semibold"/>
                        </a:rPr>
                        <a:t>Why it matters</a:t>
                      </a:r>
                    </a:p>
                  </a:txBody>
                  <a:tcPr marL="73152" marR="73152" anchor="ctr">
                    <a:solidFill>
                      <a:srgbClr val="0B6E5E"/>
                    </a:solidFill>
                  </a:tcPr>
                </a:tc>
              </a:tr>
              <a:tr h="384048">
                <a:tc>
                  <a:txBody>
                    <a:bodyPr/>
                    <a:lstStyle/>
                    <a:p>
                      <a:r>
                        <a:rPr sz="1100" b="0" i="0">
                          <a:solidFill>
                            <a:srgbClr val="333B44"/>
                          </a:solidFill>
                          <a:latin typeface="Segoe UI"/>
                        </a:rPr>
                        <a:t>Protocol</a:t>
                      </a:r>
                    </a:p>
                  </a:txBody>
                  <a:tcPr marL="73152" marR="73152" marT="27432" marB="27432" anchor="ctr">
                    <a:solidFill>
                      <a:srgbClr val="FFFFFF"/>
                    </a:solidFill>
                  </a:tcPr>
                </a:tc>
                <a:tc>
                  <a:txBody>
                    <a:bodyPr/>
                    <a:lstStyle/>
                    <a:p>
                      <a:r>
                        <a:rPr sz="1100" b="0" i="0">
                          <a:solidFill>
                            <a:srgbClr val="333B44"/>
                          </a:solidFill>
                          <a:latin typeface="Segoe UI"/>
                        </a:rPr>
                        <a:t>Read / Write / Observe / Call</a:t>
                      </a:r>
                    </a:p>
                  </a:txBody>
                  <a:tcPr marL="73152" marR="73152" marT="27432" marB="27432" anchor="ctr">
                    <a:solidFill>
                      <a:srgbClr val="FFFFFF"/>
                    </a:solidFill>
                  </a:tcPr>
                </a:tc>
                <a:tc>
                  <a:txBody>
                    <a:bodyPr/>
                    <a:lstStyle/>
                    <a:p>
                      <a:r>
                        <a:rPr sz="1100" b="0" i="0">
                          <a:solidFill>
                            <a:srgbClr val="333B44"/>
                          </a:solidFill>
                          <a:latin typeface="Segoe UI"/>
                        </a:rPr>
                        <a:t>Keeps OPC 10101 behaviour</a:t>
                      </a:r>
                    </a:p>
                  </a:txBody>
                  <a:tcPr marL="73152" marR="73152" marT="27432" marB="27432" anchor="ctr">
                    <a:solidFill>
                      <a:srgbClr val="FFFFFF"/>
                    </a:solidFill>
                  </a:tcPr>
                </a:tc>
              </a:tr>
              <a:tr h="384048">
                <a:tc>
                  <a:txBody>
                    <a:bodyPr/>
                    <a:lstStyle/>
                    <a:p>
                      <a:r>
                        <a:rPr sz="1100" b="0" i="0">
                          <a:solidFill>
                            <a:srgbClr val="333B44"/>
                          </a:solidFill>
                          <a:latin typeface="Segoe UI"/>
                        </a:rPr>
                        <a:t>Security</a:t>
                      </a:r>
                    </a:p>
                  </a:txBody>
                  <a:tcPr marL="73152" marR="73152" marT="27432" marB="27432" anchor="ctr">
                    <a:solidFill>
                      <a:srgbClr val="F4F6F8"/>
                    </a:solidFill>
                  </a:tcPr>
                </a:tc>
                <a:tc>
                  <a:txBody>
                    <a:bodyPr/>
                    <a:lstStyle/>
                    <a:p>
                      <a:r>
                        <a:rPr sz="1000" b="0" i="0">
                          <a:solidFill>
                            <a:srgbClr val="002B49"/>
                          </a:solidFill>
                          <a:latin typeface="Consolas"/>
                        </a:rPr>
                        <a:t>uav:channelsec</a:t>
                      </a:r>
                      <a:r>
                        <a:rPr sz="1100" b="0" i="0">
                          <a:solidFill>
                            <a:srgbClr val="333B44"/>
                          </a:solidFill>
                          <a:latin typeface="Segoe UI"/>
                        </a:rPr>
                        <a:t>, auth</a:t>
                      </a:r>
                    </a:p>
                  </a:txBody>
                  <a:tcPr marL="73152" marR="73152" marT="27432" marB="27432" anchor="ctr">
                    <a:solidFill>
                      <a:srgbClr val="F4F6F8"/>
                    </a:solidFill>
                  </a:tcPr>
                </a:tc>
                <a:tc>
                  <a:txBody>
                    <a:bodyPr/>
                    <a:lstStyle/>
                    <a:p>
                      <a:r>
                        <a:rPr sz="1100" b="0" i="0">
                          <a:solidFill>
                            <a:srgbClr val="333B44"/>
                          </a:solidFill>
                          <a:latin typeface="Segoe UI"/>
                        </a:rPr>
                        <a:t>Selects UA security settings</a:t>
                      </a:r>
                    </a:p>
                  </a:txBody>
                  <a:tcPr marL="73152" marR="73152" marT="27432" marB="27432" anchor="ctr">
                    <a:solidFill>
                      <a:srgbClr val="F4F6F8"/>
                    </a:solidFill>
                  </a:tcPr>
                </a:tc>
              </a:tr>
              <a:tr h="384048">
                <a:tc>
                  <a:txBody>
                    <a:bodyPr/>
                    <a:lstStyle/>
                    <a:p>
                      <a:r>
                        <a:rPr sz="1100" b="0" i="0">
                          <a:solidFill>
                            <a:srgbClr val="333B44"/>
                          </a:solidFill>
                          <a:latin typeface="Segoe UI"/>
                        </a:rPr>
                        <a:t>Model</a:t>
                      </a:r>
                    </a:p>
                  </a:txBody>
                  <a:tcPr marL="73152" marR="73152" marT="27432" marB="27432" anchor="ctr">
                    <a:solidFill>
                      <a:srgbClr val="FFFFFF"/>
                    </a:solidFill>
                  </a:tcPr>
                </a:tc>
                <a:tc>
                  <a:txBody>
                    <a:bodyPr/>
                    <a:lstStyle/>
                    <a:p>
                      <a:r>
                        <a:rPr sz="1100" b="0" i="0">
                          <a:solidFill>
                            <a:srgbClr val="333B44"/>
                          </a:solidFill>
                          <a:latin typeface="Segoe UI"/>
                        </a:rPr>
                        <a:t>Types, refs, units, rules</a:t>
                      </a:r>
                    </a:p>
                  </a:txBody>
                  <a:tcPr marL="73152" marR="73152" marT="27432" marB="27432" anchor="ctr">
                    <a:solidFill>
                      <a:srgbClr val="FFFFFF"/>
                    </a:solidFill>
                  </a:tcPr>
                </a:tc>
                <a:tc>
                  <a:txBody>
                    <a:bodyPr/>
                    <a:lstStyle/>
                    <a:p>
                      <a:r>
                        <a:rPr sz="1100" b="0" i="0">
                          <a:solidFill>
                            <a:srgbClr val="333B44"/>
                          </a:solidFill>
                          <a:latin typeface="Segoe UI"/>
                        </a:rPr>
                        <a:t>Carries ObjectType facts</a:t>
                      </a:r>
                    </a:p>
                  </a:txBody>
                  <a:tcPr marL="73152" marR="73152" marT="27432" marB="27432" anchor="ctr">
                    <a:solidFill>
                      <a:srgbClr val="FFFFFF"/>
                    </a:solidFill>
                  </a:tcPr>
                </a:tc>
              </a:tr>
              <a:tr h="384048">
                <a:tc>
                  <a:txBody>
                    <a:bodyPr/>
                    <a:lstStyle/>
                    <a:p>
                      <a:r>
                        <a:rPr sz="1100" b="0" i="0">
                          <a:solidFill>
                            <a:srgbClr val="333B44"/>
                          </a:solidFill>
                          <a:latin typeface="Segoe UI"/>
                        </a:rPr>
                        <a:t>Native</a:t>
                      </a:r>
                    </a:p>
                  </a:txBody>
                  <a:tcPr marL="73152" marR="73152" marT="27432" marB="27432" anchor="ctr">
                    <a:solidFill>
                      <a:srgbClr val="F4F6F8"/>
                    </a:solidFill>
                  </a:tcPr>
                </a:tc>
                <a:tc>
                  <a:txBody>
                    <a:bodyPr/>
                    <a:lstStyle/>
                    <a:p>
                      <a:r>
                        <a:rPr sz="1000" b="0" i="0">
                          <a:solidFill>
                            <a:srgbClr val="002B49"/>
                          </a:solidFill>
                          <a:latin typeface="Consolas"/>
                        </a:rPr>
                        <a:t>uav:nodes</a:t>
                      </a:r>
                      <a:r>
                        <a:rPr sz="1100" b="0" i="0">
                          <a:solidFill>
                            <a:srgbClr val="333B44"/>
                          </a:solidFill>
                          <a:latin typeface="Segoe UI"/>
                        </a:rPr>
                        <a:t> projection</a:t>
                      </a:r>
                    </a:p>
                  </a:txBody>
                  <a:tcPr marL="73152" marR="73152" marT="27432" marB="27432" anchor="ctr">
                    <a:solidFill>
                      <a:srgbClr val="F4F6F8"/>
                    </a:solidFill>
                  </a:tcPr>
                </a:tc>
                <a:tc>
                  <a:txBody>
                    <a:bodyPr/>
                    <a:lstStyle/>
                    <a:p>
                      <a:r>
                        <a:rPr sz="1100" b="0" i="0">
                          <a:solidFill>
                            <a:srgbClr val="333B44"/>
                          </a:solidFill>
                          <a:latin typeface="Segoe UI"/>
                        </a:rPr>
                        <a:t>Covers incomplete vocabulary</a:t>
                      </a:r>
                    </a:p>
                  </a:txBody>
                  <a:tcPr marL="73152" marR="73152" marT="27432" marB="27432" anchor="ctr">
                    <a:solidFill>
                      <a:srgbClr val="F4F6F8"/>
                    </a:solidFill>
                  </a:tcPr>
                </a:tc>
              </a:tr>
              <a:tr h="384048">
                <a:tc>
                  <a:txBody>
                    <a:bodyPr/>
                    <a:lstStyle/>
                    <a:p>
                      <a:r>
                        <a:rPr sz="1100" b="0" i="0">
                          <a:solidFill>
                            <a:srgbClr val="333B44"/>
                          </a:solidFill>
                          <a:latin typeface="Segoe UI"/>
                        </a:rPr>
                        <a:t>Archive</a:t>
                      </a:r>
                    </a:p>
                  </a:txBody>
                  <a:tcPr marL="73152" marR="73152" marT="27432" marB="27432" anchor="ctr">
                    <a:solidFill>
                      <a:srgbClr val="FFFFFF"/>
                    </a:solidFill>
                  </a:tcPr>
                </a:tc>
                <a:tc>
                  <a:txBody>
                    <a:bodyPr/>
                    <a:lstStyle/>
                    <a:p>
                      <a:r>
                        <a:rPr sz="1000" b="0" i="0">
                          <a:solidFill>
                            <a:srgbClr val="002B49"/>
                          </a:solidFill>
                          <a:latin typeface="Consolas"/>
                        </a:rPr>
                        <a:t>uav:nodeSet</a:t>
                      </a:r>
                      <a:r>
                        <a:rPr sz="1100" b="0" i="0">
                          <a:solidFill>
                            <a:srgbClr val="333B44"/>
                          </a:solidFill>
                          <a:latin typeface="Segoe UI"/>
                        </a:rPr>
                        <a:t> envelope</a:t>
                      </a:r>
                    </a:p>
                  </a:txBody>
                  <a:tcPr marL="73152" marR="73152" marT="27432" marB="27432" anchor="ctr">
                    <a:solidFill>
                      <a:srgbClr val="FFFFFF"/>
                    </a:solidFill>
                  </a:tcPr>
                </a:tc>
                <a:tc>
                  <a:txBody>
                    <a:bodyPr/>
                    <a:lstStyle/>
                    <a:p>
                      <a:r>
                        <a:rPr sz="1100" b="0" i="0">
                          <a:solidFill>
                            <a:srgbClr val="333B44"/>
                          </a:solidFill>
                          <a:latin typeface="Segoe UI"/>
                        </a:rPr>
                        <a:t>Pins exact NodeSet2 bytes</a:t>
                      </a:r>
                    </a:p>
                  </a:txBody>
                  <a:tcPr marL="73152" marR="73152" marT="27432" marB="27432" anchor="ctr">
                    <a:solidFill>
                      <a:srgbClr val="FFFFFF"/>
                    </a:solidFill>
                  </a:tcPr>
                </a:tc>
              </a:tr>
              <a:tr h="384048">
                <a:tc>
                  <a:txBody>
                    <a:bodyPr/>
                    <a:lstStyle/>
                    <a:p>
                      <a:r>
                        <a:rPr sz="1100" b="0" i="0">
                          <a:solidFill>
                            <a:srgbClr val="333B44"/>
                          </a:solidFill>
                          <a:latin typeface="Segoe UI"/>
                        </a:rPr>
                        <a:t>View</a:t>
                      </a:r>
                    </a:p>
                  </a:txBody>
                  <a:tcPr marL="73152" marR="73152" marT="27432" marB="27432" anchor="ctr">
                    <a:solidFill>
                      <a:srgbClr val="F4F6F8"/>
                    </a:solidFill>
                  </a:tcPr>
                </a:tc>
                <a:tc>
                  <a:txBody>
                    <a:bodyPr/>
                    <a:lstStyle/>
                    <a:p>
                      <a:r>
                        <a:rPr sz="1000" b="0" i="0">
                          <a:solidFill>
                            <a:srgbClr val="002B49"/>
                          </a:solidFill>
                          <a:latin typeface="Consolas"/>
                        </a:rPr>
                        <a:t>uav:projection</a:t>
                      </a:r>
                      <a:r>
                        <a:rPr sz="1100" b="0" i="0">
                          <a:solidFill>
                            <a:srgbClr val="333B44"/>
                          </a:solidFill>
                          <a:latin typeface="Segoe UI"/>
                        </a:rPr>
                        <a:t> terms</a:t>
                      </a:r>
                    </a:p>
                  </a:txBody>
                  <a:tcPr marL="73152" marR="73152" marT="27432" marB="27432" anchor="ctr">
                    <a:solidFill>
                      <a:srgbClr val="F4F6F8"/>
                    </a:solidFill>
                  </a:tcPr>
                </a:tc>
                <a:tc>
                  <a:txBody>
                    <a:bodyPr/>
                    <a:lstStyle/>
                    <a:p>
                      <a:r>
                        <a:rPr sz="1100" b="0" i="0">
                          <a:solidFill>
                            <a:srgbClr val="333B44"/>
                          </a:solidFill>
                          <a:latin typeface="Segoe UI"/>
                        </a:rPr>
                        <a:t>Builds selected UA Views</a:t>
                      </a:r>
                    </a:p>
                  </a:txBody>
                  <a:tcPr marL="73152" marR="73152" marT="27432" marB="27432" anchor="ctr">
                    <a:solidFill>
                      <a:srgbClr val="F4F6F8"/>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 — readable vocabulary</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A TD fragment can name OPC UA identity and operations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Web of Things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84</a:t>
            </a:r>
          </a:p>
        </p:txBody>
      </p:sp>
      <p:sp>
        <p:nvSpPr>
          <p:cNvPr id="8" name="TextBox 7"/>
          <p:cNvSpPr txBox="1"/>
          <p:nvPr/>
        </p:nvSpPr>
        <p:spPr>
          <a:xfrm>
            <a:off x="685800" y="1591056"/>
            <a:ext cx="10820095" cy="384048"/>
          </a:xfrm>
          <a:prstGeom prst="rect">
            <a:avLst/>
          </a:prstGeom>
          <a:noFill/>
        </p:spPr>
        <p:txBody>
          <a:bodyPr wrap="square" lIns="0" rIns="0" tIns="0" bIns="0">
            <a:spAutoFit/>
          </a:bodyPr>
          <a:lstStyle/>
          <a:p>
            <a:r>
              <a:rPr sz="1300" b="0" i="0">
                <a:solidFill>
                  <a:srgbClr val="333B44"/>
                </a:solidFill>
                <a:latin typeface="Segoe UI"/>
              </a:rPr>
              <a:t>The </a:t>
            </a:r>
            <a:r>
              <a:rPr sz="1200" b="0" i="0">
                <a:solidFill>
                  <a:srgbClr val="002B49"/>
                </a:solidFill>
                <a:latin typeface="Consolas"/>
              </a:rPr>
              <a:t>uav</a:t>
            </a:r>
            <a:r>
              <a:rPr sz="1300" b="0" i="0">
                <a:solidFill>
                  <a:srgbClr val="333B44"/>
                </a:solidFill>
                <a:latin typeface="Segoe UI"/>
              </a:rPr>
              <a:t> terms stay beside the W3C TD terms.</a:t>
            </a:r>
          </a:p>
        </p:txBody>
      </p:sp>
      <p:sp>
        <p:nvSpPr>
          <p:cNvPr id="9" name="Rounded Rectangle 8"/>
          <p:cNvSpPr/>
          <p:nvPr/>
        </p:nvSpPr>
        <p:spPr>
          <a:xfrm>
            <a:off x="685800" y="2066544"/>
            <a:ext cx="10820095" cy="3602736"/>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46304" bIns="146304"/>
          <a:lstStyle/>
          <a:p>
            <a:pPr algn="ctr">
              <a:lnSpc>
                <a:spcPct val="106000"/>
              </a:lnSpc>
              <a:spcAft>
                <a:spcPts val="0"/>
              </a:spcAft>
            </a:pPr>
            <a:r>
              <a:rPr sz="1200" b="0" i="0">
                <a:solidFill>
                  <a:srgbClr val="FFFFFF"/>
                </a:solidFill>
                <a:latin typeface="Consolas"/>
              </a:rPr>
              <a:t>{</a:t>
            </a:r>
          </a:p>
          <a:p>
            <a:pPr>
              <a:lnSpc>
                <a:spcPct val="106000"/>
              </a:lnSpc>
              <a:spcAft>
                <a:spcPts val="0"/>
              </a:spcAft>
            </a:pPr>
            <a:r>
              <a:rPr sz="1200" b="0" i="0">
                <a:solidFill>
                  <a:srgbClr val="FFFFFF"/>
                </a:solidFill>
                <a:latin typeface="Consolas"/>
              </a:rPr>
              <a:t>  "@context": [</a:t>
            </a:r>
          </a:p>
          <a:p>
            <a:pPr>
              <a:lnSpc>
                <a:spcPct val="106000"/>
              </a:lnSpc>
              <a:spcAft>
                <a:spcPts val="0"/>
              </a:spcAft>
            </a:pPr>
            <a:r>
              <a:rPr sz="1200" b="0" i="0">
                <a:solidFill>
                  <a:srgbClr val="FFFFFF"/>
                </a:solidFill>
                <a:latin typeface="Consolas"/>
              </a:rPr>
              <a:t>    "https://www.w3.org/2022/wot/td/v1.1",</a:t>
            </a:r>
          </a:p>
          <a:p>
            <a:pPr>
              <a:lnSpc>
                <a:spcPct val="106000"/>
              </a:lnSpc>
              <a:spcAft>
                <a:spcPts val="0"/>
              </a:spcAft>
            </a:pPr>
            <a:r>
              <a:rPr sz="1200" b="0" i="0">
                <a:solidFill>
                  <a:srgbClr val="FFFFFF"/>
                </a:solidFill>
                <a:latin typeface="Consolas"/>
              </a:rPr>
              <a:t>    { "uav": "http://opcfoundation.org/UA/WoT-Binding/" }</a:t>
            </a:r>
          </a:p>
          <a:p>
            <a:pPr>
              <a:lnSpc>
                <a:spcPct val="106000"/>
              </a:lnSpc>
              <a:spcAft>
                <a:spcPts val="0"/>
              </a:spcAft>
            </a:pPr>
            <a:r>
              <a:rPr sz="1200" b="0" i="0">
                <a:solidFill>
                  <a:srgbClr val="FFFFFF"/>
                </a:solidFill>
                <a:latin typeface="Consolas"/>
              </a:rPr>
              <a:t>  ],</a:t>
            </a:r>
          </a:p>
          <a:p>
            <a:pPr>
              <a:lnSpc>
                <a:spcPct val="106000"/>
              </a:lnSpc>
              <a:spcAft>
                <a:spcPts val="0"/>
              </a:spcAft>
            </a:pPr>
            <a:r>
              <a:rPr sz="1200" b="0" i="0">
                <a:solidFill>
                  <a:srgbClr val="FFFFFF"/>
                </a:solidFill>
                <a:latin typeface="Consolas"/>
              </a:rPr>
              <a:t>  "@type": ["Thing", "uav:object"],</a:t>
            </a:r>
          </a:p>
          <a:p>
            <a:pPr>
              <a:lnSpc>
                <a:spcPct val="106000"/>
              </a:lnSpc>
              <a:spcAft>
                <a:spcPts val="0"/>
              </a:spcAft>
            </a:pPr>
            <a:r>
              <a:rPr sz="1200" b="0" i="0">
                <a:solidFill>
                  <a:srgbClr val="FFFFFF"/>
                </a:solidFill>
                <a:latin typeface="Consolas"/>
              </a:rPr>
              <a:t>  "uav:id": "nsu=http://example.com/demo/pump;s=Pump1",</a:t>
            </a:r>
          </a:p>
          <a:p>
            <a:pPr>
              <a:lnSpc>
                <a:spcPct val="106000"/>
              </a:lnSpc>
              <a:spcAft>
                <a:spcPts val="0"/>
              </a:spcAft>
            </a:pPr>
            <a:r>
              <a:rPr sz="1200" b="0" i="0">
                <a:solidFill>
                  <a:srgbClr val="FFFFFF"/>
                </a:solidFill>
                <a:latin typeface="Consolas"/>
              </a:rPr>
              <a:t>  "uav:browseName": "pump:PumpType",</a:t>
            </a:r>
          </a:p>
          <a:p>
            <a:pPr>
              <a:lnSpc>
                <a:spcPct val="106000"/>
              </a:lnSpc>
              <a:spcAft>
                <a:spcPts val="0"/>
              </a:spcAft>
            </a:pPr>
            <a:r>
              <a:rPr sz="1200" b="0" i="0">
                <a:solidFill>
                  <a:srgbClr val="FFFFFF"/>
                </a:solidFill>
                <a:latin typeface="Consolas"/>
              </a:rPr>
              <a:t>  "properties": {</a:t>
            </a:r>
          </a:p>
          <a:p>
            <a:pPr>
              <a:lnSpc>
                <a:spcPct val="106000"/>
              </a:lnSpc>
              <a:spcAft>
                <a:spcPts val="0"/>
              </a:spcAft>
            </a:pPr>
            <a:r>
              <a:rPr sz="1200" b="0" i="0">
                <a:solidFill>
                  <a:srgbClr val="FFFFFF"/>
                </a:solidFill>
                <a:latin typeface="Consolas"/>
              </a:rPr>
              <a:t>    "speed": {</a:t>
            </a:r>
          </a:p>
          <a:p>
            <a:pPr>
              <a:lnSpc>
                <a:spcPct val="106000"/>
              </a:lnSpc>
              <a:spcAft>
                <a:spcPts val="0"/>
              </a:spcAft>
            </a:pPr>
            <a:r>
              <a:rPr sz="1200" b="0" i="0">
                <a:solidFill>
                  <a:srgbClr val="FFFFFF"/>
                </a:solidFill>
                <a:latin typeface="Consolas"/>
              </a:rPr>
              <a:t>      "type": "number",</a:t>
            </a:r>
          </a:p>
          <a:p>
            <a:pPr>
              <a:lnSpc>
                <a:spcPct val="106000"/>
              </a:lnSpc>
              <a:spcAft>
                <a:spcPts val="0"/>
              </a:spcAft>
            </a:pPr>
            <a:r>
              <a:rPr sz="1200" b="0" i="0">
                <a:solidFill>
                  <a:srgbClr val="FFFFFF"/>
                </a:solidFill>
                <a:latin typeface="Consolas"/>
              </a:rPr>
              <a:t>      "uav:browsePath": "pump:Speed",</a:t>
            </a:r>
          </a:p>
          <a:p>
            <a:pPr>
              <a:lnSpc>
                <a:spcPct val="106000"/>
              </a:lnSpc>
              <a:spcAft>
                <a:spcPts val="0"/>
              </a:spcAft>
            </a:pPr>
            <a:r>
              <a:rPr sz="1200" b="0" i="0">
                <a:solidFill>
                  <a:srgbClr val="FFFFFF"/>
                </a:solidFill>
                <a:latin typeface="Consolas"/>
              </a:rPr>
              <a:t>      "forms": [{ "href": "opc.tcp://host/UA?s=Pump1.Speed",</a:t>
            </a:r>
          </a:p>
          <a:p>
            <a:pPr>
              <a:lnSpc>
                <a:spcPct val="106000"/>
              </a:lnSpc>
              <a:spcAft>
                <a:spcPts val="0"/>
              </a:spcAft>
            </a:pPr>
            <a:r>
              <a:rPr sz="1200" b="0" i="0">
                <a:solidFill>
                  <a:srgbClr val="FFFFFF"/>
                </a:solidFill>
                <a:latin typeface="Consolas"/>
              </a:rPr>
              <a:t>                   "op": ["readproperty", "observeproperty"] }]</a:t>
            </a:r>
          </a:p>
          <a:p>
            <a:pPr>
              <a:lnSpc>
                <a:spcPct val="106000"/>
              </a:lnSpc>
              <a:spcAft>
                <a:spcPts val="0"/>
              </a:spcAft>
            </a:pPr>
            <a:r>
              <a:rPr sz="1200" b="0" i="0">
                <a:solidFill>
                  <a:srgbClr val="FFFFFF"/>
                </a:solidFill>
                <a:latin typeface="Consolas"/>
              </a:rPr>
              <a:t>    }</a:t>
            </a:r>
          </a:p>
          <a:p>
            <a:pPr>
              <a:lnSpc>
                <a:spcPct val="106000"/>
              </a:lnSpc>
              <a:spcAft>
                <a:spcPts val="0"/>
              </a:spcAft>
            </a:pPr>
            <a:r>
              <a:rPr sz="1200" b="0" i="0">
                <a:solidFill>
                  <a:srgbClr val="FFFFFF"/>
                </a:solidFill>
                <a:latin typeface="Consolas"/>
              </a:rPr>
              <a:t>  }</a:t>
            </a:r>
          </a:p>
          <a:p>
            <a:pPr>
              <a:lnSpc>
                <a:spcPct val="106000"/>
              </a:lnSpc>
              <a:spcAft>
                <a:spcPts val="0"/>
              </a:spcAft>
            </a:pPr>
            <a:r>
              <a:rPr sz="1200" b="0" i="0">
                <a:solidFill>
                  <a:srgbClr val="FFFFFF"/>
                </a:solidFill>
                <a:latin typeface="Consolas"/>
              </a:rPr>
              <a:t>}</a:t>
            </a:r>
          </a:p>
        </p:txBody>
      </p:sp>
      <p:sp>
        <p:nvSpPr>
          <p:cNvPr id="10" name="TextBox 9"/>
          <p:cNvSpPr txBox="1"/>
          <p:nvPr/>
        </p:nvSpPr>
        <p:spPr>
          <a:xfrm>
            <a:off x="685800" y="5779008"/>
            <a:ext cx="10820095" cy="365760"/>
          </a:xfrm>
          <a:prstGeom prst="rect">
            <a:avLst/>
          </a:prstGeom>
          <a:noFill/>
        </p:spPr>
        <p:txBody>
          <a:bodyPr wrap="square" lIns="0" rIns="0" tIns="0" bIns="0">
            <a:spAutoFit/>
          </a:bodyPr>
          <a:lstStyle/>
          <a:p>
            <a:r>
              <a:rPr sz="1200" b="0" i="0">
                <a:solidFill>
                  <a:srgbClr val="333B44"/>
                </a:solidFill>
                <a:latin typeface="Segoe UI"/>
              </a:rPr>
              <a:t>Identity is portable; the form still describes the route.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round-trips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Readable terms are primary; preservation is explicit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Web of Things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85</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NodeSet2 → WoT uses readable </a:t>
            </a:r>
            <a:r>
              <a:rPr sz="1600" b="1" i="0">
                <a:solidFill>
                  <a:srgbClr val="002B49"/>
                </a:solidFill>
                <a:latin typeface="Consolas"/>
              </a:rPr>
              <a:t>uav</a:t>
            </a:r>
            <a:r>
              <a:rPr sz="1700" b="1" i="0">
                <a:solidFill>
                  <a:srgbClr val="002B49"/>
                </a:solidFill>
                <a:latin typeface="Segoe UI"/>
              </a:rPr>
              <a:t> terms where they are complete</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uav:nodes</a:t>
            </a:r>
            <a:r>
              <a:rPr sz="1700" b="1" i="0">
                <a:solidFill>
                  <a:srgbClr val="002B49"/>
                </a:solidFill>
                <a:latin typeface="Segoe UI"/>
              </a:rPr>
              <a:t> carries structured source facts the terms cannot express</a:t>
            </a:r>
          </a:p>
          <a:p>
            <a:pPr marL="219456" indent="-219456">
              <a:lnSpc>
                <a:spcPct val="102000"/>
              </a:lnSpc>
              <a:spcBef>
                <a:spcPts val="600"/>
              </a:spcBef>
              <a:spcAft>
                <a:spcPts val="800"/>
              </a:spcAft>
            </a:pPr>
            <a:r>
              <a:rPr sz="1500" b="1" i="0">
                <a:solidFill>
                  <a:srgbClr val="F29900"/>
                </a:solidFill>
                <a:latin typeface="Segoe UI"/>
              </a:rPr>
              <a:t>■  </a:t>
            </a:r>
            <a:r>
              <a:rPr sz="1600" b="1" i="0">
                <a:solidFill>
                  <a:srgbClr val="002B49"/>
                </a:solidFill>
                <a:latin typeface="Consolas"/>
              </a:rPr>
              <a:t>uav:nodeSet</a:t>
            </a:r>
            <a:r>
              <a:rPr sz="1700" b="1" i="0">
                <a:solidFill>
                  <a:srgbClr val="002B49"/>
                </a:solidFill>
                <a:latin typeface="Segoe UI"/>
              </a:rPr>
              <a:t> is reserved for byte-exact archival with a digest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Malformed vocabulary values invalidate the document, not the model silently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Projection documents resolve selected affordances into OPC UA Views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converter can be readable without being lossy.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Standalone OPC 10101 revision under OPC Foundation review</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Web of Things Binding</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86</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Draft version:</a:t>
            </a:r>
            <a:r>
              <a:rPr sz="1700" b="1" i="0">
                <a:solidFill>
                  <a:srgbClr val="002B49"/>
                </a:solidFill>
                <a:latin typeface="Segoe UI"/>
              </a:rPr>
              <a:t> Release 1.1-draft3, dated 2026-07-29</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Status:</a:t>
            </a:r>
            <a:r>
              <a:rPr sz="1700" b="1" i="0">
                <a:solidFill>
                  <a:srgbClr val="002B49"/>
                </a:solidFill>
                <a:latin typeface="Segoe UI"/>
              </a:rPr>
              <a:t> Under OPC Foundation review</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Review repository:</a:t>
            </a:r>
            <a:r>
              <a:rPr sz="1700" b="1" i="0">
                <a:solidFill>
                  <a:srgbClr val="002B49"/>
                </a:solidFill>
                <a:latin typeface="Segoe UI"/>
              </a:rPr>
              <a:t> </a:t>
            </a:r>
            <a:r>
              <a:rPr sz="1600" b="1" i="0">
                <a:solidFill>
                  <a:srgbClr val="002B49"/>
                </a:solidFill>
                <a:latin typeface="Consolas"/>
              </a:rPr>
              <a:t>OPCF-Members/spec-drafts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a:t>
            </a:r>
            <a:r>
              <a:rPr sz="1700" b="1" i="0">
                <a:solidFill>
                  <a:srgbClr val="002B49"/>
                </a:solidFill>
                <a:latin typeface="Segoe UI"/>
              </a:rPr>
              <a:t> </a:t>
            </a:r>
            <a:r>
              <a:rPr sz="1600" b="1" i="0">
                <a:solidFill>
                  <a:srgbClr val="002B49"/>
                </a:solidFill>
                <a:latin typeface="Consolas"/>
              </a:rPr>
              <a:t>wot-specs/WoT-Binding/OPC-UA-WoT-Binding.md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Implementation:</a:t>
            </a:r>
            <a:r>
              <a:rPr sz="1700" b="1" i="0">
                <a:solidFill>
                  <a:srgbClr val="002B49"/>
                </a:solidFill>
                <a:latin typeface="Segoe UI"/>
              </a:rPr>
              <a:t> </a:t>
            </a:r>
            <a:r>
              <a:rPr sz="1600" b="1" i="0">
                <a:solidFill>
                  <a:srgbClr val="002B49"/>
                </a:solidFill>
                <a:latin typeface="Consolas"/>
              </a:rPr>
              <a:t>WotNodeSetConverter</a:t>
            </a:r>
            <a:r>
              <a:rPr sz="1700" b="1" i="0">
                <a:solidFill>
                  <a:srgbClr val="002B49"/>
                </a:solidFill>
                <a:latin typeface="Segoe UI"/>
              </a:rPr>
              <a:t> and protocol binders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Demos:</a:t>
            </a:r>
            <a:r>
              <a:rPr sz="1700" b="1" i="0">
                <a:solidFill>
                  <a:srgbClr val="002B49"/>
                </a:solidFill>
                <a:latin typeface="Segoe UI"/>
              </a:rPr>
              <a:t> </a:t>
            </a:r>
            <a:r>
              <a:rPr sz="1700" b="1" i="0">
                <a:solidFill>
                  <a:srgbClr val="002B49"/>
                </a:solidFill>
                <a:latin typeface="Segoe UI"/>
              </a:rPr>
              <a:t>4</a:t>
            </a:r>
            <a:r>
              <a:rPr sz="1700" b="1" i="0">
                <a:solidFill>
                  <a:srgbClr val="002B49"/>
                </a:solidFill>
                <a:latin typeface="Segoe UI"/>
              </a:rPr>
              <a:t> pumps via WoT and </a:t>
            </a:r>
            <a:r>
              <a:rPr sz="1700" b="1" i="0">
                <a:solidFill>
                  <a:srgbClr val="002B49"/>
                </a:solidFill>
                <a:latin typeface="Segoe UI"/>
              </a:rPr>
              <a:t>7</a:t>
            </a:r>
            <a:r>
              <a:rPr sz="1700" b="1" i="0">
                <a:solidFill>
                  <a:srgbClr val="002B49"/>
                </a:solidFill>
                <a:latin typeface="Segoe UI"/>
              </a:rPr>
              <a:t> AAS + WoT + xRegistry</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binding supplies the vocabulary; Connectivity supplies the registry-backed server.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WoT Connectivity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The 1.02 surface makes nodes look canonical when the documents are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WoT Connectivity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87</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Thing Models and TDs are the authored source of truth</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browsed AddressSpace is a projection that can be rebuilt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flat asset-management surface cannot model document lifecycle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Operators need desired, active and failed versions to remain visible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Existing 1.02 clients still need the published NodeIds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inversion is the effort: documents canonical, AddressSpace derived.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changes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The source of truth moves from nodes to documents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WoT Connectivity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88</a:t>
            </a:r>
          </a:p>
        </p:txBody>
      </p:sp>
      <p:sp>
        <p:nvSpPr>
          <p:cNvPr id="8" name="Rectangle 7"/>
          <p:cNvSpPr/>
          <p:nvPr/>
        </p:nvSpPr>
        <p:spPr>
          <a:xfrm>
            <a:off x="685800" y="1591056"/>
            <a:ext cx="54864" cy="274320"/>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591056"/>
            <a:ext cx="5058003" cy="310896"/>
          </a:xfrm>
          <a:prstGeom prst="rect">
            <a:avLst/>
          </a:prstGeom>
          <a:noFill/>
        </p:spPr>
        <p:txBody>
          <a:bodyPr wrap="square" lIns="0" rIns="0" tIns="0" bIns="0">
            <a:spAutoFit/>
          </a:bodyPr>
          <a:lstStyle/>
          <a:p>
            <a:r>
              <a:rPr sz="1500" b="1" i="0">
                <a:solidFill>
                  <a:srgbClr val="002B49"/>
                </a:solidFill>
                <a:latin typeface="Segoe UI Semibold"/>
              </a:rPr>
              <a:t>OPC 10100-1 v1.02 shape</a:t>
            </a:r>
          </a:p>
        </p:txBody>
      </p:sp>
      <p:sp>
        <p:nvSpPr>
          <p:cNvPr id="10" name="TextBox 9"/>
          <p:cNvSpPr txBox="1"/>
          <p:nvPr/>
        </p:nvSpPr>
        <p:spPr>
          <a:xfrm>
            <a:off x="685800" y="2011680"/>
            <a:ext cx="5204307" cy="4114800"/>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Flat asset-management surface</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WoTAssetConnectionManagement</a:t>
            </a:r>
            <a:r>
              <a:rPr sz="1400" b="1" i="0">
                <a:solidFill>
                  <a:srgbClr val="002B49"/>
                </a:solidFill>
                <a:latin typeface="Segoe UI"/>
              </a:rPr>
              <a:t> is central</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TD upload materializes asset nodes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Published NodeIds define client compatibility</a:t>
            </a:r>
          </a:p>
        </p:txBody>
      </p:sp>
      <p:sp>
        <p:nvSpPr>
          <p:cNvPr id="11" name="Rectangle 10"/>
          <p:cNvSpPr/>
          <p:nvPr/>
        </p:nvSpPr>
        <p:spPr>
          <a:xfrm>
            <a:off x="6301587" y="1591056"/>
            <a:ext cx="54864" cy="274320"/>
          </a:xfrm>
          <a:prstGeom prst="rect">
            <a:avLst/>
          </a:prstGeom>
          <a:solidFill>
            <a:srgbClr val="B8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7891" y="1591056"/>
            <a:ext cx="5058003" cy="310896"/>
          </a:xfrm>
          <a:prstGeom prst="rect">
            <a:avLst/>
          </a:prstGeom>
          <a:noFill/>
        </p:spPr>
        <p:txBody>
          <a:bodyPr wrap="square" lIns="0" rIns="0" tIns="0" bIns="0">
            <a:spAutoFit/>
          </a:bodyPr>
          <a:lstStyle/>
          <a:p>
            <a:r>
              <a:rPr sz="1500" b="1" i="0">
                <a:solidFill>
                  <a:srgbClr val="002B49"/>
                </a:solidFill>
                <a:latin typeface="Segoe UI Semibold"/>
              </a:rPr>
              <a:t>This draft shape</a:t>
            </a:r>
          </a:p>
        </p:txBody>
      </p:sp>
      <p:sp>
        <p:nvSpPr>
          <p:cNvPr id="13" name="TextBox 12"/>
          <p:cNvSpPr txBox="1"/>
          <p:nvPr/>
        </p:nvSpPr>
        <p:spPr>
          <a:xfrm>
            <a:off x="6301587" y="2011680"/>
            <a:ext cx="5204307" cy="4114800"/>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xRegistry document registry is central</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TD and TM files are versioned resources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AddressSpace is a shadow-switched projection</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Published NodeIds are preserved as a profile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A WoT document registry over the xRegistry base model</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WoT Connectivity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89</a:t>
            </a:r>
          </a:p>
        </p:txBody>
      </p:sp>
      <p:sp>
        <p:nvSpPr>
          <p:cNvPr id="8" name="Rounded Rectangle 7"/>
          <p:cNvSpPr/>
          <p:nvPr/>
        </p:nvSpPr>
        <p:spPr>
          <a:xfrm>
            <a:off x="866134" y="1742236"/>
            <a:ext cx="2705023" cy="604723"/>
          </a:xfrm>
          <a:prstGeom prst="roundRect">
            <a:avLst/>
          </a:prstGeom>
          <a:solidFill>
            <a:srgbClr val="002B49"/>
          </a:solidFill>
          <a:ln w="9525">
            <a:solidFill>
              <a:srgbClr val="002B4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Server Object</a:t>
            </a:r>
          </a:p>
        </p:txBody>
      </p:sp>
      <p:sp>
        <p:nvSpPr>
          <p:cNvPr id="9" name="Rounded Rectangle 8"/>
          <p:cNvSpPr/>
          <p:nvPr/>
        </p:nvSpPr>
        <p:spPr>
          <a:xfrm>
            <a:off x="4382665" y="1742236"/>
            <a:ext cx="3426363" cy="604723"/>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xRegistry base</a:t>
            </a:r>
          </a:p>
        </p:txBody>
      </p:sp>
      <p:sp>
        <p:nvSpPr>
          <p:cNvPr id="10" name="Rounded Rectangle 9"/>
          <p:cNvSpPr/>
          <p:nvPr/>
        </p:nvSpPr>
        <p:spPr>
          <a:xfrm>
            <a:off x="866134" y="3102864"/>
            <a:ext cx="2705023" cy="755904"/>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WoTRegistry</a:t>
            </a:r>
          </a:p>
          <a:p>
            <a:pPr algn="ctr">
              <a:spcBef>
                <a:spcPts val="100"/>
              </a:spcBef>
            </a:pPr>
            <a:r>
              <a:rPr sz="1000" b="0" i="0">
                <a:solidFill>
                  <a:srgbClr val="002B49"/>
                </a:solidFill>
                <a:latin typeface="Segoe UI"/>
              </a:rPr>
              <a:t>WoTRegistryType</a:t>
            </a:r>
          </a:p>
        </p:txBody>
      </p:sp>
      <p:sp>
        <p:nvSpPr>
          <p:cNvPr id="11" name="Rounded Rectangle 10"/>
          <p:cNvSpPr/>
          <p:nvPr/>
        </p:nvSpPr>
        <p:spPr>
          <a:xfrm>
            <a:off x="4382665" y="2800502"/>
            <a:ext cx="2795191" cy="680313"/>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TD groups</a:t>
            </a:r>
          </a:p>
          <a:p>
            <a:pPr algn="ctr">
              <a:spcBef>
                <a:spcPts val="100"/>
              </a:spcBef>
            </a:pPr>
            <a:r>
              <a:rPr sz="1000" b="0" i="0">
                <a:solidFill>
                  <a:srgbClr val="002B49"/>
                </a:solidFill>
                <a:latin typeface="Segoe UI"/>
              </a:rPr>
              <a:t>ThingDescriptionGroupType</a:t>
            </a:r>
          </a:p>
        </p:txBody>
      </p:sp>
      <p:sp>
        <p:nvSpPr>
          <p:cNvPr id="12" name="Rounded Rectangle 11"/>
          <p:cNvSpPr/>
          <p:nvPr/>
        </p:nvSpPr>
        <p:spPr>
          <a:xfrm>
            <a:off x="4382665" y="3858768"/>
            <a:ext cx="2795191" cy="680313"/>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TM groups</a:t>
            </a:r>
          </a:p>
          <a:p>
            <a:pPr algn="ctr">
              <a:spcBef>
                <a:spcPts val="100"/>
              </a:spcBef>
            </a:pPr>
            <a:r>
              <a:rPr sz="1000" b="0" i="0">
                <a:solidFill>
                  <a:srgbClr val="002B49"/>
                </a:solidFill>
                <a:latin typeface="Segoe UI"/>
              </a:rPr>
              <a:t>ThingModelGroupType</a:t>
            </a:r>
          </a:p>
        </p:txBody>
      </p:sp>
      <p:sp>
        <p:nvSpPr>
          <p:cNvPr id="13" name="Rounded Rectangle 12"/>
          <p:cNvSpPr/>
          <p:nvPr/>
        </p:nvSpPr>
        <p:spPr>
          <a:xfrm>
            <a:off x="8169699" y="3329635"/>
            <a:ext cx="2885358" cy="755904"/>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TD / TM versions</a:t>
            </a:r>
          </a:p>
          <a:p>
            <a:pPr algn="ctr">
              <a:spcBef>
                <a:spcPts val="100"/>
              </a:spcBef>
            </a:pPr>
            <a:r>
              <a:rPr sz="1000" b="0" i="0">
                <a:solidFill>
                  <a:srgbClr val="FFFFFF"/>
                </a:solidFill>
                <a:latin typeface="Segoe UI"/>
              </a:rPr>
              <a:t>WoTDocumentType</a:t>
            </a:r>
          </a:p>
        </p:txBody>
      </p:sp>
      <p:sp>
        <p:nvSpPr>
          <p:cNvPr id="14" name="Rounded Rectangle 13"/>
          <p:cNvSpPr/>
          <p:nvPr/>
        </p:nvSpPr>
        <p:spPr>
          <a:xfrm>
            <a:off x="8169699" y="4917033"/>
            <a:ext cx="2885358" cy="680313"/>
          </a:xfrm>
          <a:prstGeom prst="roundRect">
            <a:avLst/>
          </a:prstGeom>
          <a:solidFill>
            <a:srgbClr val="5B3E96"/>
          </a:solidFill>
          <a:ln w="9525">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Derived nodes</a:t>
            </a:r>
          </a:p>
          <a:p>
            <a:pPr algn="ctr">
              <a:spcBef>
                <a:spcPts val="100"/>
              </a:spcBef>
            </a:pPr>
            <a:r>
              <a:rPr sz="1000" b="0" i="0">
                <a:solidFill>
                  <a:srgbClr val="FFFFFF"/>
                </a:solidFill>
                <a:latin typeface="Segoe UI"/>
              </a:rPr>
              <a:t>types · instances · Views</a:t>
            </a:r>
          </a:p>
        </p:txBody>
      </p:sp>
      <p:cxnSp>
        <p:nvCxnSpPr>
          <p:cNvPr id="15" name="Connector 14"/>
          <p:cNvCxnSpPr>
            <a:stCxn id="8" idx="2"/>
            <a:endCxn id="10" idx="0"/>
          </p:cNvCxnSpPr>
          <p:nvPr/>
        </p:nvCxnSpPr>
        <p:spPr>
          <a:xfrm>
            <a:off x="2218645" y="2346959"/>
            <a:ext cx="0" cy="755905"/>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41405" y="2578607"/>
            <a:ext cx="1554480" cy="274320"/>
          </a:xfrm>
          <a:prstGeom prst="rect">
            <a:avLst/>
          </a:prstGeom>
          <a:noFill/>
        </p:spPr>
        <p:txBody>
          <a:bodyPr wrap="square" lIns="0" rIns="0" tIns="0" bIns="0">
            <a:spAutoFit/>
          </a:bodyPr>
          <a:lstStyle/>
          <a:p>
            <a:pPr algn="ctr"/>
            <a:r>
              <a:rPr sz="900" b="0" i="1">
                <a:solidFill>
                  <a:srgbClr val="6B7480"/>
                </a:solidFill>
                <a:latin typeface="Segoe UI"/>
              </a:rPr>
              <a:t>HasComponent</a:t>
            </a:r>
          </a:p>
        </p:txBody>
      </p:sp>
      <p:cxnSp>
        <p:nvCxnSpPr>
          <p:cNvPr id="17" name="Connector 16"/>
          <p:cNvCxnSpPr>
            <a:stCxn id="9" idx="1"/>
            <a:endCxn id="10" idx="3"/>
          </p:cNvCxnSpPr>
          <p:nvPr/>
        </p:nvCxnSpPr>
        <p:spPr>
          <a:xfrm flipH="1">
            <a:off x="3571157" y="2044597"/>
            <a:ext cx="811508" cy="1436219"/>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199671" y="1898293"/>
            <a:ext cx="1554480" cy="274320"/>
          </a:xfrm>
          <a:prstGeom prst="rect">
            <a:avLst/>
          </a:prstGeom>
          <a:noFill/>
        </p:spPr>
        <p:txBody>
          <a:bodyPr wrap="square" lIns="0" rIns="0" tIns="0" bIns="0">
            <a:spAutoFit/>
          </a:bodyPr>
          <a:lstStyle/>
          <a:p>
            <a:pPr algn="ctr"/>
            <a:r>
              <a:rPr sz="900" b="0" i="1">
                <a:solidFill>
                  <a:srgbClr val="6B7480"/>
                </a:solidFill>
                <a:latin typeface="Segoe UI"/>
              </a:rPr>
              <a:t>subtypes</a:t>
            </a:r>
          </a:p>
        </p:txBody>
      </p:sp>
      <p:cxnSp>
        <p:nvCxnSpPr>
          <p:cNvPr id="19" name="Connector 18"/>
          <p:cNvCxnSpPr>
            <a:stCxn id="10" idx="3"/>
            <a:endCxn id="11" idx="1"/>
          </p:cNvCxnSpPr>
          <p:nvPr/>
        </p:nvCxnSpPr>
        <p:spPr>
          <a:xfrm flipV="1">
            <a:off x="3571157" y="3140658"/>
            <a:ext cx="811508" cy="340158"/>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0" idx="3"/>
            <a:endCxn id="12" idx="1"/>
          </p:cNvCxnSpPr>
          <p:nvPr/>
        </p:nvCxnSpPr>
        <p:spPr>
          <a:xfrm>
            <a:off x="3571157" y="3480816"/>
            <a:ext cx="811508" cy="718108"/>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a:stCxn id="11" idx="3"/>
            <a:endCxn id="13" idx="1"/>
          </p:cNvCxnSpPr>
          <p:nvPr/>
        </p:nvCxnSpPr>
        <p:spPr>
          <a:xfrm>
            <a:off x="7177856" y="3140658"/>
            <a:ext cx="991843" cy="566929"/>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a:stCxn id="12" idx="3"/>
            <a:endCxn id="13" idx="1"/>
          </p:cNvCxnSpPr>
          <p:nvPr/>
        </p:nvCxnSpPr>
        <p:spPr>
          <a:xfrm flipV="1">
            <a:off x="7177856" y="3707587"/>
            <a:ext cx="991843" cy="491337"/>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a:stCxn id="13" idx="2"/>
            <a:endCxn id="14" idx="0"/>
          </p:cNvCxnSpPr>
          <p:nvPr/>
        </p:nvCxnSpPr>
        <p:spPr>
          <a:xfrm>
            <a:off x="9612378" y="4085539"/>
            <a:ext cx="0" cy="831494"/>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835138" y="4354982"/>
            <a:ext cx="1554480" cy="274320"/>
          </a:xfrm>
          <a:prstGeom prst="rect">
            <a:avLst/>
          </a:prstGeom>
          <a:noFill/>
        </p:spPr>
        <p:txBody>
          <a:bodyPr wrap="square" lIns="0" rIns="0" tIns="0" bIns="0">
            <a:spAutoFit/>
          </a:bodyPr>
          <a:lstStyle/>
          <a:p>
            <a:pPr algn="ctr"/>
            <a:r>
              <a:rPr sz="900" b="0" i="1">
                <a:solidFill>
                  <a:srgbClr val="6B7480"/>
                </a:solidFill>
                <a:latin typeface="Segoe UI"/>
              </a:rPr>
              <a:t>refresh</a:t>
            </a:r>
          </a:p>
        </p:txBody>
      </p:sp>
      <p:sp>
        <p:nvSpPr>
          <p:cNvPr id="25" name="TextBox 24"/>
          <p:cNvSpPr txBox="1"/>
          <p:nvPr/>
        </p:nvSpPr>
        <p:spPr>
          <a:xfrm>
            <a:off x="685800" y="5786323"/>
            <a:ext cx="10820095" cy="365760"/>
          </a:xfrm>
          <a:prstGeom prst="rect">
            <a:avLst/>
          </a:prstGeom>
          <a:noFill/>
        </p:spPr>
        <p:txBody>
          <a:bodyPr wrap="square" lIns="0" rIns="0" tIns="0" bIns="0">
            <a:spAutoFit/>
          </a:bodyPr>
          <a:lstStyle/>
          <a:p>
            <a:pPr algn="ctr"/>
            <a:r>
              <a:rPr sz="1100" b="0" i="1">
                <a:solidFill>
                  <a:srgbClr val="6B7480"/>
                </a:solidFill>
                <a:latin typeface="Segoe UI"/>
              </a:rPr>
              <a:t>Resource bytes are read and written through inherited FileType methods.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 — refresh</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Projection is generational, atomic and dependency-aware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WoT Connectivity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90</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refresh builds a dependency DAG before writing nodes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Closure resolution checks documents first, then the loaded AddressSpace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Invalid documents stay stored and the last valid projection serves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Shadow generation switches atomically, then older generations retire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Forms compile into binding plans; forms do not become nodes</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Clients never have to observe a half-built projection.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Additive OPC 10100-1 revision under OPC Foundation review</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WoT Connectivity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91</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Draft version:</a:t>
            </a:r>
            <a:r>
              <a:rPr sz="1700" b="1" i="0">
                <a:solidFill>
                  <a:srgbClr val="002B49"/>
                </a:solidFill>
                <a:latin typeface="Segoe UI"/>
              </a:rPr>
              <a:t> Release 1.1-draft3, dated 2026-08-05</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Status:</a:t>
            </a:r>
            <a:r>
              <a:rPr sz="1700" b="1" i="0">
                <a:solidFill>
                  <a:srgbClr val="002B49"/>
                </a:solidFill>
                <a:latin typeface="Segoe UI"/>
              </a:rPr>
              <a:t> Under OPC Foundation review</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Review repository:</a:t>
            </a:r>
            <a:r>
              <a:rPr sz="1700" b="1" i="0">
                <a:solidFill>
                  <a:srgbClr val="002B49"/>
                </a:solidFill>
                <a:latin typeface="Segoe UI"/>
              </a:rPr>
              <a:t> </a:t>
            </a:r>
            <a:r>
              <a:rPr sz="1600" b="1" i="0">
                <a:solidFill>
                  <a:srgbClr val="002B49"/>
                </a:solidFill>
                <a:latin typeface="Consolas"/>
              </a:rPr>
              <a:t>OPCF-Members/spec-drafts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a:t>
            </a:r>
            <a:r>
              <a:rPr sz="1700" b="1" i="0">
                <a:solidFill>
                  <a:srgbClr val="002B49"/>
                </a:solidFill>
                <a:latin typeface="Segoe UI"/>
              </a:rPr>
              <a:t> </a:t>
            </a:r>
            <a:r>
              <a:rPr sz="1600" b="1" i="0">
                <a:solidFill>
                  <a:srgbClr val="002B49"/>
                </a:solidFill>
                <a:latin typeface="Consolas"/>
              </a:rPr>
              <a:t>wot-specs/WoT-Connectivity/OPC-UA-WoT-Connectivity.md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Depends on:</a:t>
            </a:r>
            <a:r>
              <a:rPr sz="1700" b="1" i="0">
                <a:solidFill>
                  <a:srgbClr val="002B49"/>
                </a:solidFill>
                <a:latin typeface="Segoe UI"/>
              </a:rPr>
              <a:t> </a:t>
            </a:r>
            <a:r>
              <a:rPr sz="1600" b="1" i="0">
                <a:solidFill>
                  <a:srgbClr val="002B49"/>
                </a:solidFill>
                <a:latin typeface="Consolas"/>
              </a:rPr>
              <a:t>core-specs/xregistry</a:t>
            </a:r>
            <a:r>
              <a:rPr sz="1700" b="1" i="0">
                <a:solidFill>
                  <a:srgbClr val="002B49"/>
                </a:solidFill>
                <a:latin typeface="Segoe UI"/>
              </a:rPr>
              <a:t> base model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Demos:</a:t>
            </a:r>
            <a:r>
              <a:rPr sz="1700" b="1" i="0">
                <a:solidFill>
                  <a:srgbClr val="002B49"/>
                </a:solidFill>
                <a:latin typeface="Segoe UI"/>
              </a:rPr>
              <a:t> </a:t>
            </a:r>
            <a:r>
              <a:rPr sz="1700" b="1" i="0">
                <a:solidFill>
                  <a:srgbClr val="002B49"/>
                </a:solidFill>
                <a:latin typeface="Segoe UI"/>
              </a:rPr>
              <a:t>4</a:t>
            </a:r>
            <a:r>
              <a:rPr sz="1700" b="1" i="0">
                <a:solidFill>
                  <a:srgbClr val="002B49"/>
                </a:solidFill>
                <a:latin typeface="Segoe UI"/>
              </a:rPr>
              <a:t> pumps via WoT and </a:t>
            </a:r>
            <a:r>
              <a:rPr sz="1700" b="1" i="0">
                <a:solidFill>
                  <a:srgbClr val="002B49"/>
                </a:solidFill>
                <a:latin typeface="Segoe UI"/>
              </a:rPr>
              <a:t>7</a:t>
            </a:r>
            <a:r>
              <a:rPr sz="1700" b="1" i="0">
                <a:solidFill>
                  <a:srgbClr val="002B49"/>
                </a:solidFill>
                <a:latin typeface="Segoe UI"/>
              </a:rPr>
              <a:t> AAS + WoT + xRegistry</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Open questions are final registry-block NodeIds and review disposition.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B6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4 — Pumps via WoT Connectivity</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B6E5E"/>
                </a:solidFill>
                <a:latin typeface="Segoe UI"/>
              </a:rPr>
              <a:t>Documents are canonical; the Pump address space is derived</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demos — Pumps via WoT Connectivity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92</a:t>
            </a:r>
          </a:p>
        </p:txBody>
      </p:sp>
      <p:sp>
        <p:nvSpPr>
          <p:cNvPr id="8" name="Rounded Rectangle 7"/>
          <p:cNvSpPr/>
          <p:nvPr/>
        </p:nvSpPr>
        <p:spPr>
          <a:xfrm>
            <a:off x="9631376" y="466344"/>
            <a:ext cx="1874519" cy="310896"/>
          </a:xfrm>
          <a:prstGeom prst="round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RUNS ON master</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Two flat tag sources start with simple variables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The client uploads DI, Machinery, Pumps and Pump TDs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Refresh materializes a PumpType hierarchy</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Ten values read Good through the Pump projection</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FlatTagServer provides Source A and Source B</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AggregationServer hosts the WoT registry</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AggregationClient uploads the document set</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WoT binding maps tags onto Pump variables</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pwsh decks\demos\04-pumps-wotcon\run-demo.ps1</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WoT Binding and WoT Connectivity can turn flat device tags into a companion-spec-shaped Pump projection without changing the device server.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874519"/>
            <a:ext cx="1097280" cy="73152"/>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48840"/>
            <a:ext cx="10820095" cy="1005840"/>
          </a:xfrm>
          <a:prstGeom prst="rect">
            <a:avLst/>
          </a:prstGeom>
          <a:noFill/>
        </p:spPr>
        <p:txBody>
          <a:bodyPr wrap="square" lIns="0" rIns="0" tIns="0" bIns="0">
            <a:spAutoFit/>
          </a:bodyPr>
          <a:lstStyle/>
          <a:p>
            <a:r>
              <a:rPr sz="4000" b="1" i="0">
                <a:solidFill>
                  <a:srgbClr val="FFFFFF"/>
                </a:solidFill>
                <a:latin typeface="Segoe UI Semibold"/>
              </a:rPr>
              <a:t>companion</a:t>
            </a:r>
          </a:p>
        </p:txBody>
      </p:sp>
      <p:sp>
        <p:nvSpPr>
          <p:cNvPr id="5" name="TextBox 4"/>
          <p:cNvSpPr txBox="1"/>
          <p:nvPr/>
        </p:nvSpPr>
        <p:spPr>
          <a:xfrm>
            <a:off x="685800" y="3218688"/>
            <a:ext cx="8412480" cy="822960"/>
          </a:xfrm>
          <a:prstGeom prst="rect">
            <a:avLst/>
          </a:prstGeom>
          <a:noFill/>
        </p:spPr>
        <p:txBody>
          <a:bodyPr wrap="square" lIns="0" rIns="0" tIns="0" bIns="0">
            <a:spAutoFit/>
          </a:bodyPr>
          <a:lstStyle/>
          <a:p>
            <a:r>
              <a:rPr sz="1700" b="0" i="0">
                <a:solidFill>
                  <a:srgbClr val="FFFFFF"/>
                </a:solidFill>
                <a:latin typeface="Segoe UI"/>
              </a:rPr>
              <a:t>domain companion specifications that make a class of assets look the same to every OPC UA client</a:t>
            </a:r>
          </a:p>
        </p:txBody>
      </p:sp>
      <p:sp>
        <p:nvSpPr>
          <p:cNvPr id="6" name="TextBox 5"/>
          <p:cNvSpPr txBox="1"/>
          <p:nvPr/>
        </p:nvSpPr>
        <p:spPr>
          <a:xfrm>
            <a:off x="685800" y="4160520"/>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Generators (GenSets)</a:t>
            </a:r>
          </a:p>
        </p:txBody>
      </p:sp>
      <p:sp>
        <p:nvSpPr>
          <p:cNvPr id="7" name="TextBox 6"/>
          <p:cNvSpPr txBox="1"/>
          <p:nvPr/>
        </p:nvSpPr>
        <p:spPr>
          <a:xfrm>
            <a:off x="685800" y="4489704"/>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Asset Administration Shell 3.0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the Generators model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Generator data is already on the engine bus, but not in a client contract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Generators (GenSets)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94</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 GenSet is both an </a:t>
            </a:r>
            <a:r>
              <a:rPr sz="1700" b="1" i="0">
                <a:solidFill>
                  <a:srgbClr val="002B49"/>
                </a:solidFill>
                <a:latin typeface="Segoe UI"/>
              </a:rPr>
              <a:t>asset</a:t>
            </a:r>
            <a:r>
              <a:rPr sz="1700" b="1" i="0">
                <a:solidFill>
                  <a:srgbClr val="002B49"/>
                </a:solidFill>
                <a:latin typeface="Segoe UI"/>
              </a:rPr>
              <a:t> and an engine-driven machine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SAE J1939 over CAN already carries most engine telemetry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Clients still see vendor registers, panels or cloud APIs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Nameplate, state, mode, health and control need one shape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Multi-set plants add ATS and paralleling without a common model</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gap is not sensing the generator; it is standardizing what the OPC UA client sees.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A generator set, its subsystems and the plant around it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Generators (GenSets)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95</a:t>
            </a:r>
          </a:p>
        </p:txBody>
      </p:sp>
      <p:graphicFrame>
        <p:nvGraphicFramePr>
          <p:cNvPr id="8" name="Table 7"/>
          <p:cNvGraphicFramePr>
            <a:graphicFrameLocks noGrp="1"/>
          </p:cNvGraphicFramePr>
          <p:nvPr/>
        </p:nvGraphicFramePr>
        <p:xfrm>
          <a:off x="685800" y="1591056"/>
          <a:ext cx="10820093" cy="3456432"/>
        </p:xfrm>
        <a:graphic>
          <a:graphicData uri="http://schemas.openxmlformats.org/drawingml/2006/table">
            <a:tbl>
              <a:tblPr firstRow="1" bandRow="1">
                <a:tableStyleId>{5C22544A-7EE6-4342-B048-85BDC9FD1C3A}</a:tableStyleId>
              </a:tblPr>
              <a:tblGrid>
                <a:gridCol w="3678832"/>
                <a:gridCol w="2596822"/>
                <a:gridCol w="4544439"/>
              </a:tblGrid>
              <a:tr h="384048">
                <a:tc>
                  <a:txBody>
                    <a:bodyPr/>
                    <a:lstStyle/>
                    <a:p>
                      <a:r>
                        <a:rPr sz="1100" b="1" i="0">
                          <a:solidFill>
                            <a:srgbClr val="FFFFFF"/>
                          </a:solidFill>
                          <a:latin typeface="Segoe UI Semibold"/>
                        </a:rPr>
                        <a:t>ObjectType</a:t>
                      </a:r>
                    </a:p>
                  </a:txBody>
                  <a:tcPr marL="73152" marR="73152" anchor="ctr">
                    <a:solidFill>
                      <a:srgbClr val="8C4A1C"/>
                    </a:solidFill>
                  </a:tcPr>
                </a:tc>
                <a:tc>
                  <a:txBody>
                    <a:bodyPr/>
                    <a:lstStyle/>
                    <a:p>
                      <a:r>
                        <a:rPr sz="1100" b="1" i="0">
                          <a:solidFill>
                            <a:srgbClr val="FFFFFF"/>
                          </a:solidFill>
                          <a:latin typeface="Segoe UI Semibold"/>
                        </a:rPr>
                        <a:t>Base</a:t>
                      </a:r>
                    </a:p>
                  </a:txBody>
                  <a:tcPr marL="73152" marR="73152" anchor="ctr">
                    <a:solidFill>
                      <a:srgbClr val="8C4A1C"/>
                    </a:solidFill>
                  </a:tcPr>
                </a:tc>
                <a:tc>
                  <a:txBody>
                    <a:bodyPr/>
                    <a:lstStyle/>
                    <a:p>
                      <a:r>
                        <a:rPr sz="1100" b="1" i="0">
                          <a:solidFill>
                            <a:srgbClr val="FFFFFF"/>
                          </a:solidFill>
                          <a:latin typeface="Segoe UI Semibold"/>
                        </a:rPr>
                        <a:t>Carries</a:t>
                      </a:r>
                    </a:p>
                  </a:txBody>
                  <a:tcPr marL="73152" marR="73152" anchor="ctr">
                    <a:solidFill>
                      <a:srgbClr val="8C4A1C"/>
                    </a:solidFill>
                  </a:tcPr>
                </a:tc>
              </a:tr>
              <a:tr h="384048">
                <a:tc>
                  <a:txBody>
                    <a:bodyPr/>
                    <a:lstStyle/>
                    <a:p>
                      <a:r>
                        <a:rPr sz="1000" b="0" i="0">
                          <a:solidFill>
                            <a:srgbClr val="002B49"/>
                          </a:solidFill>
                          <a:latin typeface="Consolas"/>
                        </a:rPr>
                        <a:t>GeneratorSetType</a:t>
                      </a:r>
                    </a:p>
                  </a:txBody>
                  <a:tcPr marL="73152" marR="73152" marT="27432" marB="27432" anchor="ctr">
                    <a:solidFill>
                      <a:srgbClr val="FFFFFF"/>
                    </a:solidFill>
                  </a:tcPr>
                </a:tc>
                <a:tc>
                  <a:txBody>
                    <a:bodyPr/>
                    <a:lstStyle/>
                    <a:p>
                      <a:r>
                        <a:rPr sz="1100" b="0" i="0">
                          <a:solidFill>
                            <a:srgbClr val="333B44"/>
                          </a:solidFill>
                          <a:latin typeface="Segoe UI"/>
                        </a:rPr>
                        <a:t>DI </a:t>
                      </a:r>
                      <a:r>
                        <a:rPr sz="1000" b="0" i="0">
                          <a:solidFill>
                            <a:srgbClr val="002B49"/>
                          </a:solidFill>
                          <a:latin typeface="Consolas"/>
                        </a:rPr>
                        <a:t>DeviceType</a:t>
                      </a:r>
                    </a:p>
                  </a:txBody>
                  <a:tcPr marL="73152" marR="73152" marT="27432" marB="27432" anchor="ctr">
                    <a:solidFill>
                      <a:srgbClr val="FFFFFF"/>
                    </a:solidFill>
                  </a:tcPr>
                </a:tc>
                <a:tc>
                  <a:txBody>
                    <a:bodyPr/>
                    <a:lstStyle/>
                    <a:p>
                      <a:r>
                        <a:rPr sz="1100" b="0" i="0">
                          <a:solidFill>
                            <a:srgbClr val="333B44"/>
                          </a:solidFill>
                          <a:latin typeface="Segoe UI"/>
                        </a:rPr>
                        <a:t>whole set, state, mode, methods</a:t>
                      </a:r>
                    </a:p>
                  </a:txBody>
                  <a:tcPr marL="73152" marR="73152" marT="27432" marB="27432" anchor="ctr">
                    <a:solidFill>
                      <a:srgbClr val="FFFFFF"/>
                    </a:solidFill>
                  </a:tcPr>
                </a:tc>
              </a:tr>
              <a:tr h="384048">
                <a:tc>
                  <a:txBody>
                    <a:bodyPr/>
                    <a:lstStyle/>
                    <a:p>
                      <a:r>
                        <a:rPr sz="1000" b="0" i="0">
                          <a:solidFill>
                            <a:srgbClr val="002B49"/>
                          </a:solidFill>
                          <a:latin typeface="Consolas"/>
                        </a:rPr>
                        <a:t>EngineType</a:t>
                      </a:r>
                    </a:p>
                  </a:txBody>
                  <a:tcPr marL="73152" marR="73152" marT="27432" marB="27432" anchor="ctr">
                    <a:solidFill>
                      <a:srgbClr val="F4F6F8"/>
                    </a:solidFill>
                  </a:tcPr>
                </a:tc>
                <a:tc>
                  <a:txBody>
                    <a:bodyPr/>
                    <a:lstStyle/>
                    <a:p>
                      <a:r>
                        <a:rPr sz="1100" b="0" i="0">
                          <a:solidFill>
                            <a:srgbClr val="333B44"/>
                          </a:solidFill>
                          <a:latin typeface="Segoe UI"/>
                        </a:rPr>
                        <a:t>DI </a:t>
                      </a:r>
                      <a:r>
                        <a:rPr sz="1000" b="0" i="0">
                          <a:solidFill>
                            <a:srgbClr val="002B49"/>
                          </a:solidFill>
                          <a:latin typeface="Consolas"/>
                        </a:rPr>
                        <a:t>ComponentType</a:t>
                      </a:r>
                    </a:p>
                  </a:txBody>
                  <a:tcPr marL="73152" marR="73152" marT="27432" marB="27432" anchor="ctr">
                    <a:solidFill>
                      <a:srgbClr val="F4F6F8"/>
                    </a:solidFill>
                  </a:tcPr>
                </a:tc>
                <a:tc>
                  <a:txBody>
                    <a:bodyPr/>
                    <a:lstStyle/>
                    <a:p>
                      <a:r>
                        <a:rPr sz="1100" b="0" i="0">
                          <a:solidFill>
                            <a:srgbClr val="333B44"/>
                          </a:solidFill>
                          <a:latin typeface="Segoe UI"/>
                        </a:rPr>
                        <a:t>J1939 telemetry and DTCs</a:t>
                      </a:r>
                    </a:p>
                  </a:txBody>
                  <a:tcPr marL="73152" marR="73152" marT="27432" marB="27432" anchor="ctr">
                    <a:solidFill>
                      <a:srgbClr val="F4F6F8"/>
                    </a:solidFill>
                  </a:tcPr>
                </a:tc>
              </a:tr>
              <a:tr h="384048">
                <a:tc>
                  <a:txBody>
                    <a:bodyPr/>
                    <a:lstStyle/>
                    <a:p>
                      <a:r>
                        <a:rPr sz="1000" b="0" i="0">
                          <a:solidFill>
                            <a:srgbClr val="002B49"/>
                          </a:solidFill>
                          <a:latin typeface="Consolas"/>
                        </a:rPr>
                        <a:t>AlternatorType</a:t>
                      </a:r>
                    </a:p>
                  </a:txBody>
                  <a:tcPr marL="73152" marR="73152" marT="27432" marB="27432" anchor="ctr">
                    <a:solidFill>
                      <a:srgbClr val="FFFFFF"/>
                    </a:solidFill>
                  </a:tcPr>
                </a:tc>
                <a:tc>
                  <a:txBody>
                    <a:bodyPr/>
                    <a:lstStyle/>
                    <a:p>
                      <a:r>
                        <a:rPr sz="1100" b="0" i="0">
                          <a:solidFill>
                            <a:srgbClr val="333B44"/>
                          </a:solidFill>
                          <a:latin typeface="Segoe UI"/>
                        </a:rPr>
                        <a:t>DI </a:t>
                      </a:r>
                      <a:r>
                        <a:rPr sz="1000" b="0" i="0">
                          <a:solidFill>
                            <a:srgbClr val="002B49"/>
                          </a:solidFill>
                          <a:latin typeface="Consolas"/>
                        </a:rPr>
                        <a:t>ComponentType</a:t>
                      </a:r>
                    </a:p>
                  </a:txBody>
                  <a:tcPr marL="73152" marR="73152" marT="27432" marB="27432" anchor="ctr">
                    <a:solidFill>
                      <a:srgbClr val="FFFFFF"/>
                    </a:solidFill>
                  </a:tcPr>
                </a:tc>
                <a:tc>
                  <a:txBody>
                    <a:bodyPr/>
                    <a:lstStyle/>
                    <a:p>
                      <a:r>
                        <a:rPr sz="1100" b="0" i="0">
                          <a:solidFill>
                            <a:srgbClr val="333B44"/>
                          </a:solidFill>
                          <a:latin typeface="Segoe UI"/>
                        </a:rPr>
                        <a:t>aggregate and per-phase values</a:t>
                      </a:r>
                    </a:p>
                  </a:txBody>
                  <a:tcPr marL="73152" marR="73152" marT="27432" marB="27432" anchor="ctr">
                    <a:solidFill>
                      <a:srgbClr val="FFFFFF"/>
                    </a:solidFill>
                  </a:tcPr>
                </a:tc>
              </a:tr>
              <a:tr h="384048">
                <a:tc>
                  <a:txBody>
                    <a:bodyPr/>
                    <a:lstStyle/>
                    <a:p>
                      <a:r>
                        <a:rPr sz="1000" b="0" i="0">
                          <a:solidFill>
                            <a:srgbClr val="002B49"/>
                          </a:solidFill>
                          <a:latin typeface="Consolas"/>
                        </a:rPr>
                        <a:t>GeneratorControllerType</a:t>
                      </a:r>
                    </a:p>
                  </a:txBody>
                  <a:tcPr marL="73152" marR="73152" marT="27432" marB="27432" anchor="ctr">
                    <a:solidFill>
                      <a:srgbClr val="F4F6F8"/>
                    </a:solidFill>
                  </a:tcPr>
                </a:tc>
                <a:tc>
                  <a:txBody>
                    <a:bodyPr/>
                    <a:lstStyle/>
                    <a:p>
                      <a:r>
                        <a:rPr sz="1100" b="0" i="0">
                          <a:solidFill>
                            <a:srgbClr val="333B44"/>
                          </a:solidFill>
                          <a:latin typeface="Segoe UI"/>
                        </a:rPr>
                        <a:t>DI </a:t>
                      </a:r>
                      <a:r>
                        <a:rPr sz="1000" b="0" i="0">
                          <a:solidFill>
                            <a:srgbClr val="002B49"/>
                          </a:solidFill>
                          <a:latin typeface="Consolas"/>
                        </a:rPr>
                        <a:t>ComponentType</a:t>
                      </a:r>
                    </a:p>
                  </a:txBody>
                  <a:tcPr marL="73152" marR="73152" marT="27432" marB="27432" anchor="ctr">
                    <a:solidFill>
                      <a:srgbClr val="F4F6F8"/>
                    </a:solidFill>
                  </a:tcPr>
                </a:tc>
                <a:tc>
                  <a:txBody>
                    <a:bodyPr/>
                    <a:lstStyle/>
                    <a:p>
                      <a:r>
                        <a:rPr sz="1100" b="0" i="0">
                          <a:solidFill>
                            <a:srgbClr val="333B44"/>
                          </a:solidFill>
                          <a:latin typeface="Segoe UI"/>
                        </a:rPr>
                        <a:t>panel and remote status</a:t>
                      </a:r>
                    </a:p>
                  </a:txBody>
                  <a:tcPr marL="73152" marR="73152" marT="27432" marB="27432" anchor="ctr">
                    <a:solidFill>
                      <a:srgbClr val="F4F6F8"/>
                    </a:solidFill>
                  </a:tcPr>
                </a:tc>
              </a:tr>
              <a:tr h="384048">
                <a:tc>
                  <a:txBody>
                    <a:bodyPr/>
                    <a:lstStyle/>
                    <a:p>
                      <a:r>
                        <a:rPr sz="1000" b="0" i="0">
                          <a:solidFill>
                            <a:srgbClr val="002B49"/>
                          </a:solidFill>
                          <a:latin typeface="Consolas"/>
                        </a:rPr>
                        <a:t>GeneratorRatingType</a:t>
                      </a:r>
                    </a:p>
                  </a:txBody>
                  <a:tcPr marL="73152" marR="73152" marT="27432" marB="27432" anchor="ctr">
                    <a:solidFill>
                      <a:srgbClr val="FFFFFF"/>
                    </a:solidFill>
                  </a:tcPr>
                </a:tc>
                <a:tc>
                  <a:txBody>
                    <a:bodyPr/>
                    <a:lstStyle/>
                    <a:p>
                      <a:r>
                        <a:rPr sz="1000" b="0" i="0">
                          <a:solidFill>
                            <a:srgbClr val="002B49"/>
                          </a:solidFill>
                          <a:latin typeface="Consolas"/>
                        </a:rPr>
                        <a:t>BaseObjectType</a:t>
                      </a:r>
                    </a:p>
                  </a:txBody>
                  <a:tcPr marL="73152" marR="73152" marT="27432" marB="27432" anchor="ctr">
                    <a:solidFill>
                      <a:srgbClr val="FFFFFF"/>
                    </a:solidFill>
                  </a:tcPr>
                </a:tc>
                <a:tc>
                  <a:txBody>
                    <a:bodyPr/>
                    <a:lstStyle/>
                    <a:p>
                      <a:r>
                        <a:rPr sz="1100" b="0" i="0">
                          <a:solidFill>
                            <a:srgbClr val="333B44"/>
                          </a:solidFill>
                          <a:latin typeface="Segoe UI"/>
                        </a:rPr>
                        <a:t>ISO 8528 duties and limits</a:t>
                      </a:r>
                    </a:p>
                  </a:txBody>
                  <a:tcPr marL="73152" marR="73152" marT="27432" marB="27432" anchor="ctr">
                    <a:solidFill>
                      <a:srgbClr val="FFFFFF"/>
                    </a:solidFill>
                  </a:tcPr>
                </a:tc>
              </a:tr>
              <a:tr h="384048">
                <a:tc>
                  <a:txBody>
                    <a:bodyPr/>
                    <a:lstStyle/>
                    <a:p>
                      <a:r>
                        <a:rPr sz="1000" b="0" i="0">
                          <a:solidFill>
                            <a:srgbClr val="002B49"/>
                          </a:solidFill>
                          <a:latin typeface="Consolas"/>
                        </a:rPr>
                        <a:t>GeneratorProtectionAlarmType</a:t>
                      </a:r>
                    </a:p>
                  </a:txBody>
                  <a:tcPr marL="73152" marR="73152" marT="27432" marB="27432" anchor="ctr">
                    <a:solidFill>
                      <a:srgbClr val="F4F6F8"/>
                    </a:solidFill>
                  </a:tcPr>
                </a:tc>
                <a:tc>
                  <a:txBody>
                    <a:bodyPr/>
                    <a:lstStyle/>
                    <a:p>
                      <a:r>
                        <a:rPr sz="1000" b="0" i="0">
                          <a:solidFill>
                            <a:srgbClr val="002B49"/>
                          </a:solidFill>
                          <a:latin typeface="Consolas"/>
                        </a:rPr>
                        <a:t>OffNormalAlarmType</a:t>
                      </a:r>
                    </a:p>
                  </a:txBody>
                  <a:tcPr marL="73152" marR="73152" marT="27432" marB="27432" anchor="ctr">
                    <a:solidFill>
                      <a:srgbClr val="F4F6F8"/>
                    </a:solidFill>
                  </a:tcPr>
                </a:tc>
                <a:tc>
                  <a:txBody>
                    <a:bodyPr/>
                    <a:lstStyle/>
                    <a:p>
                      <a:r>
                        <a:rPr sz="1100" b="0" i="0">
                          <a:solidFill>
                            <a:srgbClr val="333B44"/>
                          </a:solidFill>
                          <a:latin typeface="Segoe UI"/>
                        </a:rPr>
                        <a:t>warnings, trips, shutdowns</a:t>
                      </a:r>
                    </a:p>
                  </a:txBody>
                  <a:tcPr marL="73152" marR="73152" marT="27432" marB="27432" anchor="ctr">
                    <a:solidFill>
                      <a:srgbClr val="F4F6F8"/>
                    </a:solidFill>
                  </a:tcPr>
                </a:tc>
              </a:tr>
              <a:tr h="384048">
                <a:tc>
                  <a:txBody>
                    <a:bodyPr/>
                    <a:lstStyle/>
                    <a:p>
                      <a:r>
                        <a:rPr sz="1000" b="0" i="0">
                          <a:solidFill>
                            <a:srgbClr val="002B49"/>
                          </a:solidFill>
                          <a:latin typeface="Consolas"/>
                        </a:rPr>
                        <a:t>AutomaticTransferSwitchType</a:t>
                      </a:r>
                    </a:p>
                  </a:txBody>
                  <a:tcPr marL="73152" marR="73152" marT="27432" marB="27432" anchor="ctr">
                    <a:solidFill>
                      <a:srgbClr val="FFFFFF"/>
                    </a:solidFill>
                  </a:tcPr>
                </a:tc>
                <a:tc>
                  <a:txBody>
                    <a:bodyPr/>
                    <a:lstStyle/>
                    <a:p>
                      <a:r>
                        <a:rPr sz="1100" b="0" i="0">
                          <a:solidFill>
                            <a:srgbClr val="333B44"/>
                          </a:solidFill>
                          <a:latin typeface="Segoe UI"/>
                        </a:rPr>
                        <a:t>DI </a:t>
                      </a:r>
                      <a:r>
                        <a:rPr sz="1000" b="0" i="0">
                          <a:solidFill>
                            <a:srgbClr val="002B49"/>
                          </a:solidFill>
                          <a:latin typeface="Consolas"/>
                        </a:rPr>
                        <a:t>DeviceType</a:t>
                      </a:r>
                    </a:p>
                  </a:txBody>
                  <a:tcPr marL="73152" marR="73152" marT="27432" marB="27432" anchor="ctr">
                    <a:solidFill>
                      <a:srgbClr val="FFFFFF"/>
                    </a:solidFill>
                  </a:tcPr>
                </a:tc>
                <a:tc>
                  <a:txBody>
                    <a:bodyPr/>
                    <a:lstStyle/>
                    <a:p>
                      <a:r>
                        <a:rPr sz="1100" b="0" i="0">
                          <a:solidFill>
                            <a:srgbClr val="333B44"/>
                          </a:solidFill>
                          <a:latin typeface="Segoe UI"/>
                        </a:rPr>
                        <a:t>source and transfer state</a:t>
                      </a:r>
                    </a:p>
                  </a:txBody>
                  <a:tcPr marL="73152" marR="73152" marT="27432" marB="27432" anchor="ctr">
                    <a:solidFill>
                      <a:srgbClr val="FFFFFF"/>
                    </a:solidFill>
                  </a:tcPr>
                </a:tc>
              </a:tr>
              <a:tr h="384048">
                <a:tc>
                  <a:txBody>
                    <a:bodyPr/>
                    <a:lstStyle/>
                    <a:p>
                      <a:r>
                        <a:rPr sz="1000" b="0" i="0">
                          <a:solidFill>
                            <a:srgbClr val="002B49"/>
                          </a:solidFill>
                          <a:latin typeface="Consolas"/>
                        </a:rPr>
                        <a:t>GeneratorSystemType</a:t>
                      </a:r>
                    </a:p>
                  </a:txBody>
                  <a:tcPr marL="73152" marR="73152" marT="27432" marB="27432" anchor="ctr">
                    <a:solidFill>
                      <a:srgbClr val="F4F6F8"/>
                    </a:solidFill>
                  </a:tcPr>
                </a:tc>
                <a:tc>
                  <a:txBody>
                    <a:bodyPr/>
                    <a:lstStyle/>
                    <a:p>
                      <a:r>
                        <a:rPr sz="1000" b="0" i="0">
                          <a:solidFill>
                            <a:srgbClr val="002B49"/>
                          </a:solidFill>
                          <a:latin typeface="Consolas"/>
                        </a:rPr>
                        <a:t>BaseObjectType</a:t>
                      </a:r>
                    </a:p>
                  </a:txBody>
                  <a:tcPr marL="73152" marR="73152" marT="27432" marB="27432" anchor="ctr">
                    <a:solidFill>
                      <a:srgbClr val="F4F6F8"/>
                    </a:solidFill>
                  </a:tcPr>
                </a:tc>
                <a:tc>
                  <a:txBody>
                    <a:bodyPr/>
                    <a:lstStyle/>
                    <a:p>
                      <a:r>
                        <a:rPr sz="1100" b="0" i="0">
                          <a:solidFill>
                            <a:srgbClr val="333B44"/>
                          </a:solidFill>
                          <a:latin typeface="Segoe UI"/>
                        </a:rPr>
                        <a:t>sets, ATS and paralleling</a:t>
                      </a:r>
                    </a:p>
                  </a:txBody>
                  <a:tcPr marL="73152" marR="73152" marT="27432" marB="27432" anchor="ctr">
                    <a:solidFill>
                      <a:srgbClr val="F4F6F8"/>
                    </a:solidFill>
                  </a:tcPr>
                </a:tc>
              </a:tr>
            </a:tbl>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J1939 signals become typed OPC UA members, not a private gateway table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Generators (GenSets)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96</a:t>
            </a:r>
          </a:p>
        </p:txBody>
      </p:sp>
      <p:sp>
        <p:nvSpPr>
          <p:cNvPr id="8" name="TextBox 7"/>
          <p:cNvSpPr txBox="1"/>
          <p:nvPr/>
        </p:nvSpPr>
        <p:spPr>
          <a:xfrm>
            <a:off x="685800" y="1591056"/>
            <a:ext cx="10820095" cy="384048"/>
          </a:xfrm>
          <a:prstGeom prst="rect">
            <a:avLst/>
          </a:prstGeom>
          <a:noFill/>
        </p:spPr>
        <p:txBody>
          <a:bodyPr wrap="square" lIns="0" rIns="0" tIns="0" bIns="0">
            <a:spAutoFit/>
          </a:bodyPr>
          <a:lstStyle/>
          <a:p>
            <a:r>
              <a:rPr sz="1300" b="0" i="0">
                <a:solidFill>
                  <a:srgbClr val="333B44"/>
                </a:solidFill>
                <a:latin typeface="Segoe UI"/>
              </a:rPr>
              <a:t>The engine and CAN add-in carry the signals a gateway maps from the bus.</a:t>
            </a:r>
          </a:p>
        </p:txBody>
      </p:sp>
      <p:sp>
        <p:nvSpPr>
          <p:cNvPr id="9" name="Rounded Rectangle 8"/>
          <p:cNvSpPr/>
          <p:nvPr/>
        </p:nvSpPr>
        <p:spPr>
          <a:xfrm>
            <a:off x="685800" y="2066544"/>
            <a:ext cx="10820095" cy="3602736"/>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46304" bIns="146304"/>
          <a:lstStyle/>
          <a:p>
            <a:pPr algn="ctr">
              <a:lnSpc>
                <a:spcPct val="106000"/>
              </a:lnSpc>
              <a:spcAft>
                <a:spcPts val="0"/>
              </a:spcAft>
            </a:pPr>
            <a:r>
              <a:rPr sz="1600" b="0" i="0">
                <a:solidFill>
                  <a:srgbClr val="FFFFFF"/>
                </a:solidFill>
                <a:latin typeface="Consolas"/>
              </a:rPr>
              <a:t>Engine</a:t>
            </a:r>
          </a:p>
          <a:p>
            <a:pPr>
              <a:lnSpc>
                <a:spcPct val="106000"/>
              </a:lnSpc>
              <a:spcAft>
                <a:spcPts val="0"/>
              </a:spcAft>
            </a:pPr>
            <a:r>
              <a:rPr sz="1600" b="0" i="0">
                <a:solidFill>
                  <a:srgbClr val="FFFFFF"/>
                </a:solidFill>
                <a:latin typeface="Consolas"/>
              </a:rPr>
              <a:t>  Speed                 # SPN 190, r/min</a:t>
            </a:r>
          </a:p>
          <a:p>
            <a:pPr>
              <a:lnSpc>
                <a:spcPct val="106000"/>
              </a:lnSpc>
              <a:spcAft>
                <a:spcPts val="0"/>
              </a:spcAft>
            </a:pPr>
            <a:r>
              <a:rPr sz="1600" b="0" i="0">
                <a:solidFill>
                  <a:srgbClr val="FFFFFF"/>
                </a:solidFill>
                <a:latin typeface="Consolas"/>
              </a:rPr>
              <a:t>  OilPressure           # SPN 100, kPa</a:t>
            </a:r>
          </a:p>
          <a:p>
            <a:pPr>
              <a:lnSpc>
                <a:spcPct val="106000"/>
              </a:lnSpc>
              <a:spcAft>
                <a:spcPts val="0"/>
              </a:spcAft>
            </a:pPr>
            <a:r>
              <a:rPr sz="1600" b="0" i="0">
                <a:solidFill>
                  <a:srgbClr val="FFFFFF"/>
                </a:solidFill>
                <a:latin typeface="Consolas"/>
              </a:rPr>
              <a:t>  CoolantTemperature    # SPN 110, degC</a:t>
            </a:r>
          </a:p>
          <a:p>
            <a:pPr>
              <a:lnSpc>
                <a:spcPct val="106000"/>
              </a:lnSpc>
              <a:spcAft>
                <a:spcPts val="0"/>
              </a:spcAft>
            </a:pPr>
            <a:r>
              <a:rPr sz="1600" b="0" i="0">
                <a:solidFill>
                  <a:srgbClr val="FFFFFF"/>
                </a:solidFill>
                <a:latin typeface="Consolas"/>
              </a:rPr>
              <a:t>  FuelRate              # SPN 183, L/h</a:t>
            </a:r>
          </a:p>
          <a:p>
            <a:pPr>
              <a:lnSpc>
                <a:spcPct val="106000"/>
              </a:lnSpc>
              <a:spcAft>
                <a:spcPts val="0"/>
              </a:spcAft>
            </a:pPr>
            <a:r>
              <a:rPr sz="1600" b="0" i="0">
                <a:solidFill>
                  <a:srgbClr val="FFFFFF"/>
                </a:solidFill>
                <a:latin typeface="Consolas"/>
              </a:rPr>
              <a:t>  EngineHours           # SPN 247, h</a:t>
            </a:r>
          </a:p>
          <a:p>
            <a:pPr>
              <a:lnSpc>
                <a:spcPct val="106000"/>
              </a:lnSpc>
              <a:spcAft>
                <a:spcPts val="0"/>
              </a:spcAft>
            </a:pPr>
            <a:r>
              <a:rPr sz="1600" b="0" i="0">
                <a:solidFill>
                  <a:srgbClr val="FFFFFF"/>
                </a:solidFill>
                <a:latin typeface="Consolas"/>
              </a:rPr>
              <a:t>  CanInterface</a:t>
            </a:r>
          </a:p>
          <a:p>
            <a:pPr>
              <a:lnSpc>
                <a:spcPct val="106000"/>
              </a:lnSpc>
              <a:spcAft>
                <a:spcPts val="0"/>
              </a:spcAft>
            </a:pPr>
            <a:r>
              <a:rPr sz="1600" b="0" i="0">
                <a:solidFill>
                  <a:srgbClr val="FFFFFF"/>
                </a:solidFill>
                <a:latin typeface="Consolas"/>
              </a:rPr>
              <a:t>    ProtocolName = "SAE J1939"</a:t>
            </a:r>
          </a:p>
          <a:p>
            <a:pPr>
              <a:lnSpc>
                <a:spcPct val="106000"/>
              </a:lnSpc>
              <a:spcAft>
                <a:spcPts val="0"/>
              </a:spcAft>
            </a:pPr>
            <a:r>
              <a:rPr sz="1600" b="0" i="0">
                <a:solidFill>
                  <a:srgbClr val="FFFFFF"/>
                </a:solidFill>
                <a:latin typeface="Consolas"/>
              </a:rPr>
              <a:t>    AmberWarningLamp</a:t>
            </a:r>
          </a:p>
          <a:p>
            <a:pPr>
              <a:lnSpc>
                <a:spcPct val="106000"/>
              </a:lnSpc>
              <a:spcAft>
                <a:spcPts val="0"/>
              </a:spcAft>
            </a:pPr>
            <a:r>
              <a:rPr sz="1600" b="0" i="0">
                <a:solidFill>
                  <a:srgbClr val="FFFFFF"/>
                </a:solidFill>
                <a:latin typeface="Consolas"/>
              </a:rPr>
              <a:t>    RedStopLamp</a:t>
            </a:r>
          </a:p>
          <a:p>
            <a:pPr>
              <a:lnSpc>
                <a:spcPct val="106000"/>
              </a:lnSpc>
              <a:spcAft>
                <a:spcPts val="0"/>
              </a:spcAft>
            </a:pPr>
            <a:r>
              <a:rPr sz="1600" b="0" i="0">
                <a:solidFill>
                  <a:srgbClr val="FFFFFF"/>
                </a:solidFill>
                <a:latin typeface="Consolas"/>
              </a:rPr>
              <a:t>    ActiveDiagnosticTroubleCodes[]</a:t>
            </a:r>
          </a:p>
          <a:p>
            <a:pPr>
              <a:lnSpc>
                <a:spcPct val="106000"/>
              </a:lnSpc>
              <a:spcAft>
                <a:spcPts val="0"/>
              </a:spcAft>
            </a:pPr>
            <a:r>
              <a:rPr sz="1600" b="0" i="0">
                <a:solidFill>
                  <a:srgbClr val="FFFFFF"/>
                </a:solidFill>
                <a:latin typeface="Consolas"/>
              </a:rPr>
              <a:t>      Spn, Fmi, OccurrenceCount, Severity</a:t>
            </a:r>
          </a:p>
        </p:txBody>
      </p:sp>
      <p:sp>
        <p:nvSpPr>
          <p:cNvPr id="10" name="TextBox 9"/>
          <p:cNvSpPr txBox="1"/>
          <p:nvPr/>
        </p:nvSpPr>
        <p:spPr>
          <a:xfrm>
            <a:off x="685800" y="5779008"/>
            <a:ext cx="10820095" cy="365760"/>
          </a:xfrm>
          <a:prstGeom prst="rect">
            <a:avLst/>
          </a:prstGeom>
          <a:noFill/>
        </p:spPr>
        <p:txBody>
          <a:bodyPr wrap="square" lIns="0" rIns="0" tIns="0" bIns="0">
            <a:spAutoFit/>
          </a:bodyPr>
          <a:lstStyle/>
          <a:p>
            <a:r>
              <a:rPr sz="1200" b="0" i="0">
                <a:solidFill>
                  <a:srgbClr val="333B44"/>
                </a:solidFill>
                <a:latin typeface="Segoe UI"/>
              </a:rPr>
              <a:t>J1939 remains the field source; OPC UA is the client-facing model.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Draft companion model, generated NodeSet, no demo yet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Generators (GenSets)</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97</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Draft version:</a:t>
            </a:r>
            <a:r>
              <a:rPr sz="1700" b="1" i="0">
                <a:solidFill>
                  <a:srgbClr val="002B49"/>
                </a:solidFill>
                <a:latin typeface="Segoe UI"/>
              </a:rPr>
              <a:t> Release 1.0.0 — Draft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body:</a:t>
            </a:r>
            <a:r>
              <a:rPr sz="1700" b="1" i="0">
                <a:solidFill>
                  <a:srgbClr val="002B49"/>
                </a:solidFill>
                <a:latin typeface="Segoe UI"/>
              </a:rPr>
              <a:t> OPC Foundation companion specification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a:t>
            </a:r>
            <a:r>
              <a:rPr sz="1700" b="1" i="0">
                <a:solidFill>
                  <a:srgbClr val="002B49"/>
                </a:solidFill>
                <a:latin typeface="Segoe UI"/>
              </a:rPr>
              <a:t> </a:t>
            </a:r>
            <a:r>
              <a:rPr sz="1600" b="1" i="0">
                <a:solidFill>
                  <a:srgbClr val="002B49"/>
                </a:solidFill>
                <a:latin typeface="Consolas"/>
              </a:rPr>
              <a:t>companion-specs/Generators/OPC-UA-Companion-Specification-for-Generators.md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Generated:</a:t>
            </a:r>
            <a:r>
              <a:rPr sz="1700" b="1" i="0">
                <a:solidFill>
                  <a:srgbClr val="002B49"/>
                </a:solidFill>
                <a:latin typeface="Segoe UI"/>
              </a:rPr>
              <a:t> </a:t>
            </a:r>
            <a:r>
              <a:rPr sz="1600" b="1" i="0">
                <a:solidFill>
                  <a:srgbClr val="002B49"/>
                </a:solidFill>
                <a:latin typeface="Consolas"/>
              </a:rPr>
              <a:t>Opc.Ua.Generators.NodeSet2.xml</a:t>
            </a:r>
            <a:r>
              <a:rPr sz="1700" b="1" i="0">
                <a:solidFill>
                  <a:srgbClr val="002B49"/>
                </a:solidFill>
                <a:latin typeface="Segoe UI"/>
              </a:rPr>
              <a:t> and NodeIds CSV</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questions:</a:t>
            </a:r>
            <a:r>
              <a:rPr sz="1700" b="1" i="0">
                <a:solidFill>
                  <a:srgbClr val="002B49"/>
                </a:solidFill>
                <a:latin typeface="Segoe UI"/>
              </a:rPr>
              <a:t> none called out beyond draft status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a:t>
            </a:r>
            <a:r>
              <a:rPr sz="1700" b="1" i="0">
                <a:solidFill>
                  <a:srgbClr val="002B49"/>
                </a:solidFill>
                <a:latin typeface="Segoe UI"/>
              </a:rPr>
              <a:t> none yet; say so plainly</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model is concrete and validated; the overview deck has no generator demo to point at.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Why the AAS revision exists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OPC 30270 maps the old metamodel, and the new one is not compatible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Asset Administration Shell</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98</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Published OPC 30270 maps AAS v1.x, not the V3 metamodel</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AAS V3 removes and reshapes core concepts, so this is breaking</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The v1 mapping is not reversible enough for source generation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AAS records the current revision, not version history</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Live nodes, documents, WoT and DPP identifiers must stay aligned</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gap is a V3, reversible, version-aware AAS projection rather than another view.</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it adds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The V3 metamodel as nodes, plus a registry as folders of files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Asset Administration Shell</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99</a:t>
            </a:r>
          </a:p>
        </p:txBody>
      </p:sp>
      <p:graphicFrame>
        <p:nvGraphicFramePr>
          <p:cNvPr id="8" name="Table 7"/>
          <p:cNvGraphicFramePr>
            <a:graphicFrameLocks noGrp="1"/>
          </p:cNvGraphicFramePr>
          <p:nvPr/>
        </p:nvGraphicFramePr>
        <p:xfrm>
          <a:off x="685800" y="1591056"/>
          <a:ext cx="10820094" cy="3456432"/>
        </p:xfrm>
        <a:graphic>
          <a:graphicData uri="http://schemas.openxmlformats.org/drawingml/2006/table">
            <a:tbl>
              <a:tblPr firstRow="1" bandRow="1">
                <a:tableStyleId>{5C22544A-7EE6-4342-B048-85BDC9FD1C3A}</a:tableStyleId>
              </a:tblPr>
              <a:tblGrid>
                <a:gridCol w="3029626"/>
                <a:gridCol w="3678832"/>
                <a:gridCol w="4111636"/>
              </a:tblGrid>
              <a:tr h="384048">
                <a:tc>
                  <a:txBody>
                    <a:bodyPr/>
                    <a:lstStyle/>
                    <a:p>
                      <a:r>
                        <a:rPr sz="1100" b="1" i="0">
                          <a:solidFill>
                            <a:srgbClr val="FFFFFF"/>
                          </a:solidFill>
                          <a:latin typeface="Segoe UI Semibold"/>
                        </a:rPr>
                        <a:t>Piece</a:t>
                      </a:r>
                    </a:p>
                  </a:txBody>
                  <a:tcPr marL="73152" marR="73152" anchor="ctr">
                    <a:solidFill>
                      <a:srgbClr val="8C4A1C"/>
                    </a:solidFill>
                  </a:tcPr>
                </a:tc>
                <a:tc>
                  <a:txBody>
                    <a:bodyPr/>
                    <a:lstStyle/>
                    <a:p>
                      <a:r>
                        <a:rPr sz="1100" b="1" i="0">
                          <a:solidFill>
                            <a:srgbClr val="FFFFFF"/>
                          </a:solidFill>
                          <a:latin typeface="Segoe UI Semibold"/>
                        </a:rPr>
                        <a:t>Type</a:t>
                      </a:r>
                    </a:p>
                  </a:txBody>
                  <a:tcPr marL="73152" marR="73152" anchor="ctr">
                    <a:solidFill>
                      <a:srgbClr val="8C4A1C"/>
                    </a:solidFill>
                  </a:tcPr>
                </a:tc>
                <a:tc>
                  <a:txBody>
                    <a:bodyPr/>
                    <a:lstStyle/>
                    <a:p>
                      <a:r>
                        <a:rPr sz="1100" b="1" i="0">
                          <a:solidFill>
                            <a:srgbClr val="FFFFFF"/>
                          </a:solidFill>
                          <a:latin typeface="Segoe UI Semibold"/>
                        </a:rPr>
                        <a:t>Carries</a:t>
                      </a:r>
                    </a:p>
                  </a:txBody>
                  <a:tcPr marL="73152" marR="73152" anchor="ctr">
                    <a:solidFill>
                      <a:srgbClr val="8C4A1C"/>
                    </a:solidFill>
                  </a:tcPr>
                </a:tc>
              </a:tr>
              <a:tr h="384048">
                <a:tc>
                  <a:txBody>
                    <a:bodyPr/>
                    <a:lstStyle/>
                    <a:p>
                      <a:r>
                        <a:rPr sz="1100" b="0" i="0">
                          <a:solidFill>
                            <a:srgbClr val="333B44"/>
                          </a:solidFill>
                          <a:latin typeface="Segoe UI"/>
                        </a:rPr>
                        <a:t>Environment</a:t>
                      </a:r>
                    </a:p>
                  </a:txBody>
                  <a:tcPr marL="73152" marR="73152" marT="27432" marB="27432" anchor="ctr">
                    <a:solidFill>
                      <a:srgbClr val="FFFFFF"/>
                    </a:solidFill>
                  </a:tcPr>
                </a:tc>
                <a:tc>
                  <a:txBody>
                    <a:bodyPr/>
                    <a:lstStyle/>
                    <a:p>
                      <a:r>
                        <a:rPr sz="1000" b="0" i="0">
                          <a:solidFill>
                            <a:srgbClr val="002B49"/>
                          </a:solidFill>
                          <a:latin typeface="Consolas"/>
                        </a:rPr>
                        <a:t>AASEnvironmentType</a:t>
                      </a:r>
                    </a:p>
                  </a:txBody>
                  <a:tcPr marL="73152" marR="73152" marT="27432" marB="27432" anchor="ctr">
                    <a:solidFill>
                      <a:srgbClr val="FFFFFF"/>
                    </a:solidFill>
                  </a:tcPr>
                </a:tc>
                <a:tc>
                  <a:txBody>
                    <a:bodyPr/>
                    <a:lstStyle/>
                    <a:p>
                      <a:r>
                        <a:rPr sz="1100" b="0" i="0">
                          <a:solidFill>
                            <a:srgbClr val="333B44"/>
                          </a:solidFill>
                          <a:latin typeface="Segoe UI"/>
                        </a:rPr>
                        <a:t>shells, submodels, concepts</a:t>
                      </a:r>
                    </a:p>
                  </a:txBody>
                  <a:tcPr marL="73152" marR="73152" marT="27432" marB="27432" anchor="ctr">
                    <a:solidFill>
                      <a:srgbClr val="FFFFFF"/>
                    </a:solidFill>
                  </a:tcPr>
                </a:tc>
              </a:tr>
              <a:tr h="384048">
                <a:tc>
                  <a:txBody>
                    <a:bodyPr/>
                    <a:lstStyle/>
                    <a:p>
                      <a:r>
                        <a:rPr sz="1100" b="0" i="0">
                          <a:solidFill>
                            <a:srgbClr val="333B44"/>
                          </a:solidFill>
                          <a:latin typeface="Segoe UI"/>
                        </a:rPr>
                        <a:t>Shell</a:t>
                      </a:r>
                    </a:p>
                  </a:txBody>
                  <a:tcPr marL="73152" marR="73152" marT="27432" marB="27432" anchor="ctr">
                    <a:solidFill>
                      <a:srgbClr val="F4F6F8"/>
                    </a:solidFill>
                  </a:tcPr>
                </a:tc>
                <a:tc>
                  <a:txBody>
                    <a:bodyPr/>
                    <a:lstStyle/>
                    <a:p>
                      <a:r>
                        <a:rPr sz="1000" b="0" i="0">
                          <a:solidFill>
                            <a:srgbClr val="002B49"/>
                          </a:solidFill>
                          <a:latin typeface="Consolas"/>
                        </a:rPr>
                        <a:t>AASType</a:t>
                      </a:r>
                    </a:p>
                  </a:txBody>
                  <a:tcPr marL="73152" marR="73152" marT="27432" marB="27432" anchor="ctr">
                    <a:solidFill>
                      <a:srgbClr val="F4F6F8"/>
                    </a:solidFill>
                  </a:tcPr>
                </a:tc>
                <a:tc>
                  <a:txBody>
                    <a:bodyPr/>
                    <a:lstStyle/>
                    <a:p>
                      <a:r>
                        <a:rPr sz="1100" b="0" i="0">
                          <a:solidFill>
                            <a:srgbClr val="333B44"/>
                          </a:solidFill>
                          <a:latin typeface="Segoe UI"/>
                        </a:rPr>
                        <a:t>asset information and references</a:t>
                      </a:r>
                    </a:p>
                  </a:txBody>
                  <a:tcPr marL="73152" marR="73152" marT="27432" marB="27432" anchor="ctr">
                    <a:solidFill>
                      <a:srgbClr val="F4F6F8"/>
                    </a:solidFill>
                  </a:tcPr>
                </a:tc>
              </a:tr>
              <a:tr h="384048">
                <a:tc>
                  <a:txBody>
                    <a:bodyPr/>
                    <a:lstStyle/>
                    <a:p>
                      <a:r>
                        <a:rPr sz="1100" b="0" i="0">
                          <a:solidFill>
                            <a:srgbClr val="333B44"/>
                          </a:solidFill>
                          <a:latin typeface="Segoe UI"/>
                        </a:rPr>
                        <a:t>Submodel</a:t>
                      </a:r>
                    </a:p>
                  </a:txBody>
                  <a:tcPr marL="73152" marR="73152" marT="27432" marB="27432" anchor="ctr">
                    <a:solidFill>
                      <a:srgbClr val="FFFFFF"/>
                    </a:solidFill>
                  </a:tcPr>
                </a:tc>
                <a:tc>
                  <a:txBody>
                    <a:bodyPr/>
                    <a:lstStyle/>
                    <a:p>
                      <a:r>
                        <a:rPr sz="1000" b="0" i="0">
                          <a:solidFill>
                            <a:srgbClr val="002B49"/>
                          </a:solidFill>
                          <a:latin typeface="Consolas"/>
                        </a:rPr>
                        <a:t>AASSubmodelType</a:t>
                      </a:r>
                    </a:p>
                  </a:txBody>
                  <a:tcPr marL="73152" marR="73152" marT="27432" marB="27432" anchor="ctr">
                    <a:solidFill>
                      <a:srgbClr val="FFFFFF"/>
                    </a:solidFill>
                  </a:tcPr>
                </a:tc>
                <a:tc>
                  <a:txBody>
                    <a:bodyPr/>
                    <a:lstStyle/>
                    <a:p>
                      <a:r>
                        <a:rPr sz="1100" b="0" i="0">
                          <a:solidFill>
                            <a:srgbClr val="333B44"/>
                          </a:solidFill>
                          <a:latin typeface="Segoe UI"/>
                        </a:rPr>
                        <a:t>one coherent aspect</a:t>
                      </a:r>
                    </a:p>
                  </a:txBody>
                  <a:tcPr marL="73152" marR="73152" marT="27432" marB="27432" anchor="ctr">
                    <a:solidFill>
                      <a:srgbClr val="FFFFFF"/>
                    </a:solidFill>
                  </a:tcPr>
                </a:tc>
              </a:tr>
              <a:tr h="384048">
                <a:tc>
                  <a:txBody>
                    <a:bodyPr/>
                    <a:lstStyle/>
                    <a:p>
                      <a:r>
                        <a:rPr sz="1100" b="0" i="0">
                          <a:solidFill>
                            <a:srgbClr val="333B44"/>
                          </a:solidFill>
                          <a:latin typeface="Segoe UI"/>
                        </a:rPr>
                        <a:t>Concept</a:t>
                      </a:r>
                    </a:p>
                  </a:txBody>
                  <a:tcPr marL="73152" marR="73152" marT="27432" marB="27432" anchor="ctr">
                    <a:solidFill>
                      <a:srgbClr val="F4F6F8"/>
                    </a:solidFill>
                  </a:tcPr>
                </a:tc>
                <a:tc>
                  <a:txBody>
                    <a:bodyPr/>
                    <a:lstStyle/>
                    <a:p>
                      <a:r>
                        <a:rPr sz="1000" b="0" i="0">
                          <a:solidFill>
                            <a:srgbClr val="002B49"/>
                          </a:solidFill>
                          <a:latin typeface="Consolas"/>
                        </a:rPr>
                        <a:t>AASConceptDescriptionType</a:t>
                      </a:r>
                    </a:p>
                  </a:txBody>
                  <a:tcPr marL="73152" marR="73152" marT="27432" marB="27432" anchor="ctr">
                    <a:solidFill>
                      <a:srgbClr val="F4F6F8"/>
                    </a:solidFill>
                  </a:tcPr>
                </a:tc>
                <a:tc>
                  <a:txBody>
                    <a:bodyPr/>
                    <a:lstStyle/>
                    <a:p>
                      <a:r>
                        <a:rPr sz="1100" b="0" i="0">
                          <a:solidFill>
                            <a:srgbClr val="333B44"/>
                          </a:solidFill>
                          <a:latin typeface="Segoe UI"/>
                        </a:rPr>
                        <a:t>semantic definitions</a:t>
                      </a:r>
                    </a:p>
                  </a:txBody>
                  <a:tcPr marL="73152" marR="73152" marT="27432" marB="27432" anchor="ctr">
                    <a:solidFill>
                      <a:srgbClr val="F4F6F8"/>
                    </a:solidFill>
                  </a:tcPr>
                </a:tc>
              </a:tr>
              <a:tr h="384048">
                <a:tc>
                  <a:txBody>
                    <a:bodyPr/>
                    <a:lstStyle/>
                    <a:p>
                      <a:r>
                        <a:rPr sz="1100" b="0" i="0">
                          <a:solidFill>
                            <a:srgbClr val="333B44"/>
                          </a:solidFill>
                          <a:latin typeface="Segoe UI"/>
                        </a:rPr>
                        <a:t>Elements</a:t>
                      </a:r>
                    </a:p>
                  </a:txBody>
                  <a:tcPr marL="73152" marR="73152" marT="27432" marB="27432" anchor="ctr">
                    <a:solidFill>
                      <a:srgbClr val="FFFFFF"/>
                    </a:solidFill>
                  </a:tcPr>
                </a:tc>
                <a:tc>
                  <a:txBody>
                    <a:bodyPr/>
                    <a:lstStyle/>
                    <a:p>
                      <a:r>
                        <a:rPr sz="1000" b="0" i="0">
                          <a:solidFill>
                            <a:srgbClr val="002B49"/>
                          </a:solidFill>
                          <a:latin typeface="Consolas"/>
                        </a:rPr>
                        <a:t>AASSubmodelElementType</a:t>
                      </a:r>
                    </a:p>
                  </a:txBody>
                  <a:tcPr marL="73152" marR="73152" marT="27432" marB="27432" anchor="ctr">
                    <a:solidFill>
                      <a:srgbClr val="FFFFFF"/>
                    </a:solidFill>
                  </a:tcPr>
                </a:tc>
                <a:tc>
                  <a:txBody>
                    <a:bodyPr/>
                    <a:lstStyle/>
                    <a:p>
                      <a:r>
                        <a:rPr sz="1100" b="0" i="0">
                          <a:solidFill>
                            <a:srgbClr val="333B44"/>
                          </a:solidFill>
                          <a:latin typeface="Segoe UI"/>
                        </a:rPr>
                        <a:t>properties, ranges, files, ops</a:t>
                      </a:r>
                    </a:p>
                  </a:txBody>
                  <a:tcPr marL="73152" marR="73152" marT="27432" marB="27432" anchor="ctr">
                    <a:solidFill>
                      <a:srgbClr val="FFFFFF"/>
                    </a:solidFill>
                  </a:tcPr>
                </a:tc>
              </a:tr>
              <a:tr h="384048">
                <a:tc>
                  <a:txBody>
                    <a:bodyPr/>
                    <a:lstStyle/>
                    <a:p>
                      <a:r>
                        <a:rPr sz="1100" b="0" i="0">
                          <a:solidFill>
                            <a:srgbClr val="333B44"/>
                          </a:solidFill>
                          <a:latin typeface="Segoe UI"/>
                        </a:rPr>
                        <a:t>Values</a:t>
                      </a:r>
                    </a:p>
                  </a:txBody>
                  <a:tcPr marL="73152" marR="73152" marT="27432" marB="27432" anchor="ctr">
                    <a:solidFill>
                      <a:srgbClr val="F4F6F8"/>
                    </a:solidFill>
                  </a:tcPr>
                </a:tc>
                <a:tc>
                  <a:txBody>
                    <a:bodyPr/>
                    <a:lstStyle/>
                    <a:p>
                      <a:r>
                        <a:rPr sz="1000" b="0" i="0">
                          <a:solidFill>
                            <a:srgbClr val="002B49"/>
                          </a:solidFill>
                          <a:latin typeface="Consolas"/>
                        </a:rPr>
                        <a:t>AASPropertyType</a:t>
                      </a:r>
                      <a:r>
                        <a:rPr sz="1100" b="0" i="0">
                          <a:solidFill>
                            <a:srgbClr val="333B44"/>
                          </a:solidFill>
                          <a:latin typeface="Segoe UI"/>
                        </a:rPr>
                        <a:t> / </a:t>
                      </a:r>
                      <a:r>
                        <a:rPr sz="1000" b="0" i="0">
                          <a:solidFill>
                            <a:srgbClr val="002B49"/>
                          </a:solidFill>
                          <a:latin typeface="Consolas"/>
                        </a:rPr>
                        <a:t>AASRangeType</a:t>
                      </a:r>
                    </a:p>
                  </a:txBody>
                  <a:tcPr marL="73152" marR="73152" marT="27432" marB="27432" anchor="ctr">
                    <a:solidFill>
                      <a:srgbClr val="F4F6F8"/>
                    </a:solidFill>
                  </a:tcPr>
                </a:tc>
                <a:tc>
                  <a:txBody>
                    <a:bodyPr/>
                    <a:lstStyle/>
                    <a:p>
                      <a:r>
                        <a:rPr sz="1100" b="0" i="0">
                          <a:solidFill>
                            <a:srgbClr val="333B44"/>
                          </a:solidFill>
                          <a:latin typeface="Segoe UI"/>
                        </a:rPr>
                        <a:t>declared xsd type and value</a:t>
                      </a:r>
                    </a:p>
                  </a:txBody>
                  <a:tcPr marL="73152" marR="73152" marT="27432" marB="27432" anchor="ctr">
                    <a:solidFill>
                      <a:srgbClr val="F4F6F8"/>
                    </a:solidFill>
                  </a:tcPr>
                </a:tc>
              </a:tr>
              <a:tr h="384048">
                <a:tc>
                  <a:txBody>
                    <a:bodyPr/>
                    <a:lstStyle/>
                    <a:p>
                      <a:r>
                        <a:rPr sz="1100" b="0" i="0">
                          <a:solidFill>
                            <a:srgbClr val="333B44"/>
                          </a:solidFill>
                          <a:latin typeface="Segoe UI"/>
                        </a:rPr>
                        <a:t>Ordering</a:t>
                      </a:r>
                    </a:p>
                  </a:txBody>
                  <a:tcPr marL="73152" marR="73152" marT="27432" marB="27432" anchor="ctr">
                    <a:solidFill>
                      <a:srgbClr val="FFFFFF"/>
                    </a:solidFill>
                  </a:tcPr>
                </a:tc>
                <a:tc>
                  <a:txBody>
                    <a:bodyPr/>
                    <a:lstStyle/>
                    <a:p>
                      <a:r>
                        <a:rPr sz="1000" b="0" i="0">
                          <a:solidFill>
                            <a:srgbClr val="002B49"/>
                          </a:solidFill>
                          <a:latin typeface="Consolas"/>
                        </a:rPr>
                        <a:t>AASSubmodelElementListType</a:t>
                      </a:r>
                    </a:p>
                  </a:txBody>
                  <a:tcPr marL="73152" marR="73152" marT="27432" marB="27432" anchor="ctr">
                    <a:solidFill>
                      <a:srgbClr val="FFFFFF"/>
                    </a:solidFill>
                  </a:tcPr>
                </a:tc>
                <a:tc>
                  <a:txBody>
                    <a:bodyPr/>
                    <a:lstStyle/>
                    <a:p>
                      <a:r>
                        <a:rPr sz="1100" b="0" i="0">
                          <a:solidFill>
                            <a:srgbClr val="333B44"/>
                          </a:solidFill>
                          <a:latin typeface="Segoe UI"/>
                        </a:rPr>
                        <a:t>reference type plus </a:t>
                      </a:r>
                      <a:r>
                        <a:rPr sz="1000" b="0" i="0">
                          <a:solidFill>
                            <a:srgbClr val="002B49"/>
                          </a:solidFill>
                          <a:latin typeface="Consolas"/>
                        </a:rPr>
                        <a:t>Index</a:t>
                      </a:r>
                    </a:p>
                  </a:txBody>
                  <a:tcPr marL="73152" marR="73152" marT="27432" marB="27432" anchor="ctr">
                    <a:solidFill>
                      <a:srgbClr val="FFFFFF"/>
                    </a:solidFill>
                  </a:tcPr>
                </a:tc>
              </a:tr>
              <a:tr h="384048">
                <a:tc>
                  <a:txBody>
                    <a:bodyPr/>
                    <a:lstStyle/>
                    <a:p>
                      <a:r>
                        <a:rPr sz="1100" b="0" i="0">
                          <a:solidFill>
                            <a:srgbClr val="333B44"/>
                          </a:solidFill>
                          <a:latin typeface="Segoe UI"/>
                        </a:rPr>
                        <a:t>Registry</a:t>
                      </a:r>
                    </a:p>
                  </a:txBody>
                  <a:tcPr marL="73152" marR="73152" marT="27432" marB="27432" anchor="ctr">
                    <a:solidFill>
                      <a:srgbClr val="F4F6F8"/>
                    </a:solidFill>
                  </a:tcPr>
                </a:tc>
                <a:tc>
                  <a:txBody>
                    <a:bodyPr/>
                    <a:lstStyle/>
                    <a:p>
                      <a:r>
                        <a:rPr sz="1000" b="0" i="0">
                          <a:solidFill>
                            <a:srgbClr val="002B49"/>
                          </a:solidFill>
                          <a:latin typeface="Consolas"/>
                        </a:rPr>
                        <a:t>AASRegistryType</a:t>
                      </a:r>
                    </a:p>
                  </a:txBody>
                  <a:tcPr marL="73152" marR="73152" marT="27432" marB="27432" anchor="ctr">
                    <a:solidFill>
                      <a:srgbClr val="F4F6F8"/>
                    </a:solidFill>
                  </a:tcPr>
                </a:tc>
                <a:tc>
                  <a:txBody>
                    <a:bodyPr/>
                    <a:lstStyle/>
                    <a:p>
                      <a:r>
                        <a:rPr sz="1100" b="0" i="0">
                          <a:solidFill>
                            <a:srgbClr val="333B44"/>
                          </a:solidFill>
                          <a:latin typeface="Segoe UI"/>
                        </a:rPr>
                        <a:t>shell groups and document files</a:t>
                      </a:r>
                    </a:p>
                  </a:txBody>
                  <a:tcPr marL="73152" marR="73152" marT="27432" marB="27432" anchor="ctr">
                    <a:solidFill>
                      <a:srgbClr val="F4F6F8"/>
                    </a:solidFill>
                  </a:tcPr>
                </a:tc>
              </a:tr>
            </a:tbl>
          </a:graphicData>
        </a:graphic>
      </p:graphicFrame>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works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Losslessness is designed into identity, values, order and absence</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Asset Administration Shell</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100</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String NodeIds use the AAS identifier and </a:t>
            </a:r>
            <a:r>
              <a:rPr sz="1600" b="1" i="0">
                <a:solidFill>
                  <a:srgbClr val="002B49"/>
                </a:solidFill>
                <a:latin typeface="Consolas"/>
              </a:rPr>
              <a:t>idShortPath</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Each </a:t>
            </a:r>
            <a:r>
              <a:rPr sz="1600" b="1" i="0">
                <a:solidFill>
                  <a:srgbClr val="002B49"/>
                </a:solidFill>
                <a:latin typeface="Consolas"/>
              </a:rPr>
              <a:t>DataTypeDefXsd</a:t>
            </a:r>
            <a:r>
              <a:rPr sz="1700" b="1" i="0">
                <a:solidFill>
                  <a:srgbClr val="002B49"/>
                </a:solidFill>
                <a:latin typeface="Segoe UI"/>
              </a:rPr>
              <a:t> value maps to one OPC UA DataType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Round trips compare the xsd value space, not lexical spelling</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Ordered lists use </a:t>
            </a:r>
            <a:r>
              <a:rPr sz="1600" b="1" i="0">
                <a:solidFill>
                  <a:srgbClr val="002B49"/>
                </a:solidFill>
                <a:latin typeface="Consolas"/>
              </a:rPr>
              <a:t>HasOrderedComponent</a:t>
            </a:r>
            <a:r>
              <a:rPr sz="1700" b="1" i="0">
                <a:solidFill>
                  <a:srgbClr val="002B49"/>
                </a:solidFill>
                <a:latin typeface="Segoe UI"/>
              </a:rPr>
              <a:t> and zero-based </a:t>
            </a:r>
            <a:r>
              <a:rPr sz="1600" b="1" i="0">
                <a:solidFill>
                  <a:srgbClr val="002B49"/>
                </a:solidFill>
                <a:latin typeface="Consolas"/>
              </a:rPr>
              <a:t>Index</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Absent fields have no node; empty fields have an empty node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Every metamodel field has one AddressSpace representation</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A generated server does not make choices the specification leaves open.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it connects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One shell is live nodes, a versioned document, linked data and a WoT Thing</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Asset Administration Shell</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101</a:t>
            </a:r>
          </a:p>
        </p:txBody>
      </p:sp>
      <p:sp>
        <p:nvSpPr>
          <p:cNvPr id="8" name="Rounded Rectangle 7"/>
          <p:cNvSpPr/>
          <p:nvPr/>
        </p:nvSpPr>
        <p:spPr>
          <a:xfrm>
            <a:off x="4292498" y="1666646"/>
            <a:ext cx="3606698" cy="680313"/>
          </a:xfrm>
          <a:prstGeom prst="roundRect">
            <a:avLst/>
          </a:prstGeom>
          <a:solidFill>
            <a:srgbClr val="002B49"/>
          </a:solidFill>
          <a:ln w="9525">
            <a:solidFill>
              <a:srgbClr val="002B4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AAS V3 source</a:t>
            </a:r>
          </a:p>
        </p:txBody>
      </p:sp>
      <p:sp>
        <p:nvSpPr>
          <p:cNvPr id="9" name="Rounded Rectangle 8"/>
          <p:cNvSpPr/>
          <p:nvPr/>
        </p:nvSpPr>
        <p:spPr>
          <a:xfrm>
            <a:off x="866134" y="3102864"/>
            <a:ext cx="2885358" cy="755904"/>
          </a:xfrm>
          <a:prstGeom prst="roundRect">
            <a:avLst/>
          </a:prstGeom>
          <a:solidFill>
            <a:srgbClr val="005A9C"/>
          </a:solidFill>
          <a:ln w="9525">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OPC UA nodes</a:t>
            </a:r>
          </a:p>
          <a:p>
            <a:pPr algn="ctr">
              <a:spcBef>
                <a:spcPts val="100"/>
              </a:spcBef>
            </a:pPr>
            <a:r>
              <a:rPr sz="1000" b="0" i="0">
                <a:solidFill>
                  <a:srgbClr val="FFFFFF"/>
                </a:solidFill>
                <a:latin typeface="Segoe UI"/>
              </a:rPr>
              <a:t>read · write · call</a:t>
            </a:r>
          </a:p>
        </p:txBody>
      </p:sp>
      <p:sp>
        <p:nvSpPr>
          <p:cNvPr id="10" name="Rounded Rectangle 9"/>
          <p:cNvSpPr/>
          <p:nvPr/>
        </p:nvSpPr>
        <p:spPr>
          <a:xfrm>
            <a:off x="4653168" y="3102864"/>
            <a:ext cx="2885358" cy="755904"/>
          </a:xfrm>
          <a:prstGeom prst="roundRect">
            <a:avLst/>
          </a:prstGeom>
          <a:solidFill>
            <a:srgbClr val="F29900"/>
          </a:solidFill>
          <a:ln w="9525">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AAS Registry</a:t>
            </a:r>
          </a:p>
          <a:p>
            <a:pPr algn="ctr">
              <a:spcBef>
                <a:spcPts val="100"/>
              </a:spcBef>
            </a:pPr>
            <a:r>
              <a:rPr sz="1000" b="0" i="0">
                <a:solidFill>
                  <a:srgbClr val="002B49"/>
                </a:solidFill>
                <a:latin typeface="Segoe UI"/>
              </a:rPr>
              <a:t>xRegistry domain</a:t>
            </a:r>
          </a:p>
        </p:txBody>
      </p:sp>
      <p:sp>
        <p:nvSpPr>
          <p:cNvPr id="11" name="Rounded Rectangle 10"/>
          <p:cNvSpPr/>
          <p:nvPr/>
        </p:nvSpPr>
        <p:spPr>
          <a:xfrm>
            <a:off x="8440201" y="3102864"/>
            <a:ext cx="2885358" cy="755904"/>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002B49"/>
                </a:solidFill>
                <a:latin typeface="Segoe UI"/>
              </a:rPr>
              <a:t>WoT TD</a:t>
            </a:r>
          </a:p>
          <a:p>
            <a:pPr algn="ctr">
              <a:spcBef>
                <a:spcPts val="100"/>
              </a:spcBef>
            </a:pPr>
            <a:r>
              <a:rPr sz="1000" b="0" i="0">
                <a:solidFill>
                  <a:srgbClr val="002B49"/>
                </a:solidFill>
                <a:latin typeface="Segoe UI"/>
              </a:rPr>
              <a:t>Thing + projection</a:t>
            </a:r>
          </a:p>
        </p:txBody>
      </p:sp>
      <p:sp>
        <p:nvSpPr>
          <p:cNvPr id="12" name="Rounded Rectangle 11"/>
          <p:cNvSpPr/>
          <p:nvPr/>
        </p:nvSpPr>
        <p:spPr>
          <a:xfrm>
            <a:off x="1407139" y="4690262"/>
            <a:ext cx="2705023" cy="680313"/>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JSON-LD context</a:t>
            </a:r>
          </a:p>
        </p:txBody>
      </p:sp>
      <p:sp>
        <p:nvSpPr>
          <p:cNvPr id="13" name="Rounded Rectangle 12"/>
          <p:cNvSpPr/>
          <p:nvPr/>
        </p:nvSpPr>
        <p:spPr>
          <a:xfrm>
            <a:off x="4833503" y="4690262"/>
            <a:ext cx="2705023" cy="680313"/>
          </a:xfrm>
          <a:prstGeom prst="roundRect">
            <a:avLst/>
          </a:prstGeom>
          <a:solidFill>
            <a:srgbClr val="2E7D4F"/>
          </a:solidFill>
          <a:ln w="9525">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Segoe UI"/>
              </a:rPr>
              <a:t>DPP identifiers</a:t>
            </a:r>
          </a:p>
        </p:txBody>
      </p:sp>
      <p:sp>
        <p:nvSpPr>
          <p:cNvPr id="14" name="Rounded Rectangle 13"/>
          <p:cNvSpPr/>
          <p:nvPr/>
        </p:nvSpPr>
        <p:spPr>
          <a:xfrm>
            <a:off x="8259866" y="4690262"/>
            <a:ext cx="2705023" cy="680313"/>
          </a:xfrm>
          <a:prstGeom prst="roundRect">
            <a:avLst/>
          </a:prstGeom>
          <a:solidFill>
            <a:srgbClr val="5B3E96"/>
          </a:solidFill>
          <a:ln w="9525">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002B49"/>
                </a:solidFill>
                <a:latin typeface="Consolas"/>
              </a:rPr>
              <a:t>xRegistry-AAS.md</a:t>
            </a:r>
          </a:p>
        </p:txBody>
      </p:sp>
      <p:cxnSp>
        <p:nvCxnSpPr>
          <p:cNvPr id="15" name="Connector 14"/>
          <p:cNvCxnSpPr>
            <a:stCxn id="8" idx="2"/>
            <a:endCxn id="9" idx="0"/>
          </p:cNvCxnSpPr>
          <p:nvPr/>
        </p:nvCxnSpPr>
        <p:spPr>
          <a:xfrm flipH="1">
            <a:off x="2308813" y="2346959"/>
            <a:ext cx="3787034" cy="755905"/>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a:stCxn id="8" idx="2"/>
            <a:endCxn id="10" idx="0"/>
          </p:cNvCxnSpPr>
          <p:nvPr/>
        </p:nvCxnSpPr>
        <p:spPr>
          <a:xfrm>
            <a:off x="6095847" y="2346959"/>
            <a:ext cx="0" cy="755905"/>
          </a:xfrm>
          <a:prstGeom prst="line">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8" idx="2"/>
            <a:endCxn id="11" idx="0"/>
          </p:cNvCxnSpPr>
          <p:nvPr/>
        </p:nvCxnSpPr>
        <p:spPr>
          <a:xfrm>
            <a:off x="6095847" y="2346959"/>
            <a:ext cx="3787033" cy="755905"/>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9" idx="2"/>
            <a:endCxn id="12" idx="0"/>
          </p:cNvCxnSpPr>
          <p:nvPr/>
        </p:nvCxnSpPr>
        <p:spPr>
          <a:xfrm>
            <a:off x="2308813" y="3858768"/>
            <a:ext cx="450837" cy="831494"/>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0" idx="2"/>
            <a:endCxn id="13" idx="0"/>
          </p:cNvCxnSpPr>
          <p:nvPr/>
        </p:nvCxnSpPr>
        <p:spPr>
          <a:xfrm>
            <a:off x="6095847" y="3858768"/>
            <a:ext cx="90167" cy="831494"/>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0" idx="2"/>
            <a:endCxn id="14" idx="0"/>
          </p:cNvCxnSpPr>
          <p:nvPr/>
        </p:nvCxnSpPr>
        <p:spPr>
          <a:xfrm>
            <a:off x="6095847" y="3858768"/>
            <a:ext cx="3516530" cy="831494"/>
          </a:xfrm>
          <a:prstGeom prst="bentConnector3">
            <a:avLst/>
          </a:prstGeom>
          <a:ln w="15875">
            <a:solidFill>
              <a:srgbClr val="6B748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5710732"/>
            <a:ext cx="10820095" cy="365760"/>
          </a:xfrm>
          <a:prstGeom prst="rect">
            <a:avLst/>
          </a:prstGeom>
          <a:noFill/>
        </p:spPr>
        <p:txBody>
          <a:bodyPr wrap="square" lIns="0" rIns="0" tIns="0" bIns="0">
            <a:spAutoFit/>
          </a:bodyPr>
          <a:lstStyle/>
          <a:p>
            <a:pPr algn="ctr"/>
            <a:r>
              <a:rPr sz="1100" b="0" i="1">
                <a:solidFill>
                  <a:srgbClr val="6B7480"/>
                </a:solidFill>
                <a:latin typeface="Segoe UI"/>
              </a:rPr>
              <a:t>The same identifiers make the OPC UA and HTTP registry bindings one registry.</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Status and where it lives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Draft 3.00, open PR, demo 7 walkthrough</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for Asset Administration Shell</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102</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Draft version:</a:t>
            </a:r>
            <a:r>
              <a:rPr sz="1700" b="1" i="0">
                <a:solidFill>
                  <a:srgbClr val="002B49"/>
                </a:solidFill>
                <a:latin typeface="Segoe UI"/>
              </a:rPr>
              <a:t> Draft 3.00 — supersedes OPC 30270 v1.00</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Target body:</a:t>
            </a:r>
            <a:r>
              <a:rPr sz="1700" b="1" i="0">
                <a:solidFill>
                  <a:srgbClr val="002B49"/>
                </a:solidFill>
                <a:latin typeface="Segoe UI"/>
              </a:rPr>
              <a:t> OPC Foundation companion specification</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a:t>
            </a:r>
            <a:r>
              <a:rPr sz="1700" b="1" i="0">
                <a:solidFill>
                  <a:srgbClr val="002B49"/>
                </a:solidFill>
                <a:latin typeface="Segoe UI"/>
              </a:rPr>
              <a:t> </a:t>
            </a:r>
            <a:r>
              <a:rPr sz="1600" b="1" i="0">
                <a:solidFill>
                  <a:srgbClr val="002B49"/>
                </a:solidFill>
                <a:latin typeface="Consolas"/>
              </a:rPr>
              <a:t>companion-specs/AAS/OPC-UA-AAS.md</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Related:</a:t>
            </a:r>
            <a:r>
              <a:rPr sz="1700" b="1" i="0">
                <a:solidFill>
                  <a:srgbClr val="002B49"/>
                </a:solidFill>
                <a:latin typeface="Segoe UI"/>
              </a:rPr>
              <a:t> </a:t>
            </a:r>
            <a:r>
              <a:rPr sz="1600" b="1" i="0">
                <a:solidFill>
                  <a:srgbClr val="002B49"/>
                </a:solidFill>
                <a:latin typeface="Consolas"/>
              </a:rPr>
              <a:t>xRegistry-AAS.md</a:t>
            </a:r>
            <a:r>
              <a:rPr sz="1700" b="1" i="0">
                <a:solidFill>
                  <a:srgbClr val="002B49"/>
                </a:solidFill>
                <a:latin typeface="Segoe UI"/>
              </a:rPr>
              <a:t>, study, JSON-LD and DPP docs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Open PR:</a:t>
            </a:r>
            <a:r>
              <a:rPr sz="1700" b="1" i="0">
                <a:solidFill>
                  <a:srgbClr val="002B49"/>
                </a:solidFill>
                <a:latin typeface="Segoe UI"/>
              </a:rPr>
              <a:t> #61 on branch </a:t>
            </a:r>
            <a:r>
              <a:rPr sz="1600" b="1" i="0">
                <a:solidFill>
                  <a:srgbClr val="002B49"/>
                </a:solidFill>
                <a:latin typeface="Consolas"/>
              </a:rPr>
              <a:t>aas-opcua-v3</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Demo:</a:t>
            </a:r>
            <a:r>
              <a:rPr sz="1700" b="1" i="0">
                <a:solidFill>
                  <a:srgbClr val="002B49"/>
                </a:solidFill>
                <a:latin typeface="Segoe UI"/>
              </a:rPr>
              <a:t> 7 — AAS + WoT + xRegistry walkthrough</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The model is the current AAS V3 draft; the walkthrough centers on the registry bridge.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8C4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7 — AAS + WoT + xRegistry</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8C4A1C"/>
                </a:solidFill>
                <a:latin typeface="Segoe UI"/>
              </a:rPr>
              <a:t>One asset, three projections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AAS, WoT and xRegistry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103</a:t>
            </a:r>
          </a:p>
        </p:txBody>
      </p:sp>
      <p:sp>
        <p:nvSpPr>
          <p:cNvPr id="8" name="Rounded Rectangle 7"/>
          <p:cNvSpPr/>
          <p:nvPr/>
        </p:nvSpPr>
        <p:spPr>
          <a:xfrm>
            <a:off x="9631376" y="466344"/>
            <a:ext cx="1874519" cy="310896"/>
          </a:xfrm>
          <a:prstGeom prst="roundRect">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WALKTHROUGH ONLY</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AAS shell mapped as live OPC UA nodes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Same shell catalogued as xRegistry resources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Thing Description carries the OPC UA binding</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Stack has xRegistry; AAS server is not built</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companion-specs\AAS\OPC-UA-AAS.md</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companion-specs\AAS\xRegistry-AAS.md</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companion-specs\AAS\examples\wot</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src\Opc.Ua.XRegistry*</a:t>
            </a:r>
            <a:r>
              <a:rPr sz="1400" b="1" i="0">
                <a:solidFill>
                  <a:srgbClr val="002B49"/>
                </a:solidFill>
                <a:latin typeface="Segoe UI"/>
              </a:rPr>
              <a:t> on stack </a:t>
            </a:r>
            <a:r>
              <a:rPr sz="1300" b="1" i="0">
                <a:solidFill>
                  <a:srgbClr val="002B49"/>
                </a:solidFill>
                <a:latin typeface="Consolas"/>
              </a:rPr>
              <a:t>master</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decks\demos\07-aas-wot-xregistry\README.md</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One asset can have live, registry and WoT views when they share identity.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874519"/>
            <a:ext cx="1097280" cy="73152"/>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48840"/>
            <a:ext cx="10820095" cy="1005840"/>
          </a:xfrm>
          <a:prstGeom prst="rect">
            <a:avLst/>
          </a:prstGeom>
          <a:noFill/>
        </p:spPr>
        <p:txBody>
          <a:bodyPr wrap="square" lIns="0" rIns="0" tIns="0" bIns="0">
            <a:spAutoFit/>
          </a:bodyPr>
          <a:lstStyle/>
          <a:p>
            <a:r>
              <a:rPr sz="4000" b="1" i="0">
                <a:solidFill>
                  <a:srgbClr val="FFFFFF"/>
                </a:solidFill>
                <a:latin typeface="Segoe UI Semibold"/>
              </a:rPr>
              <a:t>The reference implementation</a:t>
            </a:r>
          </a:p>
        </p:txBody>
      </p:sp>
      <p:sp>
        <p:nvSpPr>
          <p:cNvPr id="5" name="TextBox 4"/>
          <p:cNvSpPr txBox="1"/>
          <p:nvPr/>
        </p:nvSpPr>
        <p:spPr>
          <a:xfrm>
            <a:off x="685800" y="3218688"/>
            <a:ext cx="8412480" cy="822960"/>
          </a:xfrm>
          <a:prstGeom prst="rect">
            <a:avLst/>
          </a:prstGeom>
          <a:noFill/>
        </p:spPr>
        <p:txBody>
          <a:bodyPr wrap="square" lIns="0" rIns="0" tIns="0" bIns="0">
            <a:spAutoFit/>
          </a:bodyPr>
          <a:lstStyle/>
          <a:p>
            <a:r>
              <a:rPr sz="1700" b="0" i="0">
                <a:solidFill>
                  <a:srgbClr val="FFFFFF"/>
                </a:solidFill>
                <a:latin typeface="Segoe UI"/>
              </a:rPr>
              <a:t>Most of these drafts exist because building them turned up the gap. The OPC UA .NET Standard stack is where they were found, and where nine of them already run.</a:t>
            </a:r>
          </a:p>
        </p:txBody>
      </p:sp>
      <p:sp>
        <p:nvSpPr>
          <p:cNvPr id="6" name="TextBox 5"/>
          <p:cNvSpPr txBox="1"/>
          <p:nvPr/>
        </p:nvSpPr>
        <p:spPr>
          <a:xfrm>
            <a:off x="685800" y="4160520"/>
            <a:ext cx="10820095" cy="329184"/>
          </a:xfrm>
          <a:prstGeom prst="rect">
            <a:avLst/>
          </a:prstGeom>
          <a:noFill/>
        </p:spPr>
        <p:txBody>
          <a:bodyPr wrap="square" lIns="0" rIns="0" tIns="0" bIns="0">
            <a:spAutoFit/>
          </a:bodyPr>
          <a:lstStyle/>
          <a:p>
            <a:r>
              <a:rPr sz="1300" b="1" i="0">
                <a:solidFill>
                  <a:srgbClr val="F29900"/>
                </a:solidFill>
                <a:latin typeface="Segoe UI"/>
              </a:rPr>
              <a:t>■  </a:t>
            </a:r>
            <a:r>
              <a:rPr sz="1300" b="0" i="0">
                <a:solidFill>
                  <a:srgbClr val="002B49"/>
                </a:solidFill>
                <a:latin typeface="Consolas"/>
              </a:rPr>
              <a:t>OPCFoundation/UA-.NETStandard</a:t>
            </a:r>
            <a:r>
              <a:rPr sz="1400" b="0" i="0">
                <a:solidFill>
                  <a:srgbClr val="FFFFFF"/>
                </a:solidFill>
                <a:latin typeface="Segoe UI"/>
              </a:rPr>
              <a:t> — the OPC Foundation's reference stack</a:t>
            </a:r>
          </a:p>
        </p:txBody>
      </p:sp>
      <p:sp>
        <p:nvSpPr>
          <p:cNvPr id="7" name="TextBox 6"/>
          <p:cNvSpPr txBox="1"/>
          <p:nvPr/>
        </p:nvSpPr>
        <p:spPr>
          <a:xfrm>
            <a:off x="685800" y="4489704"/>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Implemented here: OpenUSD Parts 1 and 2, Positioning, Robotics, WoT Connectivity, xRegistry</a:t>
            </a:r>
          </a:p>
        </p:txBody>
      </p:sp>
      <p:sp>
        <p:nvSpPr>
          <p:cNvPr id="8" name="TextBox 7"/>
          <p:cNvSpPr txBox="1"/>
          <p:nvPr/>
        </p:nvSpPr>
        <p:spPr>
          <a:xfrm>
            <a:off x="685800" y="4818888"/>
            <a:ext cx="10820095" cy="329184"/>
          </a:xfrm>
          <a:prstGeom prst="rect">
            <a:avLst/>
          </a:prstGeom>
          <a:noFill/>
        </p:spPr>
        <p:txBody>
          <a:bodyPr wrap="square" lIns="0" rIns="0" tIns="0" bIns="0">
            <a:spAutoFit/>
          </a:bodyPr>
          <a:lstStyle/>
          <a:p>
            <a:r>
              <a:rPr sz="1300" b="1" i="0">
                <a:solidFill>
                  <a:srgbClr val="F29900"/>
                </a:solidFill>
                <a:latin typeface="Segoe UI"/>
              </a:rPr>
              <a:t>■  </a:t>
            </a:r>
            <a:r>
              <a:rPr sz="1400" b="0" i="0">
                <a:solidFill>
                  <a:srgbClr val="FFFFFF"/>
                </a:solidFill>
                <a:latin typeface="Segoe UI"/>
              </a:rPr>
              <a:t>Two demos show the stack itself: the MCP server, and server redundancy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What the stack already carries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F4E79"/>
                </a:solidFill>
                <a:latin typeface="Segoe UI"/>
              </a:rPr>
              <a:t>Draft models are not slideware here — they are libraries, samples and tests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The reference implementation</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105</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Companion models as first-class libraries</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Opc.Ua.OpenUsd</a:t>
            </a:r>
            <a:r>
              <a:rPr sz="1400" b="0" i="0">
                <a:solidFill>
                  <a:srgbClr val="333B44"/>
                </a:solidFill>
                <a:latin typeface="Segoe UI"/>
              </a:rPr>
              <a:t> and </a:t>
            </a:r>
            <a:r>
              <a:rPr sz="1300" b="0" i="0">
                <a:solidFill>
                  <a:srgbClr val="002B49"/>
                </a:solidFill>
                <a:latin typeface="Consolas"/>
              </a:rPr>
              <a:t>Opc.Ua.OpenUsdScene</a:t>
            </a:r>
            <a:r>
              <a:rPr sz="1400" b="0" i="0">
                <a:solidFill>
                  <a:srgbClr val="333B44"/>
                </a:solidFill>
                <a:latin typeface="Segoe UI"/>
              </a:rPr>
              <a:t> — both OpenUSD parts, client and server halves</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Opc.Ua.WotCon</a:t>
            </a:r>
            <a:r>
              <a:rPr sz="1400" b="0" i="0">
                <a:solidFill>
                  <a:srgbClr val="333B44"/>
                </a:solidFill>
                <a:latin typeface="Segoe UI"/>
              </a:rPr>
              <a:t> — WoT Connectivity, with MQTT and HTTP bindings</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Opc.Ua.XRegistry</a:t>
            </a:r>
            <a:r>
              <a:rPr sz="1400" b="0" i="0">
                <a:solidFill>
                  <a:srgbClr val="333B44"/>
                </a:solidFill>
                <a:latin typeface="Segoe UI"/>
              </a:rPr>
              <a:t> — the base registry projection every domain registry subtypes</a:t>
            </a:r>
          </a:p>
          <a:p>
            <a:pPr marL="512064" indent="-219456">
              <a:lnSpc>
                <a:spcPct val="102000"/>
              </a:lnSpc>
              <a:spcBef>
                <a:spcPts val="0"/>
              </a:spcBef>
              <a:spcAft>
                <a:spcPts val="400"/>
              </a:spcAft>
            </a:pPr>
            <a:r>
              <a:rPr sz="1200" b="1" i="0">
                <a:solidFill>
                  <a:srgbClr val="4A90C2"/>
                </a:solidFill>
                <a:latin typeface="Segoe UI"/>
              </a:rPr>
              <a:t>–  </a:t>
            </a:r>
            <a:r>
              <a:rPr sz="1300" b="0" i="0">
                <a:solidFill>
                  <a:srgbClr val="002B49"/>
                </a:solidFill>
                <a:latin typeface="Consolas"/>
              </a:rPr>
              <a:t>Opc.Ua.Robotics</a:t>
            </a:r>
            <a:r>
              <a:rPr sz="1400" b="0" i="0">
                <a:solidFill>
                  <a:srgbClr val="333B44"/>
                </a:solidFill>
                <a:latin typeface="Segoe UI"/>
              </a:rPr>
              <a:t> and </a:t>
            </a:r>
            <a:r>
              <a:rPr sz="1300" b="0" i="0">
                <a:solidFill>
                  <a:srgbClr val="002B49"/>
                </a:solidFill>
                <a:latin typeface="Consolas"/>
              </a:rPr>
              <a:t>Opc.Ua.Positioning</a:t>
            </a:r>
            <a:r>
              <a:rPr sz="1400" b="0" i="0">
                <a:solidFill>
                  <a:srgbClr val="333B44"/>
                </a:solidFill>
                <a:latin typeface="Segoe UI"/>
              </a:rPr>
              <a:t> — robot intent, RSL frames and GPOS locations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Samples that are the demos</a:t>
            </a:r>
            <a:r>
              <a:rPr sz="1700" b="1" i="0">
                <a:solidFill>
                  <a:srgbClr val="002B49"/>
                </a:solidFill>
                <a:latin typeface="Segoe UI"/>
              </a:rPr>
              <a:t> — </a:t>
            </a:r>
            <a:r>
              <a:rPr sz="1600" b="1" i="0">
                <a:solidFill>
                  <a:srgbClr val="002B49"/>
                </a:solidFill>
                <a:latin typeface="Consolas"/>
              </a:rPr>
              <a:t>samples/Robotics</a:t>
            </a:r>
            <a:r>
              <a:rPr sz="1700" b="1" i="0">
                <a:solidFill>
                  <a:srgbClr val="002B49"/>
                </a:solidFill>
                <a:latin typeface="Segoe UI"/>
              </a:rPr>
              <a:t>, </a:t>
            </a:r>
            <a:r>
              <a:rPr sz="1600" b="1" i="0">
                <a:solidFill>
                  <a:srgbClr val="002B49"/>
                </a:solidFill>
                <a:latin typeface="Consolas"/>
              </a:rPr>
              <a:t>samples/WotCon</a:t>
            </a:r>
            <a:r>
              <a:rPr sz="1700" b="1" i="0">
                <a:solidFill>
                  <a:srgbClr val="002B49"/>
                </a:solidFill>
                <a:latin typeface="Segoe UI"/>
              </a:rPr>
              <a:t>, </a:t>
            </a:r>
            <a:r>
              <a:rPr sz="1600" b="1" i="0">
                <a:solidFill>
                  <a:srgbClr val="002B49"/>
                </a:solidFill>
                <a:latin typeface="Consolas"/>
              </a:rPr>
              <a:t>samples/SiteCompositionServer</a:t>
            </a:r>
            <a:r>
              <a:rPr sz="1700" b="1" i="0">
                <a:solidFill>
                  <a:srgbClr val="002B49"/>
                </a:solidFill>
                <a:latin typeface="Segoe UI"/>
              </a:rPr>
              <a:t>, </a:t>
            </a:r>
            <a:r>
              <a:rPr sz="1600" b="1" i="0">
                <a:solidFill>
                  <a:srgbClr val="002B49"/>
                </a:solidFill>
                <a:latin typeface="Consolas"/>
              </a:rPr>
              <a:t>samples/Redundant*</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Source generators</a:t>
            </a:r>
            <a:r>
              <a:rPr sz="1700" b="1" i="0">
                <a:solidFill>
                  <a:srgbClr val="002B49"/>
                </a:solidFill>
                <a:latin typeface="Segoe UI"/>
              </a:rPr>
              <a:t> turn a NodeSet into typed proxies, so a companion model is code rather than string literals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An MCP server</a:t>
            </a:r>
            <a:r>
              <a:rPr sz="1700" b="1" i="0">
                <a:solidFill>
                  <a:srgbClr val="002B49"/>
                </a:solidFill>
                <a:latin typeface="Segoe UI"/>
              </a:rPr>
              <a:t> exposing the full service set, so a language model can drive any address space</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A draft with a running implementation gets reviewed on what it does. A draft without one gets reviewed on what it says.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1 — OPC UA MCP server</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F4E79"/>
                </a:solidFill>
                <a:latin typeface="Segoe UI"/>
              </a:rPr>
              <a:t>Any OPC UA address space as model-callable tools</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MCP server</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106</a:t>
            </a:r>
          </a:p>
        </p:txBody>
      </p:sp>
      <p:sp>
        <p:nvSpPr>
          <p:cNvPr id="8" name="Rounded Rectangle 7"/>
          <p:cNvSpPr/>
          <p:nvPr/>
        </p:nvSpPr>
        <p:spPr>
          <a:xfrm>
            <a:off x="9631376" y="466344"/>
            <a:ext cx="1874519" cy="310896"/>
          </a:xfrm>
          <a:prstGeom prst="round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RUNS ON master</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Reference Server starts on </a:t>
            </a:r>
            <a:r>
              <a:rPr sz="1300" b="1" i="0">
                <a:solidFill>
                  <a:srgbClr val="002B49"/>
                </a:solidFill>
                <a:latin typeface="Consolas"/>
              </a:rPr>
              <a:t>opc.tcp://localhost:62541</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opcua-mcp</a:t>
            </a:r>
            <a:r>
              <a:rPr sz="1400" b="1" i="0">
                <a:solidFill>
                  <a:srgbClr val="002B49"/>
                </a:solidFill>
                <a:latin typeface="Segoe UI"/>
              </a:rPr>
              <a:t> exposes Streamable HTTP at </a:t>
            </a:r>
            <a:r>
              <a:rPr sz="1300" b="1" i="0">
                <a:solidFill>
                  <a:srgbClr val="002B49"/>
                </a:solidFill>
                <a:latin typeface="Consolas"/>
              </a:rPr>
              <a:t>/mcp</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The model connects, browses, reads and subscribes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Method calls stay normal OPC UA </a:t>
            </a:r>
            <a:r>
              <a:rPr sz="1300" b="1" i="0">
                <a:solidFill>
                  <a:srgbClr val="002B49"/>
                </a:solidFill>
                <a:latin typeface="Consolas"/>
              </a:rPr>
              <a:t>Call</a:t>
            </a:r>
            <a:r>
              <a:rPr sz="1400" b="1" i="0">
                <a:solidFill>
                  <a:srgbClr val="002B49"/>
                </a:solidFill>
                <a:latin typeface="Segoe UI"/>
              </a:rPr>
              <a:t> service calls</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samples\ConsoleReferenceServer</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tools\Opc.Ua.Mcp</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tools\Opc.Ua.Mcp.Core</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Optional diagnostics and PubSub tool libraries</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pwsh decks\demos\01-opcua-mcp\run-demo.ps1</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The stack can make a standard Server operable by an agent without a bespoke client.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Demo 6 — server redundancy</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1F4E79"/>
                </a:solidFill>
                <a:latin typeface="Segoe UI"/>
              </a:rPr>
              <a:t>Kill the active server during a subscription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OPC UA — server redundancy</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107</a:t>
            </a:r>
          </a:p>
        </p:txBody>
      </p:sp>
      <p:sp>
        <p:nvSpPr>
          <p:cNvPr id="8" name="Rounded Rectangle 7"/>
          <p:cNvSpPr/>
          <p:nvPr/>
        </p:nvSpPr>
        <p:spPr>
          <a:xfrm>
            <a:off x="9631376" y="466344"/>
            <a:ext cx="1874519" cy="310896"/>
          </a:xfrm>
          <a:prstGeom prst="round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FFFFFF"/>
                </a:solidFill>
                <a:latin typeface="Segoe UI Semibold"/>
              </a:rPr>
              <a:t>RUNS ON master</a:t>
            </a:r>
          </a:p>
        </p:txBody>
      </p:sp>
      <p:sp>
        <p:nvSpPr>
          <p:cNvPr id="9" name="Rectangle 8"/>
          <p:cNvSpPr/>
          <p:nvPr/>
        </p:nvSpPr>
        <p:spPr>
          <a:xfrm>
            <a:off x="685800" y="1591056"/>
            <a:ext cx="54864" cy="27432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591056"/>
            <a:ext cx="5080863" cy="310896"/>
          </a:xfrm>
          <a:prstGeom prst="rect">
            <a:avLst/>
          </a:prstGeom>
          <a:noFill/>
        </p:spPr>
        <p:txBody>
          <a:bodyPr wrap="square" lIns="0" rIns="0" tIns="0" bIns="0">
            <a:spAutoFit/>
          </a:bodyPr>
          <a:lstStyle/>
          <a:p>
            <a:r>
              <a:rPr sz="1500" b="1" i="0">
                <a:solidFill>
                  <a:srgbClr val="002B49"/>
                </a:solidFill>
                <a:latin typeface="Segoe UI Semibold"/>
              </a:rPr>
              <a:t>What you will see</a:t>
            </a:r>
          </a:p>
        </p:txBody>
      </p:sp>
      <p:sp>
        <p:nvSpPr>
          <p:cNvPr id="11" name="TextBox 10"/>
          <p:cNvSpPr txBox="1"/>
          <p:nvPr/>
        </p:nvSpPr>
        <p:spPr>
          <a:xfrm>
            <a:off x="685800"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Three server replicas publish redundancy metadata</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 managed client subscribes through one endpoint</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The active replica is stopped by process id</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Client logs reconnect, failover and data impact</a:t>
            </a:r>
          </a:p>
        </p:txBody>
      </p:sp>
      <p:sp>
        <p:nvSpPr>
          <p:cNvPr id="12" name="Rectangle 11"/>
          <p:cNvSpPr/>
          <p:nvPr/>
        </p:nvSpPr>
        <p:spPr>
          <a:xfrm>
            <a:off x="6278727" y="1591056"/>
            <a:ext cx="54864" cy="27432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1591056"/>
            <a:ext cx="5080863" cy="310896"/>
          </a:xfrm>
          <a:prstGeom prst="rect">
            <a:avLst/>
          </a:prstGeom>
          <a:noFill/>
        </p:spPr>
        <p:txBody>
          <a:bodyPr wrap="square" lIns="0" rIns="0" tIns="0" bIns="0">
            <a:spAutoFit/>
          </a:bodyPr>
          <a:lstStyle/>
          <a:p>
            <a:r>
              <a:rPr sz="1500" b="1" i="0">
                <a:solidFill>
                  <a:srgbClr val="002B49"/>
                </a:solidFill>
                <a:latin typeface="Segoe UI Semibold"/>
              </a:rPr>
              <a:t>The moving parts</a:t>
            </a:r>
          </a:p>
        </p:txBody>
      </p:sp>
      <p:sp>
        <p:nvSpPr>
          <p:cNvPr id="14" name="TextBox 13"/>
          <p:cNvSpPr txBox="1"/>
          <p:nvPr/>
        </p:nvSpPr>
        <p:spPr>
          <a:xfrm>
            <a:off x="6278727" y="2011680"/>
            <a:ext cx="5227167" cy="1911096"/>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samples\RedundantServer</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samples\RedundantClient</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src\Opc.Ua.Redundancy.Server</a:t>
            </a:r>
          </a:p>
          <a:p>
            <a:pPr marL="219456" indent="-219456">
              <a:lnSpc>
                <a:spcPct val="102000"/>
              </a:lnSpc>
              <a:spcBef>
                <a:spcPts val="600"/>
              </a:spcBef>
              <a:spcAft>
                <a:spcPts val="800"/>
              </a:spcAft>
            </a:pPr>
            <a:r>
              <a:rPr sz="1200" b="1" i="0">
                <a:solidFill>
                  <a:srgbClr val="F29900"/>
                </a:solidFill>
                <a:latin typeface="Segoe UI"/>
              </a:rPr>
              <a:t>■  </a:t>
            </a:r>
            <a:r>
              <a:rPr sz="1300" b="1" i="0">
                <a:solidFill>
                  <a:srgbClr val="002B49"/>
                </a:solidFill>
                <a:latin typeface="Consolas"/>
              </a:rPr>
              <a:t>src\Opc.Ua.Redundancy.Client</a:t>
            </a:r>
          </a:p>
        </p:txBody>
      </p:sp>
      <p:sp>
        <p:nvSpPr>
          <p:cNvPr id="15" name="Rounded Rectangle 14"/>
          <p:cNvSpPr/>
          <p:nvPr/>
        </p:nvSpPr>
        <p:spPr>
          <a:xfrm>
            <a:off x="685800" y="4032504"/>
            <a:ext cx="10820095" cy="384048"/>
          </a:xfrm>
          <a:prstGeom prst="round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bIns="73152"/>
          <a:lstStyle/>
          <a:p>
            <a:pPr algn="ctr">
              <a:spcAft>
                <a:spcPts val="0"/>
              </a:spcAft>
            </a:pPr>
            <a:r>
              <a:rPr sz="1150" b="0" i="0">
                <a:solidFill>
                  <a:srgbClr val="FFFFFF"/>
                </a:solidFill>
                <a:latin typeface="Consolas"/>
              </a:rPr>
              <a:t>pwsh decks\demos\06-server-redundancy\run-demo.ps1</a:t>
            </a:r>
          </a:p>
        </p:txBody>
      </p:sp>
      <p:sp>
        <p:nvSpPr>
          <p:cNvPr id="16" name="Rounded Rectangle 15"/>
          <p:cNvSpPr/>
          <p:nvPr/>
        </p:nvSpPr>
        <p:spPr>
          <a:xfrm>
            <a:off x="685800" y="4526280"/>
            <a:ext cx="10820095" cy="161848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250" b="1" i="0">
                <a:solidFill>
                  <a:srgbClr val="005A9C"/>
                </a:solidFill>
                <a:latin typeface="Segoe UI Semibold"/>
              </a:rPr>
              <a:t>What it proves:  </a:t>
            </a:r>
            <a:r>
              <a:rPr sz="1250" b="0" i="0">
                <a:solidFill>
                  <a:srgbClr val="002B49"/>
                </a:solidFill>
                <a:latin typeface="Segoe UI"/>
              </a:rPr>
              <a:t>Drafts that assume a highly available Server need redundancy metadata, state sharing and client failover.</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2148840"/>
            <a:ext cx="9966960" cy="2194560"/>
          </a:xfrm>
          <a:prstGeom prst="rect">
            <a:avLst/>
          </a:prstGeom>
          <a:noFill/>
        </p:spPr>
        <p:txBody>
          <a:bodyPr wrap="square" lIns="0" rIns="0" tIns="0" bIns="0">
            <a:spAutoFit/>
          </a:bodyPr>
          <a:lstStyle/>
          <a:p>
            <a:r>
              <a:rPr sz="3000" b="1" i="0">
                <a:solidFill>
                  <a:srgbClr val="002B49"/>
                </a:solidFill>
                <a:latin typeface="Segoe UI Semibold"/>
              </a:rPr>
              <a:t>Eighteen drafts, nine with running code, six under OPC Foundation review — and every one of them is a patch a person reads before it lands.</a:t>
            </a:r>
          </a:p>
          <a:p>
            <a:pPr>
              <a:spcBef>
                <a:spcPts val="1800"/>
              </a:spcBef>
            </a:pPr>
            <a:r>
              <a:rPr sz="1400" b="0" i="1">
                <a:solidFill>
                  <a:srgbClr val="6B7480"/>
                </a:solidFill>
                <a:latin typeface="Segoe UI"/>
              </a:rPr>
              <a:t>Nothing here is normative. That is the point of a scratch pad.</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Where each draft stands</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2B49"/>
                </a:solidFill>
                <a:latin typeface="Segoe UI"/>
              </a:rPr>
              <a:t>What is public, what is under review, and what is aimed somewhere other than the OPC Foundation</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Where this goes next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109</a:t>
            </a:r>
          </a:p>
        </p:txBody>
      </p:sp>
      <p:graphicFrame>
        <p:nvGraphicFramePr>
          <p:cNvPr id="8" name="Table 7"/>
          <p:cNvGraphicFramePr>
            <a:graphicFrameLocks noGrp="1"/>
          </p:cNvGraphicFramePr>
          <p:nvPr/>
        </p:nvGraphicFramePr>
        <p:xfrm>
          <a:off x="685800" y="1591056"/>
          <a:ext cx="10820093" cy="4535414"/>
        </p:xfrm>
        <a:graphic>
          <a:graphicData uri="http://schemas.openxmlformats.org/drawingml/2006/table">
            <a:tbl>
              <a:tblPr firstRow="1" bandRow="1">
                <a:tableStyleId>{5C22544A-7EE6-4342-B048-85BDC9FD1C3A}</a:tableStyleId>
              </a:tblPr>
              <a:tblGrid>
                <a:gridCol w="3895234"/>
                <a:gridCol w="1514813"/>
                <a:gridCol w="3029626"/>
                <a:gridCol w="2380420"/>
              </a:tblGrid>
              <a:tr h="238706">
                <a:tc>
                  <a:txBody>
                    <a:bodyPr/>
                    <a:lstStyle/>
                    <a:p>
                      <a:r>
                        <a:rPr sz="1100" b="1" i="0">
                          <a:solidFill>
                            <a:srgbClr val="FFFFFF"/>
                          </a:solidFill>
                          <a:latin typeface="Segoe UI Semibold"/>
                        </a:rPr>
                        <a:t>Draft</a:t>
                      </a:r>
                    </a:p>
                  </a:txBody>
                  <a:tcPr marL="73152" marR="73152" anchor="ctr">
                    <a:solidFill>
                      <a:srgbClr val="002B49"/>
                    </a:solidFill>
                  </a:tcPr>
                </a:tc>
                <a:tc>
                  <a:txBody>
                    <a:bodyPr/>
                    <a:lstStyle/>
                    <a:p>
                      <a:r>
                        <a:rPr sz="1100" b="1" i="0">
                          <a:solidFill>
                            <a:srgbClr val="FFFFFF"/>
                          </a:solidFill>
                          <a:latin typeface="Segoe UI Semibold"/>
                        </a:rPr>
                        <a:t>Version</a:t>
                      </a:r>
                    </a:p>
                  </a:txBody>
                  <a:tcPr marL="73152" marR="73152" anchor="ctr">
                    <a:solidFill>
                      <a:srgbClr val="002B49"/>
                    </a:solidFill>
                  </a:tcPr>
                </a:tc>
                <a:tc>
                  <a:txBody>
                    <a:bodyPr/>
                    <a:lstStyle/>
                    <a:p>
                      <a:r>
                        <a:rPr sz="1100" b="1" i="0">
                          <a:solidFill>
                            <a:srgbClr val="FFFFFF"/>
                          </a:solidFill>
                          <a:latin typeface="Segoe UI Semibold"/>
                        </a:rPr>
                        <a:t>Target</a:t>
                      </a:r>
                    </a:p>
                  </a:txBody>
                  <a:tcPr marL="73152" marR="73152" anchor="ctr">
                    <a:solidFill>
                      <a:srgbClr val="002B49"/>
                    </a:solidFill>
                  </a:tcPr>
                </a:tc>
                <a:tc>
                  <a:txBody>
                    <a:bodyPr/>
                    <a:lstStyle/>
                    <a:p>
                      <a:r>
                        <a:rPr sz="1100" b="1" i="0">
                          <a:solidFill>
                            <a:srgbClr val="FFFFFF"/>
                          </a:solidFill>
                          <a:latin typeface="Segoe UI Semibold"/>
                        </a:rPr>
                        <a:t>Implementation</a:t>
                      </a:r>
                    </a:p>
                  </a:txBody>
                  <a:tcPr marL="73152" marR="73152" anchor="ctr">
                    <a:solidFill>
                      <a:srgbClr val="002B49"/>
                    </a:solidFill>
                  </a:tcPr>
                </a:tc>
              </a:tr>
              <a:tr h="238706">
                <a:tc>
                  <a:txBody>
                    <a:bodyPr/>
                    <a:lstStyle/>
                    <a:p>
                      <a:r>
                        <a:rPr sz="1100" b="0" i="0">
                          <a:solidFill>
                            <a:srgbClr val="333B44"/>
                          </a:solidFill>
                          <a:latin typeface="Segoe UI"/>
                        </a:rPr>
                        <a:t>Data Channels</a:t>
                      </a:r>
                    </a:p>
                  </a:txBody>
                  <a:tcPr marL="73152" marR="73152" marT="27432" marB="27432" anchor="ctr">
                    <a:solidFill>
                      <a:srgbClr val="FFFFFF"/>
                    </a:solidFill>
                  </a:tcPr>
                </a:tc>
                <a:tc>
                  <a:txBody>
                    <a:bodyPr/>
                    <a:lstStyle/>
                    <a:p>
                      <a:r>
                        <a:rPr sz="1100" b="0" i="0">
                          <a:solidFill>
                            <a:srgbClr val="333B44"/>
                          </a:solidFill>
                          <a:latin typeface="Segoe UI"/>
                        </a:rPr>
                        <a:t>0.1.1</a:t>
                      </a:r>
                    </a:p>
                  </a:txBody>
                  <a:tcPr marL="73152" marR="73152" marT="27432" marB="27432" anchor="ctr">
                    <a:solidFill>
                      <a:srgbClr val="FFFFFF"/>
                    </a:solidFill>
                  </a:tcPr>
                </a:tc>
                <a:tc>
                  <a:txBody>
                    <a:bodyPr/>
                    <a:lstStyle/>
                    <a:p>
                      <a:r>
                        <a:rPr sz="1100" b="0" i="0">
                          <a:solidFill>
                            <a:srgbClr val="333B44"/>
                          </a:solidFill>
                          <a:latin typeface="Segoe UI"/>
                        </a:rPr>
                        <a:t>OPCF — Parts 3, 4, 6 errata</a:t>
                      </a:r>
                    </a:p>
                  </a:txBody>
                  <a:tcPr marL="73152" marR="73152" marT="27432" marB="27432" anchor="ctr">
                    <a:solidFill>
                      <a:srgbClr val="FFFFFF"/>
                    </a:solidFill>
                  </a:tcPr>
                </a:tc>
                <a:tc>
                  <a:txBody>
                    <a:bodyPr/>
                    <a:lstStyle/>
                    <a:p>
                      <a:r>
                        <a:rPr sz="1100" b="0" i="0">
                          <a:solidFill>
                            <a:srgbClr val="333B44"/>
                          </a:solidFill>
                          <a:latin typeface="Segoe UI"/>
                        </a:rPr>
                        <a:t>Feature branch</a:t>
                      </a:r>
                    </a:p>
                  </a:txBody>
                  <a:tcPr marL="73152" marR="73152" marT="27432" marB="27432" anchor="ctr">
                    <a:solidFill>
                      <a:srgbClr val="FFFFFF"/>
                    </a:solidFill>
                  </a:tcPr>
                </a:tc>
              </a:tr>
              <a:tr h="238706">
                <a:tc>
                  <a:txBody>
                    <a:bodyPr/>
                    <a:lstStyle/>
                    <a:p>
                      <a:r>
                        <a:rPr sz="1100" b="0" i="0">
                          <a:solidFill>
                            <a:srgbClr val="333B44"/>
                          </a:solidFill>
                          <a:latin typeface="Segoe UI"/>
                        </a:rPr>
                        <a:t>Apache Arrow Encoding</a:t>
                      </a:r>
                    </a:p>
                  </a:txBody>
                  <a:tcPr marL="73152" marR="73152" marT="27432" marB="27432" anchor="ctr">
                    <a:solidFill>
                      <a:srgbClr val="F4F6F8"/>
                    </a:solidFill>
                  </a:tcPr>
                </a:tc>
                <a:tc>
                  <a:txBody>
                    <a:bodyPr/>
                    <a:lstStyle/>
                    <a:p>
                      <a:r>
                        <a:rPr sz="1100" b="0" i="0">
                          <a:solidFill>
                            <a:srgbClr val="333B44"/>
                          </a:solidFill>
                          <a:latin typeface="Segoe UI"/>
                        </a:rPr>
                        <a:t>0.1.0</a:t>
                      </a:r>
                    </a:p>
                  </a:txBody>
                  <a:tcPr marL="73152" marR="73152" marT="27432" marB="27432" anchor="ctr">
                    <a:solidFill>
                      <a:srgbClr val="F4F6F8"/>
                    </a:solidFill>
                  </a:tcPr>
                </a:tc>
                <a:tc>
                  <a:txBody>
                    <a:bodyPr/>
                    <a:lstStyle/>
                    <a:p>
                      <a:r>
                        <a:rPr sz="1100" b="0" i="0">
                          <a:solidFill>
                            <a:srgbClr val="333B44"/>
                          </a:solidFill>
                          <a:latin typeface="Segoe UI"/>
                        </a:rPr>
                        <a:t>OPCF — Part 6 / Part 14</a:t>
                      </a:r>
                    </a:p>
                  </a:txBody>
                  <a:tcPr marL="73152" marR="73152" marT="27432" marB="27432" anchor="ctr">
                    <a:solidFill>
                      <a:srgbClr val="F4F6F8"/>
                    </a:solidFill>
                  </a:tcPr>
                </a:tc>
                <a:tc>
                  <a:txBody>
                    <a:bodyPr/>
                    <a:lstStyle/>
                    <a:p>
                      <a:r>
                        <a:rPr sz="1100" b="0" i="0">
                          <a:solidFill>
                            <a:srgbClr val="333B44"/>
                          </a:solidFill>
                          <a:latin typeface="Segoe UI"/>
                        </a:rPr>
                        <a:t>None</a:t>
                      </a:r>
                    </a:p>
                  </a:txBody>
                  <a:tcPr marL="73152" marR="73152" marT="27432" marB="27432" anchor="ctr">
                    <a:solidFill>
                      <a:srgbClr val="F4F6F8"/>
                    </a:solidFill>
                  </a:tcPr>
                </a:tc>
              </a:tr>
              <a:tr h="238706">
                <a:tc>
                  <a:txBody>
                    <a:bodyPr/>
                    <a:lstStyle/>
                    <a:p>
                      <a:r>
                        <a:rPr sz="1100" b="0" i="0">
                          <a:solidFill>
                            <a:srgbClr val="333B44"/>
                          </a:solidFill>
                          <a:latin typeface="Segoe UI"/>
                        </a:rPr>
                        <a:t>Async Service Execution</a:t>
                      </a:r>
                    </a:p>
                  </a:txBody>
                  <a:tcPr marL="73152" marR="73152" marT="27432" marB="27432" anchor="ctr">
                    <a:solidFill>
                      <a:srgbClr val="FFFFFF"/>
                    </a:solidFill>
                  </a:tcPr>
                </a:tc>
                <a:tc>
                  <a:txBody>
                    <a:bodyPr/>
                    <a:lstStyle/>
                    <a:p>
                      <a:r>
                        <a:rPr sz="1100" b="0" i="0">
                          <a:solidFill>
                            <a:srgbClr val="333B44"/>
                          </a:solidFill>
                          <a:latin typeface="Segoe UI"/>
                        </a:rPr>
                        <a:t>0.1.0</a:t>
                      </a:r>
                    </a:p>
                  </a:txBody>
                  <a:tcPr marL="73152" marR="73152" marT="27432" marB="27432" anchor="ctr">
                    <a:solidFill>
                      <a:srgbClr val="FFFFFF"/>
                    </a:solidFill>
                  </a:tcPr>
                </a:tc>
                <a:tc>
                  <a:txBody>
                    <a:bodyPr/>
                    <a:lstStyle/>
                    <a:p>
                      <a:r>
                        <a:rPr sz="1100" b="0" i="0">
                          <a:solidFill>
                            <a:srgbClr val="333B44"/>
                          </a:solidFill>
                          <a:latin typeface="Segoe UI"/>
                        </a:rPr>
                        <a:t>OPCF — Parts 4, 5 errata</a:t>
                      </a:r>
                    </a:p>
                  </a:txBody>
                  <a:tcPr marL="73152" marR="73152" marT="27432" marB="27432" anchor="ctr">
                    <a:solidFill>
                      <a:srgbClr val="FFFFFF"/>
                    </a:solidFill>
                  </a:tcPr>
                </a:tc>
                <a:tc>
                  <a:txBody>
                    <a:bodyPr/>
                    <a:lstStyle/>
                    <a:p>
                      <a:r>
                        <a:rPr sz="1100" b="0" i="0">
                          <a:solidFill>
                            <a:srgbClr val="333B44"/>
                          </a:solidFill>
                          <a:latin typeface="Segoe UI"/>
                        </a:rPr>
                        <a:t>None</a:t>
                      </a:r>
                    </a:p>
                  </a:txBody>
                  <a:tcPr marL="73152" marR="73152" marT="27432" marB="27432" anchor="ctr">
                    <a:solidFill>
                      <a:srgbClr val="FFFFFF"/>
                    </a:solidFill>
                  </a:tcPr>
                </a:tc>
              </a:tr>
              <a:tr h="238706">
                <a:tc>
                  <a:txBody>
                    <a:bodyPr/>
                    <a:lstStyle/>
                    <a:p>
                      <a:r>
                        <a:rPr sz="1100" b="0" i="0">
                          <a:solidFill>
                            <a:srgbClr val="333B44"/>
                          </a:solidFill>
                          <a:latin typeface="Segoe UI"/>
                        </a:rPr>
                        <a:t>Apache Avro DataEncoding</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c>
                  <a:txBody>
                    <a:bodyPr/>
                    <a:lstStyle/>
                    <a:p>
                      <a:r>
                        <a:rPr sz="1100" b="0" i="0">
                          <a:solidFill>
                            <a:srgbClr val="333B44"/>
                          </a:solidFill>
                          <a:latin typeface="Segoe UI"/>
                        </a:rPr>
                        <a:t>OPCF — under review</a:t>
                      </a:r>
                    </a:p>
                  </a:txBody>
                  <a:tcPr marL="73152" marR="73152" marT="27432" marB="27432" anchor="ctr">
                    <a:solidFill>
                      <a:srgbClr val="F4F6F8"/>
                    </a:solidFill>
                  </a:tcPr>
                </a:tc>
                <a:tc>
                  <a:txBody>
                    <a:bodyPr/>
                    <a:lstStyle/>
                    <a:p>
                      <a:r>
                        <a:rPr sz="1100" b="0" i="0">
                          <a:solidFill>
                            <a:srgbClr val="333B44"/>
                          </a:solidFill>
                          <a:latin typeface="Segoe UI"/>
                        </a:rPr>
                        <a:t>None</a:t>
                      </a:r>
                    </a:p>
                  </a:txBody>
                  <a:tcPr marL="73152" marR="73152" marT="27432" marB="27432" anchor="ctr">
                    <a:solidFill>
                      <a:srgbClr val="F4F6F8"/>
                    </a:solidFill>
                  </a:tcPr>
                </a:tc>
              </a:tr>
              <a:tr h="238706">
                <a:tc>
                  <a:txBody>
                    <a:bodyPr/>
                    <a:lstStyle/>
                    <a:p>
                      <a:r>
                        <a:rPr sz="1100" b="0" i="0">
                          <a:solidFill>
                            <a:srgbClr val="333B44"/>
                          </a:solidFill>
                          <a:latin typeface="Segoe UI"/>
                        </a:rPr>
                        <a:t>xRegistry (base model)</a:t>
                      </a:r>
                    </a:p>
                  </a:txBody>
                  <a:tcPr marL="73152" marR="73152" marT="27432" marB="27432" anchor="ctr">
                    <a:solidFill>
                      <a:srgbClr val="FFFFFF"/>
                    </a:solidFill>
                  </a:tcPr>
                </a:tc>
                <a:tc>
                  <a:txBody>
                    <a:bodyPr/>
                    <a:lstStyle/>
                    <a:p>
                      <a:r>
                        <a:rPr sz="1100" b="0" i="0">
                          <a:solidFill>
                            <a:srgbClr val="333B44"/>
                          </a:solidFill>
                          <a:latin typeface="Segoe UI"/>
                        </a:rPr>
                        <a:t>0.3.0</a:t>
                      </a:r>
                    </a:p>
                  </a:txBody>
                  <a:tcPr marL="73152" marR="73152" marT="27432" marB="27432" anchor="ctr">
                    <a:solidFill>
                      <a:srgbClr val="FFFFFF"/>
                    </a:solidFill>
                  </a:tcPr>
                </a:tc>
                <a:tc>
                  <a:txBody>
                    <a:bodyPr/>
                    <a:lstStyle/>
                    <a:p>
                      <a:r>
                        <a:rPr sz="1100" b="0" i="0">
                          <a:solidFill>
                            <a:srgbClr val="333B44"/>
                          </a:solidFill>
                          <a:latin typeface="Segoe UI"/>
                        </a:rPr>
                        <a:t>OPCF — under review</a:t>
                      </a:r>
                    </a:p>
                  </a:txBody>
                  <a:tcPr marL="73152" marR="73152" marT="27432" marB="27432" anchor="ctr">
                    <a:solidFill>
                      <a:srgbClr val="FFFFFF"/>
                    </a:solidFill>
                  </a:tcPr>
                </a:tc>
                <a:tc>
                  <a:txBody>
                    <a:bodyPr/>
                    <a:lstStyle/>
                    <a:p>
                      <a:r>
                        <a:rPr sz="1000" b="0" i="0">
                          <a:solidFill>
                            <a:srgbClr val="002B49"/>
                          </a:solidFill>
                          <a:latin typeface="Consolas"/>
                        </a:rPr>
                        <a:t>Opc.Ua.XRegistry</a:t>
                      </a:r>
                    </a:p>
                  </a:txBody>
                  <a:tcPr marL="73152" marR="73152" marT="27432" marB="27432" anchor="ctr">
                    <a:solidFill>
                      <a:srgbClr val="FFFFFF"/>
                    </a:solidFill>
                  </a:tcPr>
                </a:tc>
              </a:tr>
              <a:tr h="238706">
                <a:tc>
                  <a:txBody>
                    <a:bodyPr/>
                    <a:lstStyle/>
                    <a:p>
                      <a:r>
                        <a:rPr sz="1100" b="0" i="0">
                          <a:solidFill>
                            <a:srgbClr val="333B44"/>
                          </a:solidFill>
                          <a:latin typeface="Segoe UI"/>
                        </a:rPr>
                        <a:t>xRegistry — OPC UA API</a:t>
                      </a:r>
                    </a:p>
                  </a:txBody>
                  <a:tcPr marL="73152" marR="73152" marT="27432" marB="27432" anchor="ctr">
                    <a:solidFill>
                      <a:srgbClr val="F4F6F8"/>
                    </a:solidFill>
                  </a:tcPr>
                </a:tc>
                <a:tc>
                  <a:txBody>
                    <a:bodyPr/>
                    <a:lstStyle/>
                    <a:p>
                      <a:r>
                        <a:rPr sz="1100" b="0" i="0">
                          <a:solidFill>
                            <a:srgbClr val="333B44"/>
                          </a:solidFill>
                          <a:latin typeface="Segoe UI"/>
                        </a:rPr>
                        <a:t>0.1.0</a:t>
                      </a:r>
                    </a:p>
                  </a:txBody>
                  <a:tcPr marL="73152" marR="73152" marT="27432" marB="27432" anchor="ctr">
                    <a:solidFill>
                      <a:srgbClr val="F4F6F8"/>
                    </a:solidFill>
                  </a:tcPr>
                </a:tc>
                <a:tc>
                  <a:txBody>
                    <a:bodyPr/>
                    <a:lstStyle/>
                    <a:p>
                      <a:r>
                        <a:rPr sz="1100" b="0" i="0">
                          <a:solidFill>
                            <a:srgbClr val="333B44"/>
                          </a:solidFill>
                          <a:latin typeface="Segoe UI"/>
                        </a:rPr>
                        <a:t>xregistry.org</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r>
              <a:tr h="238706">
                <a:tc>
                  <a:txBody>
                    <a:bodyPr/>
                    <a:lstStyle/>
                    <a:p>
                      <a:r>
                        <a:rPr sz="1100" b="0" i="0">
                          <a:solidFill>
                            <a:srgbClr val="333B44"/>
                          </a:solidFill>
                          <a:latin typeface="Segoe UI"/>
                        </a:rPr>
                        <a:t>Schema Registry</a:t>
                      </a:r>
                    </a:p>
                  </a:txBody>
                  <a:tcPr marL="73152" marR="73152" marT="27432" marB="27432" anchor="ctr">
                    <a:solidFill>
                      <a:srgbClr val="FFFFFF"/>
                    </a:solidFill>
                  </a:tcPr>
                </a:tc>
                <a:tc>
                  <a:txBody>
                    <a:bodyPr/>
                    <a:lstStyle/>
                    <a:p>
                      <a:r>
                        <a:rPr sz="1100" b="0" i="0">
                          <a:solidFill>
                            <a:srgbClr val="333B44"/>
                          </a:solidFill>
                          <a:latin typeface="Segoe UI"/>
                        </a:rPr>
                        <a:t>0.5.0</a:t>
                      </a:r>
                    </a:p>
                  </a:txBody>
                  <a:tcPr marL="73152" marR="73152" marT="27432" marB="27432" anchor="ctr">
                    <a:solidFill>
                      <a:srgbClr val="FFFFFF"/>
                    </a:solidFill>
                  </a:tcPr>
                </a:tc>
                <a:tc>
                  <a:txBody>
                    <a:bodyPr/>
                    <a:lstStyle/>
                    <a:p>
                      <a:r>
                        <a:rPr sz="1100" b="0" i="0">
                          <a:solidFill>
                            <a:srgbClr val="333B44"/>
                          </a:solidFill>
                          <a:latin typeface="Segoe UI"/>
                        </a:rPr>
                        <a:t>OPCF — cloud surface</a:t>
                      </a:r>
                    </a:p>
                  </a:txBody>
                  <a:tcPr marL="73152" marR="73152" marT="27432" marB="27432" anchor="ctr">
                    <a:solidFill>
                      <a:srgbClr val="FFFFFF"/>
                    </a:solidFill>
                  </a:tcPr>
                </a:tc>
                <a:tc>
                  <a:txBody>
                    <a:bodyPr/>
                    <a:lstStyle/>
                    <a:p>
                      <a:r>
                        <a:rPr sz="1100" b="0" i="0">
                          <a:solidFill>
                            <a:srgbClr val="333B44"/>
                          </a:solidFill>
                          <a:latin typeface="Segoe UI"/>
                        </a:rPr>
                        <a:t>None</a:t>
                      </a:r>
                    </a:p>
                  </a:txBody>
                  <a:tcPr marL="73152" marR="73152" marT="27432" marB="27432" anchor="ctr">
                    <a:solidFill>
                      <a:srgbClr val="FFFFFF"/>
                    </a:solidFill>
                  </a:tcPr>
                </a:tc>
              </a:tr>
              <a:tr h="238706">
                <a:tc>
                  <a:txBody>
                    <a:bodyPr/>
                    <a:lstStyle/>
                    <a:p>
                      <a:r>
                        <a:rPr sz="1100" b="0" i="0">
                          <a:solidFill>
                            <a:srgbClr val="333B44"/>
                          </a:solidFill>
                          <a:latin typeface="Segoe UI"/>
                        </a:rPr>
                        <a:t>Observability Export</a:t>
                      </a:r>
                    </a:p>
                  </a:txBody>
                  <a:tcPr marL="73152" marR="73152" marT="27432" marB="27432" anchor="ctr">
                    <a:solidFill>
                      <a:srgbClr val="F4F6F8"/>
                    </a:solidFill>
                  </a:tcPr>
                </a:tc>
                <a:tc>
                  <a:txBody>
                    <a:bodyPr/>
                    <a:lstStyle/>
                    <a:p>
                      <a:r>
                        <a:rPr sz="1100" b="0" i="0">
                          <a:solidFill>
                            <a:srgbClr val="333B44"/>
                          </a:solidFill>
                          <a:latin typeface="Segoe UI"/>
                        </a:rPr>
                        <a:t>0.1.0</a:t>
                      </a:r>
                    </a:p>
                  </a:txBody>
                  <a:tcPr marL="73152" marR="73152" marT="27432" marB="27432" anchor="ctr">
                    <a:solidFill>
                      <a:srgbClr val="F4F6F8"/>
                    </a:solidFill>
                  </a:tcPr>
                </a:tc>
                <a:tc>
                  <a:txBody>
                    <a:bodyPr/>
                    <a:lstStyle/>
                    <a:p>
                      <a:r>
                        <a:rPr sz="1100" b="0" i="0">
                          <a:solidFill>
                            <a:srgbClr val="333B44"/>
                          </a:solidFill>
                          <a:latin typeface="Segoe UI"/>
                        </a:rPr>
                        <a:t>OPCF — cloud surface</a:t>
                      </a:r>
                    </a:p>
                  </a:txBody>
                  <a:tcPr marL="73152" marR="73152" marT="27432" marB="27432" anchor="ctr">
                    <a:solidFill>
                      <a:srgbClr val="F4F6F8"/>
                    </a:solidFill>
                  </a:tcPr>
                </a:tc>
                <a:tc>
                  <a:txBody>
                    <a:bodyPr/>
                    <a:lstStyle/>
                    <a:p>
                      <a:r>
                        <a:rPr sz="1100" b="0" i="0">
                          <a:solidFill>
                            <a:srgbClr val="333B44"/>
                          </a:solidFill>
                          <a:latin typeface="Segoe UI"/>
                        </a:rPr>
                        <a:t>None</a:t>
                      </a:r>
                    </a:p>
                  </a:txBody>
                  <a:tcPr marL="73152" marR="73152" marT="27432" marB="27432" anchor="ctr">
                    <a:solidFill>
                      <a:srgbClr val="F4F6F8"/>
                    </a:solidFill>
                  </a:tcPr>
                </a:tc>
              </a:tr>
              <a:tr h="238706">
                <a:tc>
                  <a:txBody>
                    <a:bodyPr/>
                    <a:lstStyle/>
                    <a:p>
                      <a:r>
                        <a:rPr sz="1100" b="0" i="0">
                          <a:solidFill>
                            <a:srgbClr val="333B44"/>
                          </a:solidFill>
                          <a:latin typeface="Segoe UI"/>
                        </a:rPr>
                        <a:t>OpenUSD Part 1 — Binding</a:t>
                      </a:r>
                    </a:p>
                  </a:txBody>
                  <a:tcPr marL="73152" marR="73152" marT="27432" marB="27432" anchor="ctr">
                    <a:solidFill>
                      <a:srgbClr val="FFFFFF"/>
                    </a:solidFill>
                  </a:tcPr>
                </a:tc>
                <a:tc>
                  <a:txBody>
                    <a:bodyPr/>
                    <a:lstStyle/>
                    <a:p>
                      <a:r>
                        <a:rPr sz="1100" b="0" i="0">
                          <a:solidFill>
                            <a:srgbClr val="333B44"/>
                          </a:solidFill>
                          <a:latin typeface="Segoe UI"/>
                        </a:rPr>
                        <a:t>—</a:t>
                      </a:r>
                    </a:p>
                  </a:txBody>
                  <a:tcPr marL="73152" marR="73152" marT="27432" marB="27432" anchor="ctr">
                    <a:solidFill>
                      <a:srgbClr val="FFFFFF"/>
                    </a:solidFill>
                  </a:tcPr>
                </a:tc>
                <a:tc>
                  <a:txBody>
                    <a:bodyPr/>
                    <a:lstStyle/>
                    <a:p>
                      <a:r>
                        <a:rPr sz="1100" b="0" i="0">
                          <a:solidFill>
                            <a:srgbClr val="333B44"/>
                          </a:solidFill>
                          <a:latin typeface="Segoe UI"/>
                        </a:rPr>
                        <a:t>OPCF — under review</a:t>
                      </a:r>
                    </a:p>
                  </a:txBody>
                  <a:tcPr marL="73152" marR="73152" marT="27432" marB="27432" anchor="ctr">
                    <a:solidFill>
                      <a:srgbClr val="FFFFFF"/>
                    </a:solidFill>
                  </a:tcPr>
                </a:tc>
                <a:tc>
                  <a:txBody>
                    <a:bodyPr/>
                    <a:lstStyle/>
                    <a:p>
                      <a:r>
                        <a:rPr sz="1000" b="0" i="0">
                          <a:solidFill>
                            <a:srgbClr val="002B49"/>
                          </a:solidFill>
                          <a:latin typeface="Consolas"/>
                        </a:rPr>
                        <a:t>Opc.Ua.OpenUsd</a:t>
                      </a:r>
                    </a:p>
                  </a:txBody>
                  <a:tcPr marL="73152" marR="73152" marT="27432" marB="27432" anchor="ctr">
                    <a:solidFill>
                      <a:srgbClr val="FFFFFF"/>
                    </a:solidFill>
                  </a:tcPr>
                </a:tc>
              </a:tr>
              <a:tr h="238706">
                <a:tc>
                  <a:txBody>
                    <a:bodyPr/>
                    <a:lstStyle/>
                    <a:p>
                      <a:r>
                        <a:rPr sz="1100" b="0" i="0">
                          <a:solidFill>
                            <a:srgbClr val="333B44"/>
                          </a:solidFill>
                          <a:latin typeface="Segoe UI"/>
                        </a:rPr>
                        <a:t>OpenUSD Part 2 — Scene</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c>
                  <a:txBody>
                    <a:bodyPr/>
                    <a:lstStyle/>
                    <a:p>
                      <a:r>
                        <a:rPr sz="1100" b="0" i="0">
                          <a:solidFill>
                            <a:srgbClr val="333B44"/>
                          </a:solidFill>
                          <a:latin typeface="Segoe UI"/>
                        </a:rPr>
                        <a:t>OPCF — under review</a:t>
                      </a:r>
                    </a:p>
                  </a:txBody>
                  <a:tcPr marL="73152" marR="73152" marT="27432" marB="27432" anchor="ctr">
                    <a:solidFill>
                      <a:srgbClr val="F4F6F8"/>
                    </a:solidFill>
                  </a:tcPr>
                </a:tc>
                <a:tc>
                  <a:txBody>
                    <a:bodyPr/>
                    <a:lstStyle/>
                    <a:p>
                      <a:r>
                        <a:rPr sz="1000" b="0" i="0">
                          <a:solidFill>
                            <a:srgbClr val="002B49"/>
                          </a:solidFill>
                          <a:latin typeface="Consolas"/>
                        </a:rPr>
                        <a:t>Opc.Ua.OpenUsdScene</a:t>
                      </a:r>
                    </a:p>
                  </a:txBody>
                  <a:tcPr marL="73152" marR="73152" marT="27432" marB="27432" anchor="ctr">
                    <a:solidFill>
                      <a:srgbClr val="F4F6F8"/>
                    </a:solidFill>
                  </a:tcPr>
                </a:tc>
              </a:tr>
              <a:tr h="238706">
                <a:tc>
                  <a:txBody>
                    <a:bodyPr/>
                    <a:lstStyle/>
                    <a:p>
                      <a:r>
                        <a:rPr sz="1100" b="0" i="0">
                          <a:solidFill>
                            <a:srgbClr val="333B44"/>
                          </a:solidFill>
                          <a:latin typeface="Segoe UI"/>
                        </a:rPr>
                        <a:t>Vision</a:t>
                      </a:r>
                    </a:p>
                  </a:txBody>
                  <a:tcPr marL="73152" marR="73152" marT="27432" marB="27432" anchor="ctr">
                    <a:solidFill>
                      <a:srgbClr val="FFFFFF"/>
                    </a:solidFill>
                  </a:tcPr>
                </a:tc>
                <a:tc>
                  <a:txBody>
                    <a:bodyPr/>
                    <a:lstStyle/>
                    <a:p>
                      <a:r>
                        <a:rPr sz="1100" b="0" i="0">
                          <a:solidFill>
                            <a:srgbClr val="333B44"/>
                          </a:solidFill>
                          <a:latin typeface="Segoe UI"/>
                        </a:rPr>
                        <a:t>0.1.0</a:t>
                      </a:r>
                    </a:p>
                  </a:txBody>
                  <a:tcPr marL="73152" marR="73152" marT="27432" marB="27432" anchor="ctr">
                    <a:solidFill>
                      <a:srgbClr val="FFFFFF"/>
                    </a:solidFill>
                  </a:tcPr>
                </a:tc>
                <a:tc>
                  <a:txBody>
                    <a:bodyPr/>
                    <a:lstStyle/>
                    <a:p>
                      <a:r>
                        <a:rPr sz="1100" b="0" i="0">
                          <a:solidFill>
                            <a:srgbClr val="333B44"/>
                          </a:solidFill>
                          <a:latin typeface="Segoe UI"/>
                        </a:rPr>
                        <a:t>OPCF — companion</a:t>
                      </a:r>
                    </a:p>
                  </a:txBody>
                  <a:tcPr marL="73152" marR="73152" marT="27432" marB="27432" anchor="ctr">
                    <a:solidFill>
                      <a:srgbClr val="FFFFFF"/>
                    </a:solidFill>
                  </a:tcPr>
                </a:tc>
                <a:tc>
                  <a:txBody>
                    <a:bodyPr/>
                    <a:lstStyle/>
                    <a:p>
                      <a:r>
                        <a:rPr sz="1100" b="0" i="0">
                          <a:solidFill>
                            <a:srgbClr val="333B44"/>
                          </a:solidFill>
                          <a:latin typeface="Segoe UI"/>
                        </a:rPr>
                        <a:t>None</a:t>
                      </a:r>
                    </a:p>
                  </a:txBody>
                  <a:tcPr marL="73152" marR="73152" marT="27432" marB="27432" anchor="ctr">
                    <a:solidFill>
                      <a:srgbClr val="FFFFFF"/>
                    </a:solidFill>
                  </a:tcPr>
                </a:tc>
              </a:tr>
              <a:tr h="238706">
                <a:tc>
                  <a:txBody>
                    <a:bodyPr/>
                    <a:lstStyle/>
                    <a:p>
                      <a:r>
                        <a:rPr sz="1100" b="0" i="0">
                          <a:solidFill>
                            <a:srgbClr val="333B44"/>
                          </a:solidFill>
                          <a:latin typeface="Segoe UI"/>
                        </a:rPr>
                        <a:t>Robot Intent</a:t>
                      </a:r>
                    </a:p>
                  </a:txBody>
                  <a:tcPr marL="73152" marR="73152" marT="27432" marB="27432" anchor="ctr">
                    <a:solidFill>
                      <a:srgbClr val="F4F6F8"/>
                    </a:solidFill>
                  </a:tcPr>
                </a:tc>
                <a:tc>
                  <a:txBody>
                    <a:bodyPr/>
                    <a:lstStyle/>
                    <a:p>
                      <a:r>
                        <a:rPr sz="1100" b="0" i="0">
                          <a:solidFill>
                            <a:srgbClr val="333B44"/>
                          </a:solidFill>
                          <a:latin typeface="Segoe UI"/>
                        </a:rPr>
                        <a:t>0.1.0</a:t>
                      </a:r>
                    </a:p>
                  </a:txBody>
                  <a:tcPr marL="73152" marR="73152" marT="27432" marB="27432" anchor="ctr">
                    <a:solidFill>
                      <a:srgbClr val="F4F6F8"/>
                    </a:solidFill>
                  </a:tcPr>
                </a:tc>
                <a:tc>
                  <a:txBody>
                    <a:bodyPr/>
                    <a:lstStyle/>
                    <a:p>
                      <a:r>
                        <a:rPr sz="1100" b="0" i="0">
                          <a:solidFill>
                            <a:srgbClr val="333B44"/>
                          </a:solidFill>
                          <a:latin typeface="Segoe UI"/>
                        </a:rPr>
                        <a:t>OPCF — companion</a:t>
                      </a:r>
                    </a:p>
                  </a:txBody>
                  <a:tcPr marL="73152" marR="73152" marT="27432" marB="27432" anchor="ctr">
                    <a:solidFill>
                      <a:srgbClr val="F4F6F8"/>
                    </a:solidFill>
                  </a:tcPr>
                </a:tc>
                <a:tc>
                  <a:txBody>
                    <a:bodyPr/>
                    <a:lstStyle/>
                    <a:p>
                      <a:r>
                        <a:rPr sz="1000" b="0" i="0">
                          <a:solidFill>
                            <a:srgbClr val="002B49"/>
                          </a:solidFill>
                          <a:latin typeface="Consolas"/>
                        </a:rPr>
                        <a:t>Opc.Ua.Robotics</a:t>
                      </a:r>
                    </a:p>
                  </a:txBody>
                  <a:tcPr marL="73152" marR="73152" marT="27432" marB="27432" anchor="ctr">
                    <a:solidFill>
                      <a:srgbClr val="F4F6F8"/>
                    </a:solidFill>
                  </a:tcPr>
                </a:tc>
              </a:tr>
              <a:tr h="238706">
                <a:tc>
                  <a:txBody>
                    <a:bodyPr/>
                    <a:lstStyle/>
                    <a:p>
                      <a:r>
                        <a:rPr sz="1100" b="0" i="0">
                          <a:solidFill>
                            <a:srgbClr val="333B44"/>
                          </a:solidFill>
                          <a:latin typeface="Segoe UI"/>
                        </a:rPr>
                        <a:t>AI Model Management</a:t>
                      </a:r>
                    </a:p>
                  </a:txBody>
                  <a:tcPr marL="73152" marR="73152" marT="27432" marB="27432" anchor="ctr">
                    <a:solidFill>
                      <a:srgbClr val="FFFFFF"/>
                    </a:solidFill>
                  </a:tcPr>
                </a:tc>
                <a:tc>
                  <a:txBody>
                    <a:bodyPr/>
                    <a:lstStyle/>
                    <a:p>
                      <a:r>
                        <a:rPr sz="1100" b="0" i="0">
                          <a:solidFill>
                            <a:srgbClr val="333B44"/>
                          </a:solidFill>
                          <a:latin typeface="Segoe UI"/>
                        </a:rPr>
                        <a:t>0.4.0</a:t>
                      </a:r>
                    </a:p>
                  </a:txBody>
                  <a:tcPr marL="73152" marR="73152" marT="27432" marB="27432" anchor="ctr">
                    <a:solidFill>
                      <a:srgbClr val="FFFFFF"/>
                    </a:solidFill>
                  </a:tcPr>
                </a:tc>
                <a:tc>
                  <a:txBody>
                    <a:bodyPr/>
                    <a:lstStyle/>
                    <a:p>
                      <a:r>
                        <a:rPr sz="1100" b="0" i="0">
                          <a:solidFill>
                            <a:srgbClr val="333B44"/>
                          </a:solidFill>
                          <a:latin typeface="Segoe UI"/>
                        </a:rPr>
                        <a:t>OPCF — companion</a:t>
                      </a:r>
                    </a:p>
                  </a:txBody>
                  <a:tcPr marL="73152" marR="73152" marT="27432" marB="27432" anchor="ctr">
                    <a:solidFill>
                      <a:srgbClr val="FFFFFF"/>
                    </a:solidFill>
                  </a:tcPr>
                </a:tc>
                <a:tc>
                  <a:txBody>
                    <a:bodyPr/>
                    <a:lstStyle/>
                    <a:p>
                      <a:r>
                        <a:rPr sz="1100" b="0" i="0">
                          <a:solidFill>
                            <a:srgbClr val="333B44"/>
                          </a:solidFill>
                          <a:latin typeface="Segoe UI"/>
                        </a:rPr>
                        <a:t>Feature branch</a:t>
                      </a:r>
                    </a:p>
                  </a:txBody>
                  <a:tcPr marL="73152" marR="73152" marT="27432" marB="27432" anchor="ctr">
                    <a:solidFill>
                      <a:srgbClr val="FFFFFF"/>
                    </a:solidFill>
                  </a:tcPr>
                </a:tc>
              </a:tr>
              <a:tr h="238706">
                <a:tc>
                  <a:txBody>
                    <a:bodyPr/>
                    <a:lstStyle/>
                    <a:p>
                      <a:r>
                        <a:rPr sz="1100" b="0" i="0">
                          <a:solidFill>
                            <a:srgbClr val="333B44"/>
                          </a:solidFill>
                          <a:latin typeface="Segoe UI"/>
                        </a:rPr>
                        <a:t>OpenUSD Artifact Registry</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c>
                  <a:txBody>
                    <a:bodyPr/>
                    <a:lstStyle/>
                    <a:p>
                      <a:r>
                        <a:rPr sz="1100" b="0" i="0">
                          <a:solidFill>
                            <a:srgbClr val="333B44"/>
                          </a:solidFill>
                          <a:latin typeface="Segoe UI"/>
                        </a:rPr>
                        <a:t>xregistry.org</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r>
              <a:tr h="238706">
                <a:tc>
                  <a:txBody>
                    <a:bodyPr/>
                    <a:lstStyle/>
                    <a:p>
                      <a:r>
                        <a:rPr sz="1100" b="0" i="0">
                          <a:solidFill>
                            <a:srgbClr val="333B44"/>
                          </a:solidFill>
                          <a:latin typeface="Segoe UI"/>
                        </a:rPr>
                        <a:t>WoT Binding</a:t>
                      </a:r>
                    </a:p>
                  </a:txBody>
                  <a:tcPr marL="73152" marR="73152" marT="27432" marB="27432" anchor="ctr">
                    <a:solidFill>
                      <a:srgbClr val="FFFFFF"/>
                    </a:solidFill>
                  </a:tcPr>
                </a:tc>
                <a:tc>
                  <a:txBody>
                    <a:bodyPr/>
                    <a:lstStyle/>
                    <a:p>
                      <a:r>
                        <a:rPr sz="1100" b="0" i="0">
                          <a:solidFill>
                            <a:srgbClr val="333B44"/>
                          </a:solidFill>
                          <a:latin typeface="Segoe UI"/>
                        </a:rPr>
                        <a:t>—</a:t>
                      </a:r>
                    </a:p>
                  </a:txBody>
                  <a:tcPr marL="73152" marR="73152" marT="27432" marB="27432" anchor="ctr">
                    <a:solidFill>
                      <a:srgbClr val="FFFFFF"/>
                    </a:solidFill>
                  </a:tcPr>
                </a:tc>
                <a:tc>
                  <a:txBody>
                    <a:bodyPr/>
                    <a:lstStyle/>
                    <a:p>
                      <a:r>
                        <a:rPr sz="1100" b="0" i="0">
                          <a:solidFill>
                            <a:srgbClr val="333B44"/>
                          </a:solidFill>
                          <a:latin typeface="Segoe UI"/>
                        </a:rPr>
                        <a:t>OPCF — under review</a:t>
                      </a:r>
                    </a:p>
                  </a:txBody>
                  <a:tcPr marL="73152" marR="73152" marT="27432" marB="27432" anchor="ctr">
                    <a:solidFill>
                      <a:srgbClr val="FFFFFF"/>
                    </a:solidFill>
                  </a:tcPr>
                </a:tc>
                <a:tc>
                  <a:txBody>
                    <a:bodyPr/>
                    <a:lstStyle/>
                    <a:p>
                      <a:r>
                        <a:rPr sz="1000" b="0" i="0">
                          <a:solidFill>
                            <a:srgbClr val="002B49"/>
                          </a:solidFill>
                          <a:latin typeface="Consolas"/>
                        </a:rPr>
                        <a:t>Opc.Ua.WotCon</a:t>
                      </a:r>
                    </a:p>
                  </a:txBody>
                  <a:tcPr marL="73152" marR="73152" marT="27432" marB="27432" anchor="ctr">
                    <a:solidFill>
                      <a:srgbClr val="FFFFFF"/>
                    </a:solidFill>
                  </a:tcPr>
                </a:tc>
              </a:tr>
              <a:tr h="238706">
                <a:tc>
                  <a:txBody>
                    <a:bodyPr/>
                    <a:lstStyle/>
                    <a:p>
                      <a:r>
                        <a:rPr sz="1100" b="0" i="0">
                          <a:solidFill>
                            <a:srgbClr val="333B44"/>
                          </a:solidFill>
                          <a:latin typeface="Segoe UI"/>
                        </a:rPr>
                        <a:t>WoT Connectivity</a:t>
                      </a:r>
                    </a:p>
                  </a:txBody>
                  <a:tcPr marL="73152" marR="73152" marT="27432" marB="27432" anchor="ctr">
                    <a:solidFill>
                      <a:srgbClr val="F4F6F8"/>
                    </a:solidFill>
                  </a:tcPr>
                </a:tc>
                <a:tc>
                  <a:txBody>
                    <a:bodyPr/>
                    <a:lstStyle/>
                    <a:p>
                      <a:r>
                        <a:rPr sz="1100" b="0" i="0">
                          <a:solidFill>
                            <a:srgbClr val="333B44"/>
                          </a:solidFill>
                          <a:latin typeface="Segoe UI"/>
                        </a:rPr>
                        <a:t>—</a:t>
                      </a:r>
                    </a:p>
                  </a:txBody>
                  <a:tcPr marL="73152" marR="73152" marT="27432" marB="27432" anchor="ctr">
                    <a:solidFill>
                      <a:srgbClr val="F4F6F8"/>
                    </a:solidFill>
                  </a:tcPr>
                </a:tc>
                <a:tc>
                  <a:txBody>
                    <a:bodyPr/>
                    <a:lstStyle/>
                    <a:p>
                      <a:r>
                        <a:rPr sz="1100" b="0" i="0">
                          <a:solidFill>
                            <a:srgbClr val="333B44"/>
                          </a:solidFill>
                          <a:latin typeface="Segoe UI"/>
                        </a:rPr>
                        <a:t>OPCF — under review</a:t>
                      </a:r>
                    </a:p>
                  </a:txBody>
                  <a:tcPr marL="73152" marR="73152" marT="27432" marB="27432" anchor="ctr">
                    <a:solidFill>
                      <a:srgbClr val="F4F6F8"/>
                    </a:solidFill>
                  </a:tcPr>
                </a:tc>
                <a:tc>
                  <a:txBody>
                    <a:bodyPr/>
                    <a:lstStyle/>
                    <a:p>
                      <a:r>
                        <a:rPr sz="1000" b="0" i="0">
                          <a:solidFill>
                            <a:srgbClr val="002B49"/>
                          </a:solidFill>
                          <a:latin typeface="Consolas"/>
                        </a:rPr>
                        <a:t>Opc.Ua.WotCon</a:t>
                      </a:r>
                    </a:p>
                  </a:txBody>
                  <a:tcPr marL="73152" marR="73152" marT="27432" marB="27432" anchor="ctr">
                    <a:solidFill>
                      <a:srgbClr val="F4F6F8"/>
                    </a:solidFill>
                  </a:tcPr>
                </a:tc>
              </a:tr>
              <a:tr h="238706">
                <a:tc>
                  <a:txBody>
                    <a:bodyPr/>
                    <a:lstStyle/>
                    <a:p>
                      <a:r>
                        <a:rPr sz="1100" b="0" i="0">
                          <a:solidFill>
                            <a:srgbClr val="333B44"/>
                          </a:solidFill>
                          <a:latin typeface="Segoe UI"/>
                        </a:rPr>
                        <a:t>Generators (GenSets)</a:t>
                      </a:r>
                    </a:p>
                  </a:txBody>
                  <a:tcPr marL="73152" marR="73152" marT="27432" marB="27432" anchor="ctr">
                    <a:solidFill>
                      <a:srgbClr val="FFFFFF"/>
                    </a:solidFill>
                  </a:tcPr>
                </a:tc>
                <a:tc>
                  <a:txBody>
                    <a:bodyPr/>
                    <a:lstStyle/>
                    <a:p>
                      <a:r>
                        <a:rPr sz="1100" b="0" i="0">
                          <a:solidFill>
                            <a:srgbClr val="333B44"/>
                          </a:solidFill>
                          <a:latin typeface="Segoe UI"/>
                        </a:rPr>
                        <a:t>1.0.0</a:t>
                      </a:r>
                    </a:p>
                  </a:txBody>
                  <a:tcPr marL="73152" marR="73152" marT="27432" marB="27432" anchor="ctr">
                    <a:solidFill>
                      <a:srgbClr val="FFFFFF"/>
                    </a:solidFill>
                  </a:tcPr>
                </a:tc>
                <a:tc>
                  <a:txBody>
                    <a:bodyPr/>
                    <a:lstStyle/>
                    <a:p>
                      <a:r>
                        <a:rPr sz="1100" b="0" i="0">
                          <a:solidFill>
                            <a:srgbClr val="333B44"/>
                          </a:solidFill>
                          <a:latin typeface="Segoe UI"/>
                        </a:rPr>
                        <a:t>OPCF — companion</a:t>
                      </a:r>
                    </a:p>
                  </a:txBody>
                  <a:tcPr marL="73152" marR="73152" marT="27432" marB="27432" anchor="ctr">
                    <a:solidFill>
                      <a:srgbClr val="FFFFFF"/>
                    </a:solidFill>
                  </a:tcPr>
                </a:tc>
                <a:tc>
                  <a:txBody>
                    <a:bodyPr/>
                    <a:lstStyle/>
                    <a:p>
                      <a:r>
                        <a:rPr sz="1100" b="0" i="0">
                          <a:solidFill>
                            <a:srgbClr val="333B44"/>
                          </a:solidFill>
                          <a:latin typeface="Segoe UI"/>
                        </a:rPr>
                        <a:t>None</a:t>
                      </a:r>
                    </a:p>
                  </a:txBody>
                  <a:tcPr marL="73152" marR="73152" marT="27432" marB="27432" anchor="ctr">
                    <a:solidFill>
                      <a:srgbClr val="FFFFFF"/>
                    </a:solidFill>
                  </a:tcPr>
                </a:tc>
              </a:tr>
              <a:tr h="238706">
                <a:tc>
                  <a:txBody>
                    <a:bodyPr/>
                    <a:lstStyle/>
                    <a:p>
                      <a:r>
                        <a:rPr sz="1100" b="0" i="0">
                          <a:solidFill>
                            <a:srgbClr val="333B44"/>
                          </a:solidFill>
                          <a:latin typeface="Segoe UI"/>
                        </a:rPr>
                        <a:t>Asset Administration Shell</a:t>
                      </a:r>
                    </a:p>
                  </a:txBody>
                  <a:tcPr marL="73152" marR="73152" marT="27432" marB="27432" anchor="ctr">
                    <a:solidFill>
                      <a:srgbClr val="F4F6F8"/>
                    </a:solidFill>
                  </a:tcPr>
                </a:tc>
                <a:tc>
                  <a:txBody>
                    <a:bodyPr/>
                    <a:lstStyle/>
                    <a:p>
                      <a:r>
                        <a:rPr sz="1100" b="0" i="0">
                          <a:solidFill>
                            <a:srgbClr val="333B44"/>
                          </a:solidFill>
                          <a:latin typeface="Segoe UI"/>
                        </a:rPr>
                        <a:t>3.0.0</a:t>
                      </a:r>
                    </a:p>
                  </a:txBody>
                  <a:tcPr marL="73152" marR="73152" marT="27432" marB="27432" anchor="ctr">
                    <a:solidFill>
                      <a:srgbClr val="F4F6F8"/>
                    </a:solidFill>
                  </a:tcPr>
                </a:tc>
                <a:tc>
                  <a:txBody>
                    <a:bodyPr/>
                    <a:lstStyle/>
                    <a:p>
                      <a:r>
                        <a:rPr sz="1100" b="0" i="0">
                          <a:solidFill>
                            <a:srgbClr val="333B44"/>
                          </a:solidFill>
                          <a:latin typeface="Segoe UI"/>
                        </a:rPr>
                        <a:t>OPCF — OPC 30270 revision</a:t>
                      </a:r>
                    </a:p>
                  </a:txBody>
                  <a:tcPr marL="73152" marR="73152" marT="27432" marB="27432" anchor="ctr">
                    <a:solidFill>
                      <a:srgbClr val="F4F6F8"/>
                    </a:solidFill>
                  </a:tcPr>
                </a:tc>
                <a:tc>
                  <a:txBody>
                    <a:bodyPr/>
                    <a:lstStyle/>
                    <a:p>
                      <a:r>
                        <a:rPr sz="1100" b="0" i="0">
                          <a:solidFill>
                            <a:srgbClr val="333B44"/>
                          </a:solidFill>
                          <a:latin typeface="Segoe UI"/>
                        </a:rPr>
                        <a:t>Open pull request</a:t>
                      </a:r>
                    </a:p>
                  </a:txBody>
                  <a:tcPr marL="73152" marR="73152" marT="27432" marB="27432" anchor="ctr">
                    <a:solidFill>
                      <a:srgbClr val="F4F6F8"/>
                    </a:solidFill>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How to give feedback</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2B49"/>
                </a:solidFill>
                <a:latin typeface="Segoe UI"/>
              </a:rPr>
              <a:t>You do not have to write specification text, and you do not have to touch git</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Where this goes next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110</a:t>
            </a:r>
          </a:p>
        </p:txBody>
      </p:sp>
      <p:sp>
        <p:nvSpPr>
          <p:cNvPr id="8" name="Rectangle 7"/>
          <p:cNvSpPr/>
          <p:nvPr/>
        </p:nvSpPr>
        <p:spPr>
          <a:xfrm>
            <a:off x="685800" y="1591056"/>
            <a:ext cx="54864" cy="274320"/>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591056"/>
            <a:ext cx="5058003" cy="310896"/>
          </a:xfrm>
          <a:prstGeom prst="rect">
            <a:avLst/>
          </a:prstGeom>
          <a:noFill/>
        </p:spPr>
        <p:txBody>
          <a:bodyPr wrap="square" lIns="0" rIns="0" tIns="0" bIns="0">
            <a:spAutoFit/>
          </a:bodyPr>
          <a:lstStyle/>
          <a:p>
            <a:r>
              <a:rPr sz="1500" b="1" i="0">
                <a:solidFill>
                  <a:srgbClr val="002B49"/>
                </a:solidFill>
                <a:latin typeface="Segoe UI Semibold"/>
              </a:rPr>
              <a:t>The git route</a:t>
            </a:r>
          </a:p>
        </p:txBody>
      </p:sp>
      <p:sp>
        <p:nvSpPr>
          <p:cNvPr id="10" name="TextBox 9"/>
          <p:cNvSpPr txBox="1"/>
          <p:nvPr/>
        </p:nvSpPr>
        <p:spPr>
          <a:xfrm>
            <a:off x="685800" y="2011680"/>
            <a:ext cx="5204307" cy="4114800"/>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Fork </a:t>
            </a:r>
            <a:r>
              <a:rPr sz="1300" b="1" i="0">
                <a:solidFill>
                  <a:srgbClr val="002B49"/>
                </a:solidFill>
                <a:latin typeface="Consolas"/>
              </a:rPr>
              <a:t>marcschier/opcua-drafts</a:t>
            </a:r>
            <a:r>
              <a:rPr sz="1400" b="1" i="0">
                <a:solidFill>
                  <a:srgbClr val="002B49"/>
                </a:solidFill>
                <a:latin typeface="Segoe UI"/>
              </a:rPr>
              <a:t>, branch, open a pull request</a:t>
            </a:r>
          </a:p>
          <a:p>
            <a:pPr marL="512064" indent="-219456">
              <a:lnSpc>
                <a:spcPct val="102000"/>
              </a:lnSpc>
              <a:spcBef>
                <a:spcPts val="0"/>
              </a:spcBef>
              <a:spcAft>
                <a:spcPts val="400"/>
              </a:spcAft>
            </a:pPr>
            <a:r>
              <a:rPr sz="1000" b="1" i="0">
                <a:solidFill>
                  <a:srgbClr val="4A90C2"/>
                </a:solidFill>
                <a:latin typeface="Segoe UI"/>
              </a:rPr>
              <a:t>–  </a:t>
            </a:r>
            <a:r>
              <a:rPr sz="1200" b="0" i="0">
                <a:solidFill>
                  <a:srgbClr val="333B44"/>
                </a:solidFill>
                <a:latin typeface="Segoe UI"/>
              </a:rPr>
              <a:t>Edit the </a:t>
            </a:r>
            <a:r>
              <a:rPr sz="1200" b="1" i="0">
                <a:solidFill>
                  <a:srgbClr val="333B44"/>
                </a:solidFill>
                <a:latin typeface="Segoe UI"/>
              </a:rPr>
              <a:t>source</a:t>
            </a:r>
            <a:r>
              <a:rPr sz="1200" b="0" i="0">
                <a:solidFill>
                  <a:srgbClr val="333B44"/>
                </a:solidFill>
                <a:latin typeface="Segoe UI"/>
              </a:rPr>
              <a:t> — a descriptor or </a:t>
            </a:r>
            <a:r>
              <a:rPr sz="1100" b="0" i="0">
                <a:solidFill>
                  <a:srgbClr val="002B49"/>
                </a:solidFill>
                <a:latin typeface="Consolas"/>
              </a:rPr>
              <a:t>tools/build_model.py</a:t>
            </a:r>
            <a:r>
              <a:rPr sz="1200" b="0" i="0">
                <a:solidFill>
                  <a:srgbClr val="333B44"/>
                </a:solidFill>
                <a:latin typeface="Segoe UI"/>
              </a:rPr>
              <a:t> — not the generated NodeSet or CSV</a:t>
            </a:r>
          </a:p>
          <a:p>
            <a:pPr marL="512064" indent="-219456">
              <a:lnSpc>
                <a:spcPct val="102000"/>
              </a:lnSpc>
              <a:spcBef>
                <a:spcPts val="0"/>
              </a:spcBef>
              <a:spcAft>
                <a:spcPts val="400"/>
              </a:spcAft>
            </a:pPr>
            <a:r>
              <a:rPr sz="1000" b="1" i="0">
                <a:solidFill>
                  <a:srgbClr val="4A90C2"/>
                </a:solidFill>
                <a:latin typeface="Segoe UI"/>
              </a:rPr>
              <a:t>–  </a:t>
            </a:r>
            <a:r>
              <a:rPr sz="1200" b="0" i="0">
                <a:solidFill>
                  <a:srgbClr val="333B44"/>
                </a:solidFill>
                <a:latin typeface="Segoe UI"/>
              </a:rPr>
              <a:t>Regenerate, then validate: </a:t>
            </a:r>
            <a:r>
              <a:rPr sz="1100" b="0" i="0">
                <a:solidFill>
                  <a:srgbClr val="002B49"/>
                </a:solidFill>
                <a:latin typeface="Consolas"/>
              </a:rPr>
              <a:t>python core-specs/extras/validate_all.py</a:t>
            </a:r>
            <a:r>
              <a:rPr sz="1200" b="0" i="0">
                <a:solidFill>
                  <a:srgbClr val="333B44"/>
                </a:solidFill>
                <a:latin typeface="Segoe UI"/>
              </a:rPr>
              <a:t> and the equivalent for the tree you touched</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Annotation counts as contribution</a:t>
            </a:r>
            <a:r>
              <a:rPr sz="1400" b="1" i="0">
                <a:solidFill>
                  <a:srgbClr val="002B49"/>
                </a:solidFill>
                <a:latin typeface="Segoe UI"/>
              </a:rPr>
              <a:t> — inline comments, notes and open questions are enough</a:t>
            </a:r>
          </a:p>
        </p:txBody>
      </p:sp>
      <p:sp>
        <p:nvSpPr>
          <p:cNvPr id="11" name="Rectangle 10"/>
          <p:cNvSpPr/>
          <p:nvPr/>
        </p:nvSpPr>
        <p:spPr>
          <a:xfrm>
            <a:off x="6301587" y="1591056"/>
            <a:ext cx="54864" cy="274320"/>
          </a:xfrm>
          <a:prstGeom prst="rect">
            <a:avLst/>
          </a:prstGeom>
          <a:solidFill>
            <a:srgbClr val="B8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7891" y="1591056"/>
            <a:ext cx="5058003" cy="310896"/>
          </a:xfrm>
          <a:prstGeom prst="rect">
            <a:avLst/>
          </a:prstGeom>
          <a:noFill/>
        </p:spPr>
        <p:txBody>
          <a:bodyPr wrap="square" lIns="0" rIns="0" tIns="0" bIns="0">
            <a:spAutoFit/>
          </a:bodyPr>
          <a:lstStyle/>
          <a:p>
            <a:r>
              <a:rPr sz="1500" b="1" i="0">
                <a:solidFill>
                  <a:srgbClr val="002B49"/>
                </a:solidFill>
                <a:latin typeface="Segoe UI Semibold"/>
              </a:rPr>
              <a:t>The no-git route</a:t>
            </a:r>
          </a:p>
        </p:txBody>
      </p:sp>
      <p:sp>
        <p:nvSpPr>
          <p:cNvPr id="13" name="TextBox 12"/>
          <p:cNvSpPr txBox="1"/>
          <p:nvPr/>
        </p:nvSpPr>
        <p:spPr>
          <a:xfrm>
            <a:off x="6301587" y="2011680"/>
            <a:ext cx="5204307" cy="4114800"/>
          </a:xfrm>
          <a:prstGeom prst="rect">
            <a:avLst/>
          </a:prstGeom>
          <a:noFill/>
        </p:spPr>
        <p:txBody>
          <a:bodyPr wrap="square" lIns="0" rIns="0" tIns="0" bIns="0">
            <a:spAutoFit/>
          </a:bodyPr>
          <a:lstStyle/>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Open an issue and say what you want; a maintainer applies a label</a:t>
            </a:r>
          </a:p>
          <a:p>
            <a:pPr marL="512064" indent="-219456">
              <a:lnSpc>
                <a:spcPct val="102000"/>
              </a:lnSpc>
              <a:spcBef>
                <a:spcPts val="0"/>
              </a:spcBef>
              <a:spcAft>
                <a:spcPts val="400"/>
              </a:spcAft>
            </a:pPr>
            <a:r>
              <a:rPr sz="1000" b="1" i="0">
                <a:solidFill>
                  <a:srgbClr val="4A90C2"/>
                </a:solidFill>
                <a:latin typeface="Segoe UI"/>
              </a:rPr>
              <a:t>–  </a:t>
            </a:r>
            <a:r>
              <a:rPr sz="1100" b="0" i="0">
                <a:solidFill>
                  <a:srgbClr val="002B49"/>
                </a:solidFill>
                <a:latin typeface="Consolas"/>
              </a:rPr>
              <a:t>word-review</a:t>
            </a:r>
            <a:r>
              <a:rPr sz="1200" b="0" i="0">
                <a:solidFill>
                  <a:srgbClr val="333B44"/>
                </a:solidFill>
                <a:latin typeface="Segoe UI"/>
              </a:rPr>
              <a:t> — attach a marked-up </a:t>
            </a:r>
            <a:r>
              <a:rPr sz="1100" b="0" i="0">
                <a:solidFill>
                  <a:srgbClr val="002B49"/>
                </a:solidFill>
                <a:latin typeface="Consolas"/>
              </a:rPr>
              <a:t>.docx</a:t>
            </a:r>
            <a:r>
              <a:rPr sz="1200" b="0" i="0">
                <a:solidFill>
                  <a:srgbClr val="333B44"/>
                </a:solidFill>
                <a:latin typeface="Segoe UI"/>
              </a:rPr>
              <a:t>; tracked changes become the diff, comments become the review</a:t>
            </a:r>
          </a:p>
          <a:p>
            <a:pPr marL="512064" indent="-219456">
              <a:lnSpc>
                <a:spcPct val="102000"/>
              </a:lnSpc>
              <a:spcBef>
                <a:spcPts val="0"/>
              </a:spcBef>
              <a:spcAft>
                <a:spcPts val="400"/>
              </a:spcAft>
            </a:pPr>
            <a:r>
              <a:rPr sz="1000" b="1" i="0">
                <a:solidFill>
                  <a:srgbClr val="4A90C2"/>
                </a:solidFill>
                <a:latin typeface="Segoe UI"/>
              </a:rPr>
              <a:t>–  </a:t>
            </a:r>
            <a:r>
              <a:rPr sz="1100" b="0" i="0">
                <a:solidFill>
                  <a:srgbClr val="002B49"/>
                </a:solidFill>
                <a:latin typeface="Consolas"/>
              </a:rPr>
              <a:t>needs pr</a:t>
            </a:r>
            <a:r>
              <a:rPr sz="1200" b="0" i="0">
                <a:solidFill>
                  <a:srgbClr val="333B44"/>
                </a:solidFill>
                <a:latin typeface="Segoe UI"/>
              </a:rPr>
              <a:t> — an agent reads the issue and every comment and opens a pull request implementing it</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Agents run with </a:t>
            </a:r>
            <a:r>
              <a:rPr sz="1400" b="1" i="0">
                <a:solidFill>
                  <a:srgbClr val="002B49"/>
                </a:solidFill>
                <a:latin typeface="Segoe UI"/>
              </a:rPr>
              <a:t>no write credential</a:t>
            </a:r>
            <a:r>
              <a:rPr sz="1400" b="1" i="0">
                <a:solidFill>
                  <a:srgbClr val="002B49"/>
                </a:solidFill>
                <a:latin typeface="Segoe UI"/>
              </a:rPr>
              <a:t> and treat issue text as untrusted input, not instructions</a:t>
            </a:r>
          </a:p>
          <a:p>
            <a:pPr marL="219456" indent="-219456">
              <a:lnSpc>
                <a:spcPct val="102000"/>
              </a:lnSpc>
              <a:spcBef>
                <a:spcPts val="600"/>
              </a:spcBef>
              <a:spcAft>
                <a:spcPts val="800"/>
              </a:spcAft>
            </a:pPr>
            <a:r>
              <a:rPr sz="1200" b="1" i="0">
                <a:solidFill>
                  <a:srgbClr val="F29900"/>
                </a:solidFill>
                <a:latin typeface="Segoe UI"/>
              </a:rPr>
              <a:t>■  </a:t>
            </a:r>
            <a:r>
              <a:rPr sz="1400" b="1" i="0">
                <a:solidFill>
                  <a:srgbClr val="002B49"/>
                </a:solidFill>
                <a:latin typeface="Segoe UI"/>
              </a:rPr>
              <a:t>Whatever they produce is a patch a person reads before it lands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02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20095" cy="731520"/>
          </a:xfrm>
          <a:prstGeom prst="rect">
            <a:avLst/>
          </a:prstGeom>
          <a:noFill/>
        </p:spPr>
        <p:txBody>
          <a:bodyPr wrap="square" lIns="0" rIns="0" tIns="0" bIns="0">
            <a:spAutoFit/>
          </a:bodyPr>
          <a:lstStyle/>
          <a:p>
            <a:r>
              <a:rPr sz="3000" b="1" i="0">
                <a:solidFill>
                  <a:srgbClr val="002B49"/>
                </a:solidFill>
                <a:latin typeface="Segoe UI Semibold"/>
              </a:rPr>
              <a:t>Where to find everything</a:t>
            </a:r>
          </a:p>
        </p:txBody>
      </p:sp>
      <p:sp>
        <p:nvSpPr>
          <p:cNvPr id="4" name="TextBox 3"/>
          <p:cNvSpPr txBox="1"/>
          <p:nvPr/>
        </p:nvSpPr>
        <p:spPr>
          <a:xfrm>
            <a:off x="685800" y="1115568"/>
            <a:ext cx="10820095" cy="310896"/>
          </a:xfrm>
          <a:prstGeom prst="rect">
            <a:avLst/>
          </a:prstGeom>
          <a:noFill/>
        </p:spPr>
        <p:txBody>
          <a:bodyPr wrap="square" lIns="0" rIns="0" tIns="0" bIns="0">
            <a:spAutoFit/>
          </a:bodyPr>
          <a:lstStyle/>
          <a:p>
            <a:r>
              <a:rPr sz="1300" b="0" i="1">
                <a:solidFill>
                  <a:srgbClr val="002B49"/>
                </a:solidFill>
                <a:latin typeface="Segoe UI"/>
              </a:rPr>
              <a:t>Repositories, access, and the two commands that regenerate this deck</a:t>
            </a:r>
          </a:p>
        </p:txBody>
      </p:sp>
      <p:cxnSp>
        <p:nvCxnSpPr>
          <p:cNvPr id="5" name="Connector 4"/>
          <p:cNvCxnSpPr/>
          <p:nvPr/>
        </p:nvCxnSpPr>
        <p:spPr>
          <a:xfrm>
            <a:off x="685800" y="6236208"/>
            <a:ext cx="10820095"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309360"/>
            <a:ext cx="10820095" cy="329184"/>
          </a:xfrm>
          <a:prstGeom prst="rect">
            <a:avLst/>
          </a:prstGeom>
          <a:noFill/>
        </p:spPr>
        <p:txBody>
          <a:bodyPr wrap="square" lIns="0" rIns="0" tIns="0" bIns="0">
            <a:spAutoFit/>
          </a:bodyPr>
          <a:lstStyle/>
          <a:p>
            <a:r>
              <a:rPr sz="900" b="0" i="0">
                <a:solidFill>
                  <a:srgbClr val="6B7480"/>
                </a:solidFill>
                <a:latin typeface="Segoe UI"/>
              </a:rPr>
              <a:t>Where this goes next</a:t>
            </a:r>
          </a:p>
        </p:txBody>
      </p:sp>
      <p:sp>
        <p:nvSpPr>
          <p:cNvPr id="7" name="TextBox 6"/>
          <p:cNvSpPr txBox="1"/>
          <p:nvPr/>
        </p:nvSpPr>
        <p:spPr>
          <a:xfrm>
            <a:off x="10682935" y="6309360"/>
            <a:ext cx="822960" cy="329184"/>
          </a:xfrm>
          <a:prstGeom prst="rect">
            <a:avLst/>
          </a:prstGeom>
          <a:noFill/>
        </p:spPr>
        <p:txBody>
          <a:bodyPr wrap="square" lIns="0" rIns="0" tIns="0" bIns="0">
            <a:spAutoFit/>
          </a:bodyPr>
          <a:lstStyle/>
          <a:p>
            <a:pPr algn="r"/>
            <a:r>
              <a:rPr sz="900" b="0" i="0">
                <a:solidFill>
                  <a:srgbClr val="6B7480"/>
                </a:solidFill>
                <a:latin typeface="Segoe UI"/>
              </a:rPr>
              <a:t>111</a:t>
            </a:r>
          </a:p>
        </p:txBody>
      </p:sp>
      <p:sp>
        <p:nvSpPr>
          <p:cNvPr id="8" name="TextBox 7"/>
          <p:cNvSpPr txBox="1"/>
          <p:nvPr/>
        </p:nvSpPr>
        <p:spPr>
          <a:xfrm>
            <a:off x="685800" y="1591056"/>
            <a:ext cx="10820095" cy="4535424"/>
          </a:xfrm>
          <a:prstGeom prst="rect">
            <a:avLst/>
          </a:prstGeom>
          <a:noFill/>
        </p:spPr>
        <p:txBody>
          <a:bodyPr wrap="square" lIns="0" rIns="0" tIns="0" bIns="0">
            <a:spAutoFit/>
          </a:bodyPr>
          <a:lstStyle/>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Public drafts</a:t>
            </a:r>
            <a:r>
              <a:rPr sz="1700" b="1" i="0">
                <a:solidFill>
                  <a:srgbClr val="002B49"/>
                </a:solidFill>
                <a:latin typeface="Segoe UI"/>
              </a:rPr>
              <a:t> — </a:t>
            </a:r>
            <a:r>
              <a:rPr sz="1600" b="1" i="0">
                <a:solidFill>
                  <a:srgbClr val="002B49"/>
                </a:solidFill>
                <a:latin typeface="Consolas"/>
              </a:rPr>
              <a:t>github.com/marcschier/opcua-drafts</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Twelve drafts, the Word renderings under </a:t>
            </a:r>
            <a:r>
              <a:rPr sz="1300" b="0" i="0">
                <a:solidFill>
                  <a:srgbClr val="002B49"/>
                </a:solidFill>
                <a:latin typeface="Consolas"/>
              </a:rPr>
              <a:t>word-drafts/</a:t>
            </a:r>
            <a:r>
              <a:rPr sz="1400" b="0" i="0">
                <a:solidFill>
                  <a:srgbClr val="333B44"/>
                </a:solidFill>
                <a:latin typeface="Segoe UI"/>
              </a:rPr>
              <a:t>, and this deck under </a:t>
            </a:r>
            <a:r>
              <a:rPr sz="1300" b="0" i="0">
                <a:solidFill>
                  <a:srgbClr val="002B49"/>
                </a:solidFill>
                <a:latin typeface="Consolas"/>
              </a:rPr>
              <a:t>decks/</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Under OPC Foundation review</a:t>
            </a:r>
            <a:r>
              <a:rPr sz="1700" b="1" i="0">
                <a:solidFill>
                  <a:srgbClr val="002B49"/>
                </a:solidFill>
                <a:latin typeface="Segoe UI"/>
              </a:rPr>
              <a:t> — </a:t>
            </a:r>
            <a:r>
              <a:rPr sz="1600" b="1" i="0">
                <a:solidFill>
                  <a:srgbClr val="002B49"/>
                </a:solidFill>
                <a:latin typeface="Consolas"/>
              </a:rPr>
              <a:t>github.com/OPCF-Members/spec-drafts</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Registered as a submodule; members request access through the member portal, see </a:t>
            </a:r>
            <a:r>
              <a:rPr sz="1300" b="0" i="0">
                <a:solidFill>
                  <a:srgbClr val="002B49"/>
                </a:solidFill>
                <a:latin typeface="Consolas"/>
              </a:rPr>
              <a:t>OPCF-Members/Help</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A plain clone leaves it empty and everything else works exactly as before</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Reference implementation</a:t>
            </a:r>
            <a:r>
              <a:rPr sz="1700" b="1" i="0">
                <a:solidFill>
                  <a:srgbClr val="002B49"/>
                </a:solidFill>
                <a:latin typeface="Segoe UI"/>
              </a:rPr>
              <a:t> — </a:t>
            </a:r>
            <a:r>
              <a:rPr sz="1600" b="1" i="0">
                <a:solidFill>
                  <a:srgbClr val="002B49"/>
                </a:solidFill>
                <a:latin typeface="Consolas"/>
              </a:rPr>
              <a:t>github.com/OPCFoundation/UA-.NETStandard</a:t>
            </a:r>
          </a:p>
          <a:p>
            <a:pPr marL="512064" indent="-219456">
              <a:lnSpc>
                <a:spcPct val="102000"/>
              </a:lnSpc>
              <a:spcBef>
                <a:spcPts val="0"/>
              </a:spcBef>
              <a:spcAft>
                <a:spcPts val="400"/>
              </a:spcAft>
            </a:pPr>
            <a:r>
              <a:rPr sz="1200" b="1" i="0">
                <a:solidFill>
                  <a:srgbClr val="4A90C2"/>
                </a:solidFill>
                <a:latin typeface="Segoe UI"/>
              </a:rPr>
              <a:t>–  </a:t>
            </a:r>
            <a:r>
              <a:rPr sz="1400" b="0" i="0">
                <a:solidFill>
                  <a:srgbClr val="333B44"/>
                </a:solidFill>
                <a:latin typeface="Segoe UI"/>
              </a:rPr>
              <a:t>Demo walkthroughs and scripts: </a:t>
            </a:r>
            <a:r>
              <a:rPr sz="1300" b="0" i="0">
                <a:solidFill>
                  <a:srgbClr val="002B49"/>
                </a:solidFill>
                <a:latin typeface="Consolas"/>
              </a:rPr>
              <a:t>decks/demos/</a:t>
            </a:r>
            <a:r>
              <a:rPr sz="1400" b="0" i="0">
                <a:solidFill>
                  <a:srgbClr val="333B44"/>
                </a:solidFill>
                <a:latin typeface="Segoe UI"/>
              </a:rPr>
              <a:t>, one folder per demo</a:t>
            </a:r>
          </a:p>
          <a:p>
            <a:pPr marL="219456" indent="-219456">
              <a:lnSpc>
                <a:spcPct val="102000"/>
              </a:lnSpc>
              <a:spcBef>
                <a:spcPts val="600"/>
              </a:spcBef>
              <a:spcAft>
                <a:spcPts val="800"/>
              </a:spcAft>
            </a:pPr>
            <a:r>
              <a:rPr sz="1500" b="1" i="0">
                <a:solidFill>
                  <a:srgbClr val="F29900"/>
                </a:solidFill>
                <a:latin typeface="Segoe UI"/>
              </a:rPr>
              <a:t>■  </a:t>
            </a:r>
            <a:r>
              <a:rPr sz="1700" b="1" i="0">
                <a:solidFill>
                  <a:srgbClr val="002B49"/>
                </a:solidFill>
                <a:latin typeface="Segoe UI"/>
              </a:rPr>
              <a:t>This deck is generated</a:t>
            </a:r>
            <a:r>
              <a:rPr sz="1700" b="1" i="0">
                <a:solidFill>
                  <a:srgbClr val="002B49"/>
                </a:solidFill>
                <a:latin typeface="Segoe UI"/>
              </a:rPr>
              <a:t> — edit </a:t>
            </a:r>
            <a:r>
              <a:rPr sz="1600" b="1" i="0">
                <a:solidFill>
                  <a:srgbClr val="002B49"/>
                </a:solidFill>
                <a:latin typeface="Consolas"/>
              </a:rPr>
              <a:t>decks/content/*.yaml</a:t>
            </a:r>
            <a:r>
              <a:rPr sz="1700" b="1" i="0">
                <a:solidFill>
                  <a:srgbClr val="002B49"/>
                </a:solidFill>
                <a:latin typeface="Segoe UI"/>
              </a:rPr>
              <a:t> and run </a:t>
            </a:r>
            <a:r>
              <a:rPr sz="1600" b="1" i="0">
                <a:solidFill>
                  <a:srgbClr val="002B49"/>
                </a:solidFill>
                <a:latin typeface="Consolas"/>
              </a:rPr>
              <a:t>python decks/build_deck.py</a:t>
            </a:r>
          </a:p>
        </p:txBody>
      </p:sp>
      <p:sp>
        <p:nvSpPr>
          <p:cNvPr id="9" name="Rounded Rectangle 8"/>
          <p:cNvSpPr/>
          <p:nvPr/>
        </p:nvSpPr>
        <p:spPr>
          <a:xfrm>
            <a:off x="685800" y="5468112"/>
            <a:ext cx="10820095" cy="566928"/>
          </a:xfrm>
          <a:prstGeom prst="roundRect">
            <a:avLst/>
          </a:prstGeom>
          <a:solidFill>
            <a:srgbClr val="E8F1F8"/>
          </a:solidFill>
          <a:ln w="9525">
            <a:solidFill>
              <a:srgbClr val="4A90C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1300" b="0" i="0">
                <a:solidFill>
                  <a:srgbClr val="002B49"/>
                </a:solidFill>
                <a:latin typeface="Segoe UI"/>
              </a:rPr>
              <a:t>Working drafts throughout. Namespace URIs and NodeIds are provisional, and everything here is subject to change or removal without notice.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