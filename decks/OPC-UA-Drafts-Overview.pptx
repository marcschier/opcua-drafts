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is a scratch pad that grew into a coherent body of work: the</a:t>
            </a:r>
          </a:p>
          <a:p>
            <a:r>
              <a:rPr sz="1100">
                <a:latin typeface="Segoe UI"/>
              </a:rPr>
              <a:t>specifications were written against real gaps found while building the .NET Standard stack,</a:t>
            </a:r>
          </a:p>
          <a:p>
            <a:r>
              <a:rPr sz="1100">
                <a:latin typeface="Segoe UI"/>
              </a:rPr>
              <a:t>which is why most of them have running code behind them.</a:t>
            </a:r>
          </a:p>
          <a:p/>
          <a:p>
            <a:r>
              <a:rPr sz="1100">
                <a:latin typeface="Segoe UI"/>
              </a:rPr>
              <a:t>The five under OPC Foundation review — Avro, OpenUSD Parts 1 and 2, WoT Binding, WoT</a:t>
            </a:r>
          </a:p>
          <a:p>
            <a:r>
              <a:rPr sz="1100">
                <a:latin typeface="Segoe UI"/>
              </a:rPr>
              <a:t>Connectivity — moved to the members' repository while the review runs. They are covered here</a:t>
            </a:r>
          </a:p>
          <a:p>
            <a:r>
              <a:rPr sz="1100">
                <a:latin typeface="Segoe UI"/>
              </a:rPr>
              <a:t>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nine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public repository overview marks this draft as under OPC Foundation review and points members to the private spec-drafts repository, which is why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Registry, WoT Thing Description registries and OpenUSD artifact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 WoT Connectivity registry or an OpenUSD artifact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public repository overview says xRegistry is under OPC Foundation review and describes it as the base model subtyped by Schema Registry, WoT Connectivity and the OpenUSD artifact registry.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0.6.0 — Draft` with namespace `http://opcfoundation.org/UA/OpenUSD/` and publication date 2026-07-31.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0.4.0 — Draft`, namespace `http://opcfoundation.org/UA/OpenUSD/Scene/`, publication date 2026-07-29.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0.1.0, with provisional namespace URIs and</a:t>
            </a:r>
          </a:p>
          <a:p>
            <a:r>
              <a:rPr sz="1100">
                <a:latin typeface="Segoe UI"/>
              </a:rPr>
              <a:t>NodeIds. Clause 1.4 says the release covers sensors, media, coordinate frames and calibration,</a:t>
            </a:r>
          </a:p>
          <a:p>
            <a:r>
              <a:rPr sz="1100">
                <a:latin typeface="Segoe UI"/>
              </a:rPr>
              <a:t>inference pipelines, results and feedback, and that the NodeSet declares only the base OPC UA</a:t>
            </a:r>
          </a:p>
          <a:p>
            <a:r>
              <a:rPr sz="1100">
                <a:latin typeface="Segoe UI"/>
              </a:rPr>
              <a:t>namespace as a required model. The status slide should be explicit about the two deferrals in</a:t>
            </a:r>
          </a:p>
          <a:p>
            <a:r>
              <a:rPr sz="1100">
                <a:latin typeface="Segoe UI"/>
              </a:rPr>
              <a:t>clause 1.3: no portable inspection recipe format is defined, and interop with OPC 40100, OPC 40010,</a:t>
            </a:r>
          </a:p>
          <a:p>
            <a:r>
              <a:rPr sz="1100">
                <a:latin typeface="Segoe UI"/>
              </a:rPr>
              <a:t>DI, Machinery or OpenUSD remains optional profile material. For the deck, Demo 9 is only a</a:t>
            </a:r>
          </a:p>
          <a:p>
            <a:r>
              <a:rPr sz="1100">
                <a:latin typeface="Segoe UI"/>
              </a:rPr>
              <a:t>walkthrough of camera, inference and published result; there is no implementation to run yet.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There is a draft and generated NodeSet in the drafts repository, but no</a:t>
            </a:r>
          </a:p>
          <a:p>
            <a:r>
              <a:rPr sz="1100">
                <a:latin typeface="Segoe UI"/>
              </a:rPr>
              <a:t>stack project or sample Server. The walkthrough fills the gap left by existing OPC UA vision</a:t>
            </a:r>
          </a:p>
          <a:p>
            <a:r>
              <a:rPr sz="1100">
                <a:latin typeface="Segoe UI"/>
              </a:rPr>
              <a:t>work: media location, calibration, inference pipeline and result content are described with a</a:t>
            </a:r>
          </a:p>
          <a:p>
            <a:r>
              <a:rPr sz="1100">
                <a:latin typeface="Segoe UI"/>
              </a:rPr>
              <a:t>standard shape. Tie it to Data Channels carefully. Vision brokers media by reference by</a:t>
            </a:r>
          </a:p>
          <a:p>
            <a:r>
              <a:rPr sz="1100">
                <a:latin typeface="Segoe UI"/>
              </a:rPr>
              <a:t>default; a Data Channel is only an optional in-band path. Tie it to AI Model Management because</a:t>
            </a:r>
          </a:p>
          <a:p>
            <a:r>
              <a:rPr sz="1100">
                <a:latin typeface="Segoe UI"/>
              </a:rPr>
              <a:t>the result is not auditable unless 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0.1.0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The implementation is reflected in the stack 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0.4.0.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stack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`fork/marcschier/ai-model-management`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1.0.0 — Draft`, with namespace</a:t>
            </a:r>
          </a:p>
          <a:p>
            <a:r>
              <a:rPr sz="1100">
                <a:latin typeface="Segoe UI"/>
              </a:rPr>
              <a:t>`http://opcfoundation.org/UA/Generators/` and publication date 2026-07-01.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Draft 3.00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`Draft 3.00` and the status box says this is a revision of OPC 30270</a:t>
            </a:r>
          </a:p>
          <a:p>
            <a:r>
              <a:rPr sz="1100">
                <a:latin typeface="Segoe UI"/>
              </a:rPr>
              <a:t>to version 3.00, not compatible with v1.00 and not normative, official or endorsed. The</a:t>
            </a:r>
          </a:p>
          <a:p>
            <a:r>
              <a:rPr sz="1100">
                <a:latin typeface="Segoe UI"/>
              </a:rPr>
              <a:t>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GitHub reports PR #61 open</a:t>
            </a:r>
          </a:p>
          <a:p>
            <a:r>
              <a:rPr sz="1100">
                <a:latin typeface="Segoe UI"/>
              </a:rPr>
              <a:t>from `aas-opcua-v3`. Annex F says the Thing Description correspondence depends on the WoT</a:t>
            </a:r>
          </a:p>
          <a:p>
            <a:r>
              <a:rPr sz="1100">
                <a:latin typeface="Segoe UI"/>
              </a:rPr>
              <a:t>Binding and WoT Connectivity drafts as they stood at the document date, so review changes</a:t>
            </a:r>
          </a:p>
          <a:p>
            <a:r>
              <a:rPr sz="1100">
                <a:latin typeface="Segoe UI"/>
              </a:rPr>
              <a:t>there can invalidate that annex. The deck's front matter lists demo 7 as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Nine of the eighteen have no implementation at all.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Five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thirteen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five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Eighteen OPC UA drafts, and what they run on</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Working drafts from </a:t>
            </a:r>
            <a:r>
              <a:rPr sz="1800" b="0" i="0">
                <a:solidFill>
                  <a:srgbClr val="002B49"/>
                </a:solidFill>
                <a:latin typeface="Consolas"/>
              </a:rPr>
              <a:t>marcschier/opcua-drafts</a:t>
            </a:r>
            <a:r>
              <a:rPr sz="1900" b="0" i="0">
                <a:solidFill>
                  <a:srgbClr val="4A90C2"/>
                </a:solidFill>
                <a:latin typeface="Segoe UI"/>
              </a:rPr>
              <a:t>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Every draft here started the same way: something that ought to be one line of OPC UA turned out to need a bridge, a second port, or a private invention.</a:t>
            </a:r>
          </a:p>
          <a:p>
            <a:pPr>
              <a:spcBef>
                <a:spcPts val="1800"/>
              </a:spcBef>
            </a:pPr>
            <a:r>
              <a:rPr sz="1400" b="0" i="1">
                <a:solidFill>
                  <a:srgbClr val="6B7480"/>
                </a:solidFill>
                <a:latin typeface="Segoe UI"/>
              </a:rPr>
              <a:t>The eighteen documents are eighteen answers to that.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Eighteen working drafts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Data Channels, Arrow, Async Services, Avro, xRegistry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Vision, Robot Intent, AI Model Management, USD Artifact Registry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Generators (GenSets), Asset Administration Shell 3.0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five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0.3.0</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9 — walkthrough</a:t>
                      </a:r>
                    </a:p>
                  </a:txBody>
                  <a:tcPr marL="73152" marR="73152" marT="27432" marB="27432" anchor="ctr">
                    <a:solidFill>
                      <a:srgbClr val="FFFFFF"/>
                    </a:solidFill>
                  </a:tcPr>
                </a:tc>
              </a:tr>
              <a:tr h="238706">
                <a:tc>
                  <a:txBody>
                    <a:bodyPr/>
                    <a:lstStyle/>
                    <a:p>
                      <a:r>
                        <a:rPr sz="1100" b="0" i="0">
                          <a:solidFill>
                            <a:srgbClr val="333B44"/>
                          </a:solidFill>
                          <a:latin typeface="Segoe UI"/>
                        </a:rPr>
                        <a:t>Robot Intent</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2, 5</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0.4.0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Generators (GenSets)</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1.0.0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3.0.0 — open PR</a:t>
                      </a:r>
                    </a:p>
                  </a:txBody>
                  <a:tcPr marL="73152" marR="73152" marT="27432" marB="27432" anchor="ctr">
                    <a:solidFill>
                      <a:srgbClr val="F4F6F8"/>
                    </a:solidFill>
                  </a:tcPr>
                </a:tc>
                <a:tc>
                  <a:txBody>
                    <a:bodyPr/>
                    <a:lstStyle/>
                    <a:p>
                      <a:r>
                        <a:rPr sz="1100" b="0" i="0">
                          <a:solidFill>
                            <a:srgbClr val="333B44"/>
                          </a:solidFill>
                          <a:latin typeface="Segoe UI"/>
                        </a:rPr>
                        <a:t>7 — walkthrough</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1</a:t>
                      </a:r>
                    </a:p>
                  </a:txBody>
                  <a:tcPr marL="73152" marR="73152" marT="27432" marB="27432" anchor="ctr">
                    <a:solidFill>
                      <a:srgbClr val="FFFFFF"/>
                    </a:solidFill>
                  </a:tcPr>
                </a:tc>
                <a:tc>
                  <a:txBody>
                    <a:bodyPr/>
                    <a:lstStyle/>
                    <a:p>
                      <a:r>
                        <a:rPr sz="1100" b="0" i="0">
                          <a:solidFill>
                            <a:srgbClr val="333B44"/>
                          </a:solidFill>
                          <a:latin typeface="Segoe UI"/>
                        </a:rPr>
                        <a:t>OPC UA MCP server</a:t>
                      </a:r>
                    </a:p>
                  </a:txBody>
                  <a:tcPr marL="73152" marR="73152" marT="27432" marB="27432" anchor="ctr">
                    <a:solidFill>
                      <a:srgbClr val="FFFFFF"/>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2</a:t>
                      </a:r>
                    </a:p>
                  </a:txBody>
                  <a:tcPr marL="73152" marR="73152" marT="27432" marB="27432" anchor="ctr">
                    <a:solidFill>
                      <a:srgbClr val="F4F6F8"/>
                    </a:solidFill>
                  </a:tcPr>
                </a:tc>
                <a:tc>
                  <a:txBody>
                    <a:bodyPr/>
                    <a:lstStyle/>
                    <a:p>
                      <a:r>
                        <a:rPr sz="1100" b="0" i="0">
                          <a:solidFill>
                            <a:srgbClr val="333B44"/>
                          </a:solidFill>
                          <a:latin typeface="Segoe UI"/>
                        </a:rPr>
                        <a:t>Robot + GPOS/RSL + USD</a:t>
                      </a:r>
                    </a:p>
                  </a:txBody>
                  <a:tcPr marL="73152" marR="73152" marT="27432" marB="27432" anchor="ctr">
                    <a:solidFill>
                      <a:srgbClr val="F4F6F8"/>
                    </a:solidFill>
                  </a:tcPr>
                </a:tc>
                <a:tc>
                  <a:txBody>
                    <a:bodyPr/>
                    <a:lstStyle/>
                    <a:p>
                      <a:r>
                        <a:rPr sz="1100" b="0" i="0">
                          <a:solidFill>
                            <a:srgbClr val="333B44"/>
                          </a:solidFill>
                          <a:latin typeface="Segoe UI"/>
                        </a:rPr>
                        <a:t>Robot Intent, OpenUSD, Parts 210/211</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3</a:t>
                      </a:r>
                    </a:p>
                  </a:txBody>
                  <a:tcPr marL="73152" marR="73152" marT="27432" marB="27432" anchor="ctr">
                    <a:solidFill>
                      <a:srgbClr val="FFFFFF"/>
                    </a:solidFill>
                  </a:tcPr>
                </a:tc>
                <a:tc>
                  <a:txBody>
                    <a:bodyPr/>
                    <a:lstStyle/>
                    <a:p>
                      <a:r>
                        <a:rPr sz="1100" b="0" i="0">
                          <a:solidFill>
                            <a:srgbClr val="333B44"/>
                          </a:solidFill>
                          <a:latin typeface="Segoe UI"/>
                        </a:rPr>
                        <a:t>Pump USD and composition</a:t>
                      </a:r>
                    </a:p>
                  </a:txBody>
                  <a:tcPr marL="73152" marR="73152" marT="27432" marB="27432" anchor="ctr">
                    <a:solidFill>
                      <a:srgbClr val="FFFFFF"/>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4</a:t>
                      </a:r>
                    </a:p>
                  </a:txBody>
                  <a:tcPr marL="73152" marR="73152" marT="27432" marB="27432" anchor="ctr">
                    <a:solidFill>
                      <a:srgbClr val="F4F6F8"/>
                    </a:solidFill>
                  </a:tcPr>
                </a:tc>
                <a:tc>
                  <a:txBody>
                    <a:bodyPr/>
                    <a:lstStyle/>
                    <a:p>
                      <a:r>
                        <a:rPr sz="1100" b="0" i="0">
                          <a:solidFill>
                            <a:srgbClr val="333B44"/>
                          </a:solidFill>
                          <a:latin typeface="Segoe UI"/>
                        </a:rPr>
                        <a:t>Pumps via WoT Connectivity</a:t>
                      </a:r>
                    </a:p>
                  </a:txBody>
                  <a:tcPr marL="73152" marR="73152" marT="27432" marB="27432" anchor="ctr">
                    <a:solidFill>
                      <a:srgbClr val="F4F6F8"/>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5</a:t>
                      </a:r>
                    </a:p>
                  </a:txBody>
                  <a:tcPr marL="73152" marR="73152" marT="27432" marB="27432" anchor="ctr">
                    <a:solidFill>
                      <a:srgbClr val="FFFFFF"/>
                    </a:solidFill>
                  </a:tcPr>
                </a:tc>
                <a:tc>
                  <a:txBody>
                    <a:bodyPr/>
                    <a:lstStyle/>
                    <a:p>
                      <a:r>
                        <a:rPr sz="1100" b="0" i="0">
                          <a:solidFill>
                            <a:srgbClr val="333B44"/>
                          </a:solidFill>
                          <a:latin typeface="Segoe UI"/>
                        </a:rPr>
                        <a:t>Robot intent viewer plus MCP</a:t>
                      </a:r>
                    </a:p>
                  </a:txBody>
                  <a:tcPr marL="73152" marR="73152" marT="27432" marB="27432" anchor="ctr">
                    <a:solidFill>
                      <a:srgbClr val="FFFFFF"/>
                    </a:solidFill>
                  </a:tcPr>
                </a:tc>
                <a:tc>
                  <a:txBody>
                    <a:bodyPr/>
                    <a:lstStyle/>
                    <a:p>
                      <a:r>
                        <a:rPr sz="1100" b="0" i="0">
                          <a:solidFill>
                            <a:srgbClr val="333B44"/>
                          </a:solidFill>
                          <a:latin typeface="Segoe UI"/>
                        </a:rPr>
                        <a:t>Robot Intent lifecycle, live viewer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6</a:t>
                      </a:r>
                    </a:p>
                  </a:txBody>
                  <a:tcPr marL="73152" marR="73152" marT="27432" marB="27432" anchor="ctr">
                    <a:solidFill>
                      <a:srgbClr val="F4F6F8"/>
                    </a:solidFill>
                  </a:tcPr>
                </a:tc>
                <a:tc>
                  <a:txBody>
                    <a:bodyPr/>
                    <a:lstStyle/>
                    <a:p>
                      <a:r>
                        <a:rPr sz="1100" b="0" i="0">
                          <a:solidFill>
                            <a:srgbClr val="333B44"/>
                          </a:solidFill>
                          <a:latin typeface="Segoe UI"/>
                        </a:rPr>
                        <a:t>Server redundancy</a:t>
                      </a:r>
                    </a:p>
                  </a:txBody>
                  <a:tcPr marL="73152" marR="73152" marT="27432" marB="27432" anchor="ctr">
                    <a:solidFill>
                      <a:srgbClr val="F4F6F8"/>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7</a:t>
                      </a:r>
                    </a:p>
                  </a:txBody>
                  <a:tcPr marL="73152" marR="73152" marT="27432" marB="27432" anchor="ctr">
                    <a:solidFill>
                      <a:srgbClr val="FFFFFF"/>
                    </a:solidFill>
                  </a:tcPr>
                </a:tc>
                <a:tc>
                  <a:txBody>
                    <a:bodyPr/>
                    <a:lstStyle/>
                    <a:p>
                      <a:r>
                        <a:rPr sz="1100" b="0" i="0">
                          <a:solidFill>
                            <a:srgbClr val="333B44"/>
                          </a:solidFill>
                          <a:latin typeface="Segoe UI"/>
                        </a:rPr>
                        <a:t>AAS + WoT + xRegistry</a:t>
                      </a:r>
                    </a:p>
                  </a:txBody>
                  <a:tcPr marL="73152" marR="73152" marT="27432" marB="27432" anchor="ctr">
                    <a:solidFill>
                      <a:srgbClr val="FFFFFF"/>
                    </a:solidFill>
                  </a:tcPr>
                </a:tc>
                <a:tc>
                  <a:txBody>
                    <a:bodyPr/>
                    <a:lstStyle/>
                    <a:p>
                      <a:r>
                        <a:rPr sz="1100" b="0" i="0">
                          <a:solidFill>
                            <a:srgbClr val="333B44"/>
                          </a:solidFill>
                          <a:latin typeface="Segoe UI"/>
                        </a:rPr>
                        <a:t>One asset, three projections</a:t>
                      </a:r>
                    </a:p>
                  </a:txBody>
                  <a:tcPr marL="73152" marR="73152" marT="27432" marB="27432" anchor="ctr">
                    <a:solidFill>
                      <a:srgbClr val="FFFFFF"/>
                    </a:solidFill>
                  </a:tcPr>
                </a:tc>
                <a:tc>
                  <a:txBody>
                    <a:bodyPr/>
                    <a:lstStyle/>
                    <a:p>
                      <a:r>
                        <a:rPr sz="1100" b="0" i="0">
                          <a:solidFill>
                            <a:srgbClr val="333B44"/>
                          </a:solidFill>
                          <a:latin typeface="Segoe UI"/>
                        </a:rPr>
                        <a:t>Walkthrough</a:t>
                      </a:r>
                    </a:p>
                  </a:txBody>
                  <a:tcPr marL="73152" marR="73152" marT="27432" marB="27432" anchor="ctr">
                    <a:solidFill>
                      <a:srgbClr val="FFFFFF"/>
                    </a:solidFill>
                  </a:tcPr>
                </a:tc>
              </a:tr>
              <a:tr h="384048">
                <a:tc>
                  <a:txBody>
                    <a:bodyPr/>
                    <a:lstStyle/>
                    <a:p>
                      <a:r>
                        <a:rPr sz="1100" b="0" i="0">
                          <a:solidFill>
                            <a:srgbClr val="333B44"/>
                          </a:solidFill>
                          <a:latin typeface="Segoe UI"/>
                        </a:rPr>
                        <a:t>8</a:t>
                      </a:r>
                    </a:p>
                  </a:txBody>
                  <a:tcPr marL="73152" marR="73152" marT="27432" marB="27432" anchor="ctr">
                    <a:solidFill>
                      <a:srgbClr val="F4F6F8"/>
                    </a:solidFill>
                  </a:tcPr>
                </a:tc>
                <a:tc>
                  <a:txBody>
                    <a:bodyPr/>
                    <a:lstStyle/>
                    <a:p>
                      <a:r>
                        <a:rPr sz="1100" b="0" i="0">
                          <a:solidFill>
                            <a:srgbClr val="333B44"/>
                          </a:solidFill>
                          <a:latin typeface="Segoe UI"/>
                        </a:rPr>
                        <a:t>Media over Data Channels</a:t>
                      </a:r>
                    </a:p>
                  </a:txBody>
                  <a:tcPr marL="73152" marR="73152" marT="27432" marB="27432" anchor="ctr">
                    <a:solidFill>
                      <a:srgbClr val="F4F6F8"/>
                    </a:solidFill>
                  </a:tcPr>
                </a:tc>
                <a:tc>
                  <a:txBody>
                    <a:bodyPr/>
                    <a:lstStyle/>
                    <a:p>
                      <a:r>
                        <a:rPr sz="1100" b="0" i="0">
                          <a:solidFill>
                            <a:srgbClr val="333B44"/>
                          </a:solidFill>
                          <a:latin typeface="Segoe UI"/>
                        </a:rPr>
                        <a:t>Video on an open SecureChannel</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r h="384048">
                <a:tc>
                  <a:txBody>
                    <a:bodyPr/>
                    <a:lstStyle/>
                    <a:p>
                      <a:r>
                        <a:rPr sz="1100" b="0" i="0">
                          <a:solidFill>
                            <a:srgbClr val="333B44"/>
                          </a:solidFill>
                          <a:latin typeface="Segoe UI"/>
                        </a:rPr>
                        <a:t>9</a:t>
                      </a:r>
                    </a:p>
                  </a:txBody>
                  <a:tcPr marL="73152" marR="73152" marT="27432" marB="27432" anchor="ctr">
                    <a:solidFill>
                      <a:srgbClr val="FFFFFF"/>
                    </a:solidFill>
                  </a:tcPr>
                </a:tc>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Camera, inference, published result</a:t>
                      </a:r>
                    </a:p>
                  </a:txBody>
                  <a:tcPr marL="73152" marR="73152" marT="27432" marB="27432" anchor="ctr">
                    <a:solidFill>
                      <a:srgbClr val="FFFFFF"/>
                    </a:solidFill>
                  </a:tcPr>
                </a:tc>
                <a:tc>
                  <a:txBody>
                    <a:bodyPr/>
                    <a:lstStyle/>
                    <a:p>
                      <a:r>
                        <a:rPr sz="1100" b="0" i="0">
                          <a:solidFill>
                            <a:srgbClr val="333B44"/>
                          </a:solidFill>
                          <a:latin typeface="Segoe UI"/>
                        </a:rPr>
                        <a:t>Walkthrough</a:t>
                      </a:r>
                    </a:p>
                  </a:txBody>
                  <a:tcPr marL="73152" marR="73152" marT="27432" marB="27432" anchor="ctr">
                    <a:solidFill>
                      <a:srgbClr val="FFFFFF"/>
                    </a:solidFill>
                  </a:tcPr>
                </a:tc>
              </a:tr>
              <a:tr h="384048">
                <a:tc>
                  <a:txBody>
                    <a:bodyPr/>
                    <a:lstStyle/>
                    <a:p>
                      <a:r>
                        <a:rPr sz="1100" b="0" i="0">
                          <a:solidFill>
                            <a:srgbClr val="333B44"/>
                          </a:solidFill>
                          <a:latin typeface="Segoe UI"/>
                        </a:rPr>
                        <a:t>10</a:t>
                      </a:r>
                    </a:p>
                  </a:txBody>
                  <a:tcPr marL="73152" marR="73152" marT="27432" marB="27432" anchor="ctr">
                    <a:solidFill>
                      <a:srgbClr val="F4F6F8"/>
                    </a:solidFill>
                  </a:tcPr>
                </a:tc>
                <a:tc>
                  <a:txBody>
                    <a:bodyPr/>
                    <a:lstStyle/>
                    <a:p>
                      <a:r>
                        <a:rPr sz="1100" b="0" i="0">
                          <a:solidFill>
                            <a:srgbClr val="333B44"/>
                          </a:solidFill>
                          <a:latin typeface="Segoe UI"/>
                        </a:rPr>
                        <a:t>AI model loading</a:t>
                      </a:r>
                    </a:p>
                  </a:txBody>
                  <a:tcPr marL="73152" marR="73152" marT="27432" marB="27432" anchor="ctr">
                    <a:solidFill>
                      <a:srgbClr val="F4F6F8"/>
                    </a:solidFill>
                  </a:tcPr>
                </a:tc>
                <a:tc>
                  <a:txBody>
                    <a:bodyPr/>
                    <a:lstStyle/>
                    <a:p>
                      <a:r>
                        <a:rPr sz="1100" b="0" i="0">
                          <a:solidFill>
                            <a:srgbClr val="333B44"/>
                          </a:solidFill>
                          <a:latin typeface="Segoe UI"/>
                        </a:rPr>
                        <a:t>Model lifecycle, provenance, rollout</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000" b="0" i="0">
                          <a:solidFill>
                            <a:srgbClr val="002B49"/>
                          </a:solidFill>
                          <a:latin typeface="Consolas"/>
                        </a:rPr>
                        <a:t>Arrow*MessageDataType</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Rounded Rectangle 7"/>
          <p:cNvSpPr/>
          <p:nvPr/>
        </p:nvSpPr>
        <p:spPr>
          <a:xfrm>
            <a:off x="956302" y="2044598"/>
            <a:ext cx="2434521" cy="725667"/>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2044598"/>
            <a:ext cx="3065693"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259866" y="2044598"/>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1" name="Rounded Rectangle 10"/>
          <p:cNvSpPr/>
          <p:nvPr/>
        </p:nvSpPr>
        <p:spPr>
          <a:xfrm>
            <a:off x="8259866" y="3405225"/>
            <a:ext cx="2705023" cy="816376"/>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sp>
        <p:nvSpPr>
          <p:cNvPr id="12" name="Rounded Rectangle 11"/>
          <p:cNvSpPr/>
          <p:nvPr/>
        </p:nvSpPr>
        <p:spPr>
          <a:xfrm>
            <a:off x="4292498" y="3405225"/>
            <a:ext cx="3065693" cy="816376"/>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3" name="Rounded Rectangle 12"/>
          <p:cNvSpPr/>
          <p:nvPr/>
        </p:nvSpPr>
        <p:spPr>
          <a:xfrm>
            <a:off x="956302" y="3405225"/>
            <a:ext cx="2434521" cy="816376"/>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cxnSp>
        <p:nvCxnSpPr>
          <p:cNvPr id="14" name="Connector 13"/>
          <p:cNvCxnSpPr>
            <a:stCxn id="8" idx="3"/>
            <a:endCxn id="9" idx="1"/>
          </p:cNvCxnSpPr>
          <p:nvPr/>
        </p:nvCxnSpPr>
        <p:spPr>
          <a:xfrm>
            <a:off x="3390823" y="240743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22213" y="2261127"/>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3"/>
            <a:endCxn id="10" idx="1"/>
          </p:cNvCxnSpPr>
          <p:nvPr/>
        </p:nvCxnSpPr>
        <p:spPr>
          <a:xfrm>
            <a:off x="7358191" y="240743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41620" y="2261127"/>
            <a:ext cx="1554480" cy="274320"/>
          </a:xfrm>
          <a:prstGeom prst="rect">
            <a:avLst/>
          </a:prstGeom>
          <a:noFill/>
        </p:spPr>
        <p:txBody>
          <a:bodyPr wrap="square" lIns="0" rIns="0" tIns="0" bIns="0">
            <a:spAutoFit/>
          </a:bodyPr>
          <a:lstStyle/>
          <a:p>
            <a:pPr algn="ctr"/>
            <a:r>
              <a:rPr sz="900" b="0" i="1">
                <a:solidFill>
                  <a:srgbClr val="6B7480"/>
                </a:solidFill>
                <a:latin typeface="Segoe UI"/>
              </a:rPr>
              <a:t>types</a:t>
            </a:r>
          </a:p>
        </p:txBody>
      </p:sp>
      <p:cxnSp>
        <p:nvCxnSpPr>
          <p:cNvPr id="18" name="Connector 17"/>
          <p:cNvCxnSpPr>
            <a:stCxn id="9" idx="2"/>
            <a:endCxn id="13" idx="3"/>
          </p:cNvCxnSpPr>
          <p:nvPr/>
        </p:nvCxnSpPr>
        <p:spPr>
          <a:xfrm flipH="1">
            <a:off x="3390823" y="2770265"/>
            <a:ext cx="2434521" cy="104314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222213" y="2964118"/>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2" idx="3"/>
            <a:endCxn id="10" idx="1"/>
          </p:cNvCxnSpPr>
          <p:nvPr/>
        </p:nvCxnSpPr>
        <p:spPr>
          <a:xfrm flipV="1">
            <a:off x="7358191" y="2407431"/>
            <a:ext cx="901675" cy="140598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941620" y="296411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0" idx="2"/>
            <a:endCxn id="11" idx="0"/>
          </p:cNvCxnSpPr>
          <p:nvPr/>
        </p:nvCxnSpPr>
        <p:spPr>
          <a:xfrm>
            <a:off x="9612377" y="277026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400812"/>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100" b="0" i="0">
                <a:solidFill>
                  <a:srgbClr val="002B49"/>
                </a:solidFill>
                <a:latin typeface="Consolas"/>
              </a:rPr>
              <a:t>Cancel(42)</a:t>
            </a:r>
            <a:r>
              <a:rPr sz="1200" b="0" i="0">
                <a:solidFill>
                  <a:srgbClr val="333B44"/>
                </a:solidFill>
                <a:latin typeface="Segoe UI"/>
              </a:rPr>
              <a:t> abandons the answer; it does not promise to undo the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MessageSecurityMode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Under OPC Foundation review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D:\git\spec-drafts\core-specs\avro-encoding\OPC-UA-Avro-Encoding.md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Things and USD artifacts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3"/>
            <a:endCxn id="9" idx="1"/>
          </p:cNvCxnSpPr>
          <p:nvPr/>
        </p:nvCxnSpPr>
        <p:spPr>
          <a:xfrm flipH="1">
            <a:off x="1587474" y="2135305"/>
            <a:ext cx="6311722" cy="145133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740676" y="2714669"/>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cxnSp>
        <p:nvCxnSpPr>
          <p:cNvPr id="15" name="Connector 14"/>
          <p:cNvCxnSpPr>
            <a:stCxn id="8" idx="3"/>
            <a:endCxn id="10" idx="1"/>
          </p:cNvCxnSpPr>
          <p:nvPr/>
        </p:nvCxnSpPr>
        <p:spPr>
          <a:xfrm>
            <a:off x="7899196" y="2135305"/>
            <a:ext cx="0" cy="145133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96537" y="2714669"/>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cxnSp>
        <p:nvCxnSpPr>
          <p:cNvPr id="17" name="Connector 16"/>
          <p:cNvCxnSpPr>
            <a:stCxn id="9" idx="3"/>
            <a:endCxn id="11" idx="1"/>
          </p:cNvCxnSpPr>
          <p:nvPr/>
        </p:nvCxnSpPr>
        <p:spPr>
          <a:xfrm flipH="1">
            <a:off x="1587474" y="3586641"/>
            <a:ext cx="2705023" cy="136062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162745" y="4120650"/>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cxnSp>
        <p:nvCxnSpPr>
          <p:cNvPr id="19" name="Connector 18"/>
          <p:cNvCxnSpPr>
            <a:stCxn id="10" idx="3"/>
            <a:endCxn id="12" idx="1"/>
          </p:cNvCxnSpPr>
          <p:nvPr/>
        </p:nvCxnSpPr>
        <p:spPr>
          <a:xfrm flipH="1">
            <a:off x="7899196" y="3586641"/>
            <a:ext cx="2705023" cy="136062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74467" y="4120650"/>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D:\git\spec-drafts\core-specs\xregistry\OPC-UA-xRegistry.md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a:t>
                      </a:r>
                      <a:r>
                        <a:rPr sz="1100" b="0" i="0">
                          <a:solidFill>
                            <a:srgbClr val="333B44"/>
                          </a:solidFill>
                          <a:latin typeface="Segoe UI"/>
                        </a:rPr>
                        <a:t> or </a:t>
                      </a:r>
                      <a:r>
                        <a:rPr sz="1000" b="0" i="0">
                          <a:solidFill>
                            <a:srgbClr val="002B49"/>
                          </a:solidFill>
                          <a:latin typeface="Consolas"/>
                        </a:rPr>
                        <a:t>GetOrCreate*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sp>
        <p:nvSpPr>
          <p:cNvPr id="8" name="Rounded Rectangle 7"/>
          <p:cNvSpPr/>
          <p:nvPr/>
        </p:nvSpPr>
        <p:spPr>
          <a:xfrm>
            <a:off x="956302"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4472833" y="1742236"/>
            <a:ext cx="3246028" cy="604723"/>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956302" y="3102864"/>
            <a:ext cx="2705023"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4472833"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4614672"/>
            <a:ext cx="2885358"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2308813"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31573" y="2616402"/>
            <a:ext cx="1554480" cy="274320"/>
          </a:xfrm>
          <a:prstGeom prst="rect">
            <a:avLst/>
          </a:prstGeom>
          <a:noFill/>
        </p:spPr>
        <p:txBody>
          <a:bodyPr wrap="square" lIns="0" rIns="0" tIns="0" bIns="0">
            <a:spAutoFit/>
          </a:bodyPr>
          <a:lstStyle/>
          <a:p>
            <a:pPr algn="ctr"/>
            <a:r>
              <a:rPr sz="900" b="0" i="1">
                <a:solidFill>
                  <a:srgbClr val="6B7480"/>
                </a:solidFill>
                <a:latin typeface="Segoe UI"/>
              </a:rPr>
              <a:t>HasComponent</a:t>
            </a:r>
          </a:p>
        </p:txBody>
      </p:sp>
      <p:cxnSp>
        <p:nvCxnSpPr>
          <p:cNvPr id="16" name="Connector 15"/>
          <p:cNvCxnSpPr>
            <a:stCxn id="9" idx="2"/>
            <a:endCxn id="10" idx="0"/>
          </p:cNvCxnSpPr>
          <p:nvPr/>
        </p:nvCxnSpPr>
        <p:spPr>
          <a:xfrm flipH="1">
            <a:off x="2308813" y="2346959"/>
            <a:ext cx="3787034"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25090" y="2616402"/>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3661325" y="3480816"/>
            <a:ext cx="81150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3"/>
            <a:endCxn id="12" idx="1"/>
          </p:cNvCxnSpPr>
          <p:nvPr/>
        </p:nvCxnSpPr>
        <p:spPr>
          <a:xfrm>
            <a:off x="7358191" y="3480816"/>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25305" y="4062069"/>
            <a:ext cx="1554480" cy="274320"/>
          </a:xfrm>
          <a:prstGeom prst="rect">
            <a:avLst/>
          </a:prstGeom>
          <a:noFill/>
        </p:spPr>
        <p:txBody>
          <a:bodyPr wrap="square" lIns="0" rIns="0" tIns="0" bIns="0">
            <a:spAutoFit/>
          </a:bodyPr>
          <a:lstStyle/>
          <a:p>
            <a:pPr algn="ctr"/>
            <a:r>
              <a:rPr sz="900" b="0" i="1">
                <a:solidFill>
                  <a:srgbClr val="6B7480"/>
                </a:solidFill>
                <a:latin typeface="Segoe UI"/>
              </a:rPr>
              <a:t>Open/Read</a:t>
            </a:r>
          </a:p>
        </p:txBody>
      </p:sp>
      <p:sp>
        <p:nvSpPr>
          <p:cNvPr id="22" name="TextBox 21"/>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OpaqueNodeId(SchemaRegistryNs, message.SchemaId)</a:t>
            </a:r>
          </a:p>
          <a:p>
            <a:pPr>
              <a:lnSpc>
                <a:spcPct val="106000"/>
              </a:lnSpc>
              <a:spcAft>
                <a:spcPts val="0"/>
              </a:spcAft>
            </a:pPr>
            <a:r>
              <a:rPr sz="1500" b="0" i="0">
                <a:solidFill>
                  <a:srgbClr val="FFFFFF"/>
                </a:solidFill>
                <a:latin typeface="Consolas"/>
              </a:rPr>
              <a:t>    document = ReadValue(node)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message.SchemaReference</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41405" y="2616402"/>
            <a:ext cx="1554480" cy="274320"/>
          </a:xfrm>
          <a:prstGeom prst="rect">
            <a:avLst/>
          </a:prstGeom>
          <a:noFill/>
        </p:spPr>
        <p:txBody>
          <a:bodyPr wrap="square" lIns="0" rIns="0" tIns="0" bIns="0">
            <a:spAutoFit/>
          </a:bodyPr>
          <a:lstStyle/>
          <a:p>
            <a:pPr algn="ct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67296" y="3334512"/>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0.6.0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0.4.0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Rounded Rectangle 7"/>
          <p:cNvSpPr/>
          <p:nvPr/>
        </p:nvSpPr>
        <p:spPr>
          <a:xfrm>
            <a:off x="4472833" y="1591056"/>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046469" y="2535936"/>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3934358"/>
            <a:ext cx="2795191"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3934358"/>
            <a:ext cx="2795191" cy="75590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8350033" y="2535936"/>
            <a:ext cx="2795191"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3934358"/>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4698251" y="5181600"/>
            <a:ext cx="2795191" cy="604723"/>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444064" y="2157984"/>
            <a:ext cx="3651783" cy="3779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157984"/>
            <a:ext cx="3651781" cy="3779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a:off x="2444064" y="3291840"/>
            <a:ext cx="0" cy="64251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747628" y="3291840"/>
            <a:ext cx="0" cy="64251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3841660" y="2913888"/>
            <a:ext cx="856591" cy="139842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flipH="1">
            <a:off x="6095846" y="4690262"/>
            <a:ext cx="3651782"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Demo 9 is a walkthrough, not an implementation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only; no stack implementation yet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is the semantic contract for a future implementation, not running code today.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2006803"/>
            <a:ext cx="2164019"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55622"/>
            <a:ext cx="3336195" cy="83149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29635"/>
            <a:ext cx="3336195" cy="83149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29635"/>
            <a:ext cx="2479605" cy="83149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76585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530368" y="4765852"/>
            <a:ext cx="2705023" cy="680313"/>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71369"/>
            <a:ext cx="1397596" cy="5669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44754" y="2153411"/>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687116"/>
            <a:ext cx="0" cy="642519"/>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18606" y="2862071"/>
            <a:ext cx="1554480" cy="274320"/>
          </a:xfrm>
          <a:prstGeom prst="rect">
            <a:avLst/>
          </a:prstGeom>
          <a:noFill/>
        </p:spPr>
        <p:txBody>
          <a:bodyPr wrap="square" lIns="0" rIns="0" tIns="0" bIns="0">
            <a:spAutoFit/>
          </a:bodyPr>
          <a:lstStyle/>
          <a:p>
            <a:pPr algn="ct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4538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268477" y="3599078"/>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687116"/>
            <a:ext cx="3877201" cy="207873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0"/>
          </p:cNvCxnSpPr>
          <p:nvPr/>
        </p:nvCxnSpPr>
        <p:spPr>
          <a:xfrm>
            <a:off x="7763944" y="2271369"/>
            <a:ext cx="2118935" cy="249448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86323"/>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71</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Rounded Rectangle 7"/>
          <p:cNvSpPr/>
          <p:nvPr/>
        </p:nvSpPr>
        <p:spPr>
          <a:xfrm>
            <a:off x="866134" y="2006803"/>
            <a:ext cx="2164019"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292498" y="1855622"/>
            <a:ext cx="3426363" cy="83149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8710703" y="2006803"/>
            <a:ext cx="2524688"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4292498" y="3405225"/>
            <a:ext cx="3426363" cy="79369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66134" y="4728057"/>
            <a:ext cx="2705023" cy="680313"/>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8530368" y="4728057"/>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3030153" y="2271369"/>
            <a:ext cx="1262345" cy="5669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199671" y="2153411"/>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718861" y="2271369"/>
            <a:ext cx="991842" cy="5669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12123" y="2153411"/>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6005679" y="2687116"/>
            <a:ext cx="0" cy="718109"/>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228439" y="2890417"/>
            <a:ext cx="1554480" cy="274320"/>
          </a:xfrm>
          <a:prstGeom prst="rect">
            <a:avLst/>
          </a:prstGeom>
          <a:noFill/>
        </p:spPr>
        <p:txBody>
          <a:bodyPr wrap="square" lIns="0" rIns="0" tIns="0" bIns="0">
            <a:spAutoFit/>
          </a:bodyPr>
          <a:lstStyle/>
          <a:p>
            <a:pPr algn="ctr"/>
            <a:r>
              <a:rPr sz="900" b="0" i="1">
                <a:solidFill>
                  <a:srgbClr val="6B7480"/>
                </a:solidFill>
                <a:latin typeface="Segoe UI"/>
              </a:rPr>
              <a:t>remote</a:t>
            </a:r>
          </a:p>
        </p:txBody>
      </p:sp>
      <p:cxnSp>
        <p:nvCxnSpPr>
          <p:cNvPr id="20" name="Connector 19"/>
          <p:cNvCxnSpPr>
            <a:stCxn id="9" idx="1"/>
            <a:endCxn id="12" idx="0"/>
          </p:cNvCxnSpPr>
          <p:nvPr/>
        </p:nvCxnSpPr>
        <p:spPr>
          <a:xfrm flipH="1">
            <a:off x="2218645" y="2271369"/>
            <a:ext cx="2073853" cy="245668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334922" y="3523487"/>
            <a:ext cx="1554480" cy="274320"/>
          </a:xfrm>
          <a:prstGeom prst="rect">
            <a:avLst/>
          </a:prstGeom>
          <a:noFill/>
        </p:spPr>
        <p:txBody>
          <a:bodyPr wrap="square" lIns="0" rIns="0" tIns="0" bIns="0">
            <a:spAutoFit/>
          </a:bodyPr>
          <a:lstStyle/>
          <a:p>
            <a:pPr algn="ctr"/>
            <a:r>
              <a:rPr sz="900" b="0" i="1">
                <a:solidFill>
                  <a:srgbClr val="6B7480"/>
                </a:solidFill>
                <a:latin typeface="Segoe UI"/>
              </a:rPr>
              <a:t>large payload</a:t>
            </a:r>
          </a:p>
        </p:txBody>
      </p:sp>
      <p:cxnSp>
        <p:nvCxnSpPr>
          <p:cNvPr id="22" name="Connector 21"/>
          <p:cNvCxnSpPr>
            <a:stCxn id="9" idx="3"/>
            <a:endCxn id="13" idx="0"/>
          </p:cNvCxnSpPr>
          <p:nvPr/>
        </p:nvCxnSpPr>
        <p:spPr>
          <a:xfrm>
            <a:off x="7718861" y="2271369"/>
            <a:ext cx="2164018" cy="245668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167039" y="3523487"/>
            <a:ext cx="1554480" cy="274320"/>
          </a:xfrm>
          <a:prstGeom prst="rect">
            <a:avLst/>
          </a:prstGeom>
          <a:noFill/>
        </p:spPr>
        <p:txBody>
          <a:bodyPr wrap="square" lIns="0" rIns="0" tIns="0" bIns="0">
            <a:spAutoFit/>
          </a:bodyPr>
          <a:lstStyle/>
          <a:p>
            <a:pPr algn="ctr"/>
            <a:r>
              <a:rPr sz="900" b="0" i="1">
                <a:solidFill>
                  <a:srgbClr val="6B7480"/>
                </a:solidFill>
                <a:latin typeface="Segoe UI"/>
              </a:rPr>
              <a:t>answer later</a:t>
            </a:r>
          </a:p>
        </p:txBody>
      </p:sp>
      <p:sp>
        <p:nvSpPr>
          <p:cNvPr id="24" name="TextBox 23"/>
          <p:cNvSpPr txBox="1"/>
          <p:nvPr/>
        </p:nvSpPr>
        <p:spPr>
          <a:xfrm>
            <a:off x="685800" y="5786323"/>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branch </a:t>
            </a:r>
            <a:r>
              <a:rPr sz="1600" b="1" i="0">
                <a:solidFill>
                  <a:srgbClr val="002B49"/>
                </a:solidFill>
                <a:latin typeface="Consolas"/>
              </a:rPr>
              <a:t>marcschier/ai-model-management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samples\AiModelManagement\AiModelManagement.Bridge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samples\AiModelManagement\Model</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Web of Things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4382665" y="1742236"/>
            <a:ext cx="3426363" cy="604723"/>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866134" y="3102864"/>
            <a:ext cx="2705023"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4382665" y="2800502"/>
            <a:ext cx="2795191" cy="680313"/>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4382665" y="3858768"/>
            <a:ext cx="2795191" cy="680313"/>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8169699" y="3329635"/>
            <a:ext cx="2885358"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8169699" y="4917033"/>
            <a:ext cx="2885358"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441405" y="2616402"/>
            <a:ext cx="1554480" cy="274320"/>
          </a:xfrm>
          <a:prstGeom prst="rect">
            <a:avLst/>
          </a:prstGeom>
          <a:noFill/>
        </p:spPr>
        <p:txBody>
          <a:bodyPr wrap="square" lIns="0" rIns="0" tIns="0" bIns="0">
            <a:spAutoFit/>
          </a:bodyPr>
          <a:lstStyle/>
          <a:p>
            <a:pPr algn="ctr"/>
            <a:r>
              <a:rPr sz="900" b="0" i="1">
                <a:solidFill>
                  <a:srgbClr val="6B7480"/>
                </a:solidFill>
                <a:latin typeface="Segoe UI"/>
              </a:rPr>
              <a:t>HasComponent</a:t>
            </a:r>
          </a:p>
        </p:txBody>
      </p:sp>
      <p:cxnSp>
        <p:nvCxnSpPr>
          <p:cNvPr id="17" name="Connector 16"/>
          <p:cNvCxnSpPr>
            <a:stCxn id="9" idx="2"/>
            <a:endCxn id="10" idx="0"/>
          </p:cNvCxnSpPr>
          <p:nvPr/>
        </p:nvCxnSpPr>
        <p:spPr>
          <a:xfrm flipH="1">
            <a:off x="2218645" y="2346959"/>
            <a:ext cx="3877201"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380005" y="2616402"/>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3571157" y="3140658"/>
            <a:ext cx="811508" cy="34015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3571157" y="3480816"/>
            <a:ext cx="811508" cy="71810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7177856" y="3140658"/>
            <a:ext cx="991843" cy="566929"/>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7177856" y="3707587"/>
            <a:ext cx="991843" cy="49133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9612378" y="4085539"/>
            <a:ext cx="0" cy="83149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5138" y="4336084"/>
            <a:ext cx="1554480" cy="274320"/>
          </a:xfrm>
          <a:prstGeom prst="rect">
            <a:avLst/>
          </a:prstGeom>
          <a:noFill/>
        </p:spPr>
        <p:txBody>
          <a:bodyPr wrap="square" lIns="0" rIns="0" tIns="0" bIns="0">
            <a:spAutoFit/>
          </a:bodyPr>
          <a:lstStyle/>
          <a:p>
            <a:pPr algn="ctr"/>
            <a:r>
              <a:rPr sz="900" b="0" i="1">
                <a:solidFill>
                  <a:srgbClr val="6B7480"/>
                </a:solidFill>
                <a:latin typeface="Segoe UI"/>
              </a:rPr>
              <a:t>refresh</a:t>
            </a:r>
          </a:p>
        </p:txBody>
      </p:sp>
      <p:sp>
        <p:nvSpPr>
          <p:cNvPr id="25" name="TextBox 24"/>
          <p:cNvSpPr txBox="1"/>
          <p:nvPr/>
        </p:nvSpPr>
        <p:spPr>
          <a:xfrm>
            <a:off x="685800" y="5786323"/>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WoT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1.0.0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4" idx="1"/>
          </p:cNvCxnSpPr>
          <p:nvPr/>
        </p:nvCxnSpPr>
        <p:spPr>
          <a:xfrm>
            <a:off x="7538526" y="3480816"/>
            <a:ext cx="721340" cy="15496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 open PR,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PR:</a:t>
            </a:r>
            <a:r>
              <a:rPr sz="1700" b="1" i="0">
                <a:solidFill>
                  <a:srgbClr val="002B49"/>
                </a:solidFill>
                <a:latin typeface="Segoe UI"/>
              </a:rPr>
              <a:t> #61 on branch </a:t>
            </a:r>
            <a:r>
              <a:rPr sz="1600" b="1" i="0">
                <a:solidFill>
                  <a:srgbClr val="002B49"/>
                </a:solidFill>
                <a:latin typeface="Consolas"/>
              </a:rPr>
              <a:t>aas-opcua-v3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the MCP server, and server redundancy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nine with running code, five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Parts 4, 5 errata</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new Part</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cloud surface</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Robot Intent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000" b="0" i="0">
                          <a:solidFill>
                            <a:srgbClr val="002B49"/>
                          </a:solidFill>
                          <a:latin typeface="Consolas"/>
                        </a:rPr>
                        <a:t>Opc.Ua.Robotics</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0.4.0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Generators (GenSets)</a:t>
                      </a:r>
                    </a:p>
                  </a:txBody>
                  <a:tcPr marL="73152" marR="73152" marT="27432" marB="27432" anchor="ctr">
                    <a:solidFill>
                      <a:srgbClr val="FFFFFF"/>
                    </a:solidFill>
                  </a:tcPr>
                </a:tc>
                <a:tc>
                  <a:txBody>
                    <a:bodyPr/>
                    <a:lstStyle/>
                    <a:p>
                      <a:r>
                        <a:rPr sz="1100" b="0" i="0">
                          <a:solidFill>
                            <a:srgbClr val="333B44"/>
                          </a:solidFill>
                          <a:latin typeface="Segoe UI"/>
                        </a:rPr>
                        <a:t>1.0.0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4F6F8"/>
                    </a:solidFill>
                  </a:tcPr>
                </a:tc>
                <a:tc>
                  <a:txBody>
                    <a:bodyPr/>
                    <a:lstStyle/>
                    <a:p>
                      <a:r>
                        <a:rPr sz="1100" b="0" i="0">
                          <a:solidFill>
                            <a:srgbClr val="333B44"/>
                          </a:solidFill>
                          <a:latin typeface="Segoe UI"/>
                        </a:rPr>
                        <a:t>3.0.0</a:t>
                      </a:r>
                    </a:p>
                  </a:txBody>
                  <a:tcPr marL="73152" marR="73152" marT="27432" marB="27432" anchor="ctr">
                    <a:solidFill>
                      <a:srgbClr val="F4F6F8"/>
                    </a:solidFill>
                  </a:tcPr>
                </a:tc>
                <a:tc>
                  <a:txBody>
                    <a:bodyPr/>
                    <a:lstStyle/>
                    <a:p>
                      <a:r>
                        <a:rPr sz="1100" b="0" i="0">
                          <a:solidFill>
                            <a:srgbClr val="333B44"/>
                          </a:solidFill>
                          <a:latin typeface="Segoe UI"/>
                        </a:rPr>
                        <a:t>OPCF — OPC 30270 revision</a:t>
                      </a:r>
                    </a:p>
                  </a:txBody>
                  <a:tcPr marL="73152" marR="73152" marT="27432" marB="27432" anchor="ctr">
                    <a:solidFill>
                      <a:srgbClr val="F4F6F8"/>
                    </a:solidFill>
                  </a:tcPr>
                </a:tc>
                <a:tc>
                  <a:txBody>
                    <a:bodyPr/>
                    <a:lstStyle/>
                    <a:p>
                      <a:r>
                        <a:rPr sz="1100" b="0" i="0">
                          <a:solidFill>
                            <a:srgbClr val="333B44"/>
                          </a:solidFill>
                          <a:latin typeface="Segoe UI"/>
                        </a:rPr>
                        <a:t>Open pull request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Thirteen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