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is a scratch pad that grew into a coherent body of work: the</a:t>
            </a:r>
          </a:p>
          <a:p>
            <a:r>
              <a:rPr sz="1100">
                <a:latin typeface="Segoe UI"/>
              </a:rPr>
              <a:t>specifications were written against real gaps found while building the .NET Standard stack,</a:t>
            </a:r>
          </a:p>
          <a:p>
            <a:r>
              <a:rPr sz="1100">
                <a:latin typeface="Segoe UI"/>
              </a:rPr>
              <a:t>which is why most of them have running code behind them.</a:t>
            </a:r>
          </a:p>
          <a:p/>
          <a:p>
            <a:r>
              <a:rPr sz="1100">
                <a:latin typeface="Segoe UI"/>
              </a:rPr>
              <a:t>The six under OPC Foundation review — Avro, xRegistry, OpenUSD Parts 1 and 2, WoT Binding and</a:t>
            </a:r>
          </a:p>
          <a:p>
            <a:r>
              <a:rPr sz="1100">
                <a:latin typeface="Segoe UI"/>
              </a:rPr>
              <a:t>WoT Connectivity — moved to the members' repository while the review runs. They are covered</a:t>
            </a:r>
          </a:p>
          <a:p>
            <a:r>
              <a:rPr sz="1100">
                <a:latin typeface="Segoe UI"/>
              </a:rPr>
              <a:t>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nine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0.6.0 — Draft` with namespace `http://opcfoundation.org/UA/OpenUSD/` and publication date 2026-07-31.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0.4.0 — Draft`, namespace `http://opcfoundation.org/UA/OpenUSD/Scene/`, publication date 2026-07-29.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0.1.0, with provisional namespace URIs and</a:t>
            </a:r>
          </a:p>
          <a:p>
            <a:r>
              <a:rPr sz="1100">
                <a:latin typeface="Segoe UI"/>
              </a:rPr>
              <a:t>NodeIds. Clause 1.4 says the release covers sensors, media, coordinate frames and calibration,</a:t>
            </a:r>
          </a:p>
          <a:p>
            <a:r>
              <a:rPr sz="1100">
                <a:latin typeface="Segoe UI"/>
              </a:rPr>
              <a:t>inference pipelines, results and feedback, and that the NodeSet declares only the base OPC UA</a:t>
            </a:r>
          </a:p>
          <a:p>
            <a:r>
              <a:rPr sz="1100">
                <a:latin typeface="Segoe UI"/>
              </a:rPr>
              <a:t>namespace as a required model. The status slide should be explicit about the two deferrals in</a:t>
            </a:r>
          </a:p>
          <a:p>
            <a:r>
              <a:rPr sz="1100">
                <a:latin typeface="Segoe UI"/>
              </a:rPr>
              <a:t>clause 1.3: no portable inspection recipe format is defined, and interop with OPC 40100, OPC 40010,</a:t>
            </a:r>
          </a:p>
          <a:p>
            <a:r>
              <a:rPr sz="1100">
                <a:latin typeface="Segoe UI"/>
              </a:rPr>
              <a:t>DI, Machinery or OpenUSD remains optional profile material. For the deck, Demo 9 is only a</a:t>
            </a:r>
          </a:p>
          <a:p>
            <a:r>
              <a:rPr sz="1100">
                <a:latin typeface="Segoe UI"/>
              </a:rPr>
              <a:t>walkthrough of camera, inference and published result; there is no implementation to run yet.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There is a draft and generated NodeSet in the drafts repository, but no</a:t>
            </a:r>
          </a:p>
          <a:p>
            <a:r>
              <a:rPr sz="1100">
                <a:latin typeface="Segoe UI"/>
              </a:rPr>
              <a:t>stack project or sample Server. The walkthrough fills the gap left by existing OPC UA vision</a:t>
            </a:r>
          </a:p>
          <a:p>
            <a:r>
              <a:rPr sz="1100">
                <a:latin typeface="Segoe UI"/>
              </a:rPr>
              <a:t>work: media location, calibration, inference pipeline and result content are described with a</a:t>
            </a:r>
          </a:p>
          <a:p>
            <a:r>
              <a:rPr sz="1100">
                <a:latin typeface="Segoe UI"/>
              </a:rPr>
              <a:t>standard shape. Tie it to Data Channels carefully. Vision brokers media by reference by</a:t>
            </a:r>
          </a:p>
          <a:p>
            <a:r>
              <a:rPr sz="1100">
                <a:latin typeface="Segoe UI"/>
              </a:rPr>
              <a:t>default; a Data Channel is only an optional in-band path. Tie it to AI Model Management because</a:t>
            </a:r>
          </a:p>
          <a:p>
            <a:r>
              <a:rPr sz="1100">
                <a:latin typeface="Segoe UI"/>
              </a:rPr>
              <a:t>the result is not auditable unless 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0.1.0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The implementation is reflected in the stack 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0.4.0.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`fork/marcschier/ai-model-management`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1.0.0 — Draft`, with namespace</a:t>
            </a:r>
          </a:p>
          <a:p>
            <a:r>
              <a:rPr sz="1100">
                <a:latin typeface="Segoe UI"/>
              </a:rPr>
              <a:t>`http://opcfoundation.org/UA/Generators/` and publication date 2026-07-01.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Draft 3.00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`Draft 3.00` and the status box says this is a revision of OPC 30270</a:t>
            </a:r>
          </a:p>
          <a:p>
            <a:r>
              <a:rPr sz="1100">
                <a:latin typeface="Segoe UI"/>
              </a:rPr>
              <a:t>to version 3.00, not compatible with v1.00 and not normative, official or endorsed. The</a:t>
            </a:r>
          </a:p>
          <a:p>
            <a:r>
              <a:rPr sz="1100">
                <a:latin typeface="Segoe UI"/>
              </a:rPr>
              <a:t>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GitHub reports PR #61 open</a:t>
            </a:r>
          </a:p>
          <a:p>
            <a:r>
              <a:rPr sz="1100">
                <a:latin typeface="Segoe UI"/>
              </a:rPr>
              <a:t>from `aas-opcua-v3`. Annex F says the Thing Description correspondence depends on the WoT</a:t>
            </a:r>
          </a:p>
          <a:p>
            <a:r>
              <a:rPr sz="1100">
                <a:latin typeface="Segoe UI"/>
              </a:rPr>
              <a:t>Binding and WoT Connectivity drafts as they stood at the document date, so review changes</a:t>
            </a:r>
          </a:p>
          <a:p>
            <a:r>
              <a:rPr sz="1100">
                <a:latin typeface="Segoe UI"/>
              </a:rPr>
              <a:t>there can invalidate that annex. The deck's front matter lists demo 7 as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Nine of the eighteen have no implementation at all.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Six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twelve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six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Eighteen OPC UA drafts, and what they run on</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Working drafts from </a:t>
            </a:r>
            <a:r>
              <a:rPr sz="1800" b="0" i="0">
                <a:solidFill>
                  <a:srgbClr val="002B49"/>
                </a:solidFill>
                <a:latin typeface="Consolas"/>
              </a:rPr>
              <a:t>marcschier/opcua-drafts</a:t>
            </a:r>
            <a:r>
              <a:rPr sz="1900" b="0" i="0">
                <a:solidFill>
                  <a:srgbClr val="4A90C2"/>
                </a:solidFill>
                <a:latin typeface="Segoe UI"/>
              </a:rPr>
              <a:t>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Every draft here started the same way: something that ought to be one line of OPC UA turned out to need a bridge, a second port, or a private invention.</a:t>
            </a:r>
          </a:p>
          <a:p>
            <a:pPr>
              <a:spcBef>
                <a:spcPts val="1800"/>
              </a:spcBef>
            </a:pPr>
            <a:r>
              <a:rPr sz="1400" b="0" i="1">
                <a:solidFill>
                  <a:srgbClr val="6B7480"/>
                </a:solidFill>
                <a:latin typeface="Segoe UI"/>
              </a:rPr>
              <a:t>The eighteen documents are eighteen answers to that.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Eighteen working drafts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Data Channels, Arrow, Async Services, Avro, xRegistry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Vision, Robot Intent, AI Model Management, USD Artifact Registry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Generators (GenSets), Asset Administration Shell 3.0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six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9 — walkthrough</a:t>
                      </a:r>
                    </a:p>
                  </a:txBody>
                  <a:tcPr marL="73152" marR="73152" marT="27432" marB="27432" anchor="ctr">
                    <a:solidFill>
                      <a:srgbClr val="FFFFFF"/>
                    </a:solidFill>
                  </a:tcPr>
                </a:tc>
              </a:tr>
              <a:tr h="238706">
                <a:tc>
                  <a:txBody>
                    <a:bodyPr/>
                    <a:lstStyle/>
                    <a:p>
                      <a:r>
                        <a:rPr sz="1100" b="0" i="0">
                          <a:solidFill>
                            <a:srgbClr val="333B44"/>
                          </a:solidFill>
                          <a:latin typeface="Segoe UI"/>
                        </a:rPr>
                        <a:t>Robot Intent</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2, 5</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0.4.0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Generators (GenSets)</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1.0.0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3.0.0 — open PR</a:t>
                      </a:r>
                    </a:p>
                  </a:txBody>
                  <a:tcPr marL="73152" marR="73152" marT="27432" marB="27432" anchor="ctr">
                    <a:solidFill>
                      <a:srgbClr val="F4F6F8"/>
                    </a:solidFill>
                  </a:tcPr>
                </a:tc>
                <a:tc>
                  <a:txBody>
                    <a:bodyPr/>
                    <a:lstStyle/>
                    <a:p>
                      <a:r>
                        <a:rPr sz="1100" b="0" i="0">
                          <a:solidFill>
                            <a:srgbClr val="333B44"/>
                          </a:solidFill>
                          <a:latin typeface="Segoe UI"/>
                        </a:rPr>
                        <a:t>7 — walkthrough</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1</a:t>
                      </a:r>
                    </a:p>
                  </a:txBody>
                  <a:tcPr marL="73152" marR="73152" marT="27432" marB="27432" anchor="ctr">
                    <a:solidFill>
                      <a:srgbClr val="FFFFFF"/>
                    </a:solidFill>
                  </a:tcPr>
                </a:tc>
                <a:tc>
                  <a:txBody>
                    <a:bodyPr/>
                    <a:lstStyle/>
                    <a:p>
                      <a:r>
                        <a:rPr sz="1100" b="0" i="0">
                          <a:solidFill>
                            <a:srgbClr val="333B44"/>
                          </a:solidFill>
                          <a:latin typeface="Segoe UI"/>
                        </a:rPr>
                        <a:t>OPC UA MCP server</a:t>
                      </a:r>
                    </a:p>
                  </a:txBody>
                  <a:tcPr marL="73152" marR="73152" marT="27432" marB="27432" anchor="ctr">
                    <a:solidFill>
                      <a:srgbClr val="FFFFFF"/>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2</a:t>
                      </a:r>
                    </a:p>
                  </a:txBody>
                  <a:tcPr marL="73152" marR="73152" marT="27432" marB="27432" anchor="ctr">
                    <a:solidFill>
                      <a:srgbClr val="F4F6F8"/>
                    </a:solidFill>
                  </a:tcPr>
                </a:tc>
                <a:tc>
                  <a:txBody>
                    <a:bodyPr/>
                    <a:lstStyle/>
                    <a:p>
                      <a:r>
                        <a:rPr sz="1100" b="0" i="0">
                          <a:solidFill>
                            <a:srgbClr val="333B44"/>
                          </a:solidFill>
                          <a:latin typeface="Segoe UI"/>
                        </a:rPr>
                        <a:t>Robot + GPOS/RSL + USD</a:t>
                      </a:r>
                    </a:p>
                  </a:txBody>
                  <a:tcPr marL="73152" marR="73152" marT="27432" marB="27432" anchor="ctr">
                    <a:solidFill>
                      <a:srgbClr val="F4F6F8"/>
                    </a:solidFill>
                  </a:tcPr>
                </a:tc>
                <a:tc>
                  <a:txBody>
                    <a:bodyPr/>
                    <a:lstStyle/>
                    <a:p>
                      <a:r>
                        <a:rPr sz="1100" b="0" i="0">
                          <a:solidFill>
                            <a:srgbClr val="333B44"/>
                          </a:solidFill>
                          <a:latin typeface="Segoe UI"/>
                        </a:rPr>
                        <a:t>Robot Intent, OpenUSD, Parts 210/211</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3</a:t>
                      </a:r>
                    </a:p>
                  </a:txBody>
                  <a:tcPr marL="73152" marR="73152" marT="27432" marB="27432" anchor="ctr">
                    <a:solidFill>
                      <a:srgbClr val="FFFFFF"/>
                    </a:solidFill>
                  </a:tcPr>
                </a:tc>
                <a:tc>
                  <a:txBody>
                    <a:bodyPr/>
                    <a:lstStyle/>
                    <a:p>
                      <a:r>
                        <a:rPr sz="1100" b="0" i="0">
                          <a:solidFill>
                            <a:srgbClr val="333B44"/>
                          </a:solidFill>
                          <a:latin typeface="Segoe UI"/>
                        </a:rPr>
                        <a:t>Pump USD and composition</a:t>
                      </a:r>
                    </a:p>
                  </a:txBody>
                  <a:tcPr marL="73152" marR="73152" marT="27432" marB="27432" anchor="ctr">
                    <a:solidFill>
                      <a:srgbClr val="FFFFFF"/>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4</a:t>
                      </a:r>
                    </a:p>
                  </a:txBody>
                  <a:tcPr marL="73152" marR="73152" marT="27432" marB="27432" anchor="ctr">
                    <a:solidFill>
                      <a:srgbClr val="F4F6F8"/>
                    </a:solidFill>
                  </a:tcPr>
                </a:tc>
                <a:tc>
                  <a:txBody>
                    <a:bodyPr/>
                    <a:lstStyle/>
                    <a:p>
                      <a:r>
                        <a:rPr sz="1100" b="0" i="0">
                          <a:solidFill>
                            <a:srgbClr val="333B44"/>
                          </a:solidFill>
                          <a:latin typeface="Segoe UI"/>
                        </a:rPr>
                        <a:t>Pumps via WoT Connectivity</a:t>
                      </a:r>
                    </a:p>
                  </a:txBody>
                  <a:tcPr marL="73152" marR="73152" marT="27432" marB="27432" anchor="ctr">
                    <a:solidFill>
                      <a:srgbClr val="F4F6F8"/>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5</a:t>
                      </a:r>
                    </a:p>
                  </a:txBody>
                  <a:tcPr marL="73152" marR="73152" marT="27432" marB="27432" anchor="ctr">
                    <a:solidFill>
                      <a:srgbClr val="FFFFFF"/>
                    </a:solidFill>
                  </a:tcPr>
                </a:tc>
                <a:tc>
                  <a:txBody>
                    <a:bodyPr/>
                    <a:lstStyle/>
                    <a:p>
                      <a:r>
                        <a:rPr sz="1100" b="0" i="0">
                          <a:solidFill>
                            <a:srgbClr val="333B44"/>
                          </a:solidFill>
                          <a:latin typeface="Segoe UI"/>
                        </a:rPr>
                        <a:t>Robot intent viewer plus MCP</a:t>
                      </a:r>
                    </a:p>
                  </a:txBody>
                  <a:tcPr marL="73152" marR="73152" marT="27432" marB="27432" anchor="ctr">
                    <a:solidFill>
                      <a:srgbClr val="FFFFFF"/>
                    </a:solidFill>
                  </a:tcPr>
                </a:tc>
                <a:tc>
                  <a:txBody>
                    <a:bodyPr/>
                    <a:lstStyle/>
                    <a:p>
                      <a:r>
                        <a:rPr sz="1100" b="0" i="0">
                          <a:solidFill>
                            <a:srgbClr val="333B44"/>
                          </a:solidFill>
                          <a:latin typeface="Segoe UI"/>
                        </a:rPr>
                        <a:t>Robot Intent lifecycle, live viewer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6</a:t>
                      </a:r>
                    </a:p>
                  </a:txBody>
                  <a:tcPr marL="73152" marR="73152" marT="27432" marB="27432" anchor="ctr">
                    <a:solidFill>
                      <a:srgbClr val="F4F6F8"/>
                    </a:solidFill>
                  </a:tcPr>
                </a:tc>
                <a:tc>
                  <a:txBody>
                    <a:bodyPr/>
                    <a:lstStyle/>
                    <a:p>
                      <a:r>
                        <a:rPr sz="1100" b="0" i="0">
                          <a:solidFill>
                            <a:srgbClr val="333B44"/>
                          </a:solidFill>
                          <a:latin typeface="Segoe UI"/>
                        </a:rPr>
                        <a:t>Server redundancy</a:t>
                      </a:r>
                    </a:p>
                  </a:txBody>
                  <a:tcPr marL="73152" marR="73152" marT="27432" marB="27432" anchor="ctr">
                    <a:solidFill>
                      <a:srgbClr val="F4F6F8"/>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7</a:t>
                      </a:r>
                    </a:p>
                  </a:txBody>
                  <a:tcPr marL="73152" marR="73152" marT="27432" marB="27432" anchor="ctr">
                    <a:solidFill>
                      <a:srgbClr val="FFFFFF"/>
                    </a:solidFill>
                  </a:tcPr>
                </a:tc>
                <a:tc>
                  <a:txBody>
                    <a:bodyPr/>
                    <a:lstStyle/>
                    <a:p>
                      <a:r>
                        <a:rPr sz="1100" b="0" i="0">
                          <a:solidFill>
                            <a:srgbClr val="333B44"/>
                          </a:solidFill>
                          <a:latin typeface="Segoe UI"/>
                        </a:rPr>
                        <a:t>AAS + WoT + xRegistry</a:t>
                      </a:r>
                    </a:p>
                  </a:txBody>
                  <a:tcPr marL="73152" marR="73152" marT="27432" marB="27432" anchor="ctr">
                    <a:solidFill>
                      <a:srgbClr val="FFFFFF"/>
                    </a:solidFill>
                  </a:tcPr>
                </a:tc>
                <a:tc>
                  <a:txBody>
                    <a:bodyPr/>
                    <a:lstStyle/>
                    <a:p>
                      <a:r>
                        <a:rPr sz="1100" b="0" i="0">
                          <a:solidFill>
                            <a:srgbClr val="333B44"/>
                          </a:solidFill>
                          <a:latin typeface="Segoe UI"/>
                        </a:rPr>
                        <a:t>One asset, three projections</a:t>
                      </a:r>
                    </a:p>
                  </a:txBody>
                  <a:tcPr marL="73152" marR="73152" marT="27432" marB="27432" anchor="ctr">
                    <a:solidFill>
                      <a:srgbClr val="FFFFFF"/>
                    </a:solidFill>
                  </a:tcPr>
                </a:tc>
                <a:tc>
                  <a:txBody>
                    <a:bodyPr/>
                    <a:lstStyle/>
                    <a:p>
                      <a:r>
                        <a:rPr sz="1100" b="0" i="0">
                          <a:solidFill>
                            <a:srgbClr val="333B44"/>
                          </a:solidFill>
                          <a:latin typeface="Segoe UI"/>
                        </a:rPr>
                        <a:t>Walkthrough</a:t>
                      </a:r>
                    </a:p>
                  </a:txBody>
                  <a:tcPr marL="73152" marR="73152" marT="27432" marB="27432" anchor="ctr">
                    <a:solidFill>
                      <a:srgbClr val="FFFFFF"/>
                    </a:solidFill>
                  </a:tcPr>
                </a:tc>
              </a:tr>
              <a:tr h="384048">
                <a:tc>
                  <a:txBody>
                    <a:bodyPr/>
                    <a:lstStyle/>
                    <a:p>
                      <a:r>
                        <a:rPr sz="1100" b="0" i="0">
                          <a:solidFill>
                            <a:srgbClr val="333B44"/>
                          </a:solidFill>
                          <a:latin typeface="Segoe UI"/>
                        </a:rPr>
                        <a:t>8</a:t>
                      </a:r>
                    </a:p>
                  </a:txBody>
                  <a:tcPr marL="73152" marR="73152" marT="27432" marB="27432" anchor="ctr">
                    <a:solidFill>
                      <a:srgbClr val="F4F6F8"/>
                    </a:solidFill>
                  </a:tcPr>
                </a:tc>
                <a:tc>
                  <a:txBody>
                    <a:bodyPr/>
                    <a:lstStyle/>
                    <a:p>
                      <a:r>
                        <a:rPr sz="1100" b="0" i="0">
                          <a:solidFill>
                            <a:srgbClr val="333B44"/>
                          </a:solidFill>
                          <a:latin typeface="Segoe UI"/>
                        </a:rPr>
                        <a:t>Media over Data Channels</a:t>
                      </a:r>
                    </a:p>
                  </a:txBody>
                  <a:tcPr marL="73152" marR="73152" marT="27432" marB="27432" anchor="ctr">
                    <a:solidFill>
                      <a:srgbClr val="F4F6F8"/>
                    </a:solidFill>
                  </a:tcPr>
                </a:tc>
                <a:tc>
                  <a:txBody>
                    <a:bodyPr/>
                    <a:lstStyle/>
                    <a:p>
                      <a:r>
                        <a:rPr sz="1100" b="0" i="0">
                          <a:solidFill>
                            <a:srgbClr val="333B44"/>
                          </a:solidFill>
                          <a:latin typeface="Segoe UI"/>
                        </a:rPr>
                        <a:t>Video on an open SecureChannel</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r h="384048">
                <a:tc>
                  <a:txBody>
                    <a:bodyPr/>
                    <a:lstStyle/>
                    <a:p>
                      <a:r>
                        <a:rPr sz="1100" b="0" i="0">
                          <a:solidFill>
                            <a:srgbClr val="333B44"/>
                          </a:solidFill>
                          <a:latin typeface="Segoe UI"/>
                        </a:rPr>
                        <a:t>9</a:t>
                      </a:r>
                    </a:p>
                  </a:txBody>
                  <a:tcPr marL="73152" marR="73152" marT="27432" marB="27432" anchor="ctr">
                    <a:solidFill>
                      <a:srgbClr val="FFFFFF"/>
                    </a:solidFill>
                  </a:tcPr>
                </a:tc>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Camera, inference, published result</a:t>
                      </a:r>
                    </a:p>
                  </a:txBody>
                  <a:tcPr marL="73152" marR="73152" marT="27432" marB="27432" anchor="ctr">
                    <a:solidFill>
                      <a:srgbClr val="FFFFFF"/>
                    </a:solidFill>
                  </a:tcPr>
                </a:tc>
                <a:tc>
                  <a:txBody>
                    <a:bodyPr/>
                    <a:lstStyle/>
                    <a:p>
                      <a:r>
                        <a:rPr sz="1100" b="0" i="0">
                          <a:solidFill>
                            <a:srgbClr val="333B44"/>
                          </a:solidFill>
                          <a:latin typeface="Segoe UI"/>
                        </a:rPr>
                        <a:t>Walkthrough</a:t>
                      </a:r>
                    </a:p>
                  </a:txBody>
                  <a:tcPr marL="73152" marR="73152" marT="27432" marB="27432" anchor="ctr">
                    <a:solidFill>
                      <a:srgbClr val="FFFFFF"/>
                    </a:solidFill>
                  </a:tcPr>
                </a:tc>
              </a:tr>
              <a:tr h="384048">
                <a:tc>
                  <a:txBody>
                    <a:bodyPr/>
                    <a:lstStyle/>
                    <a:p>
                      <a:r>
                        <a:rPr sz="1100" b="0" i="0">
                          <a:solidFill>
                            <a:srgbClr val="333B44"/>
                          </a:solidFill>
                          <a:latin typeface="Segoe UI"/>
                        </a:rPr>
                        <a:t>10</a:t>
                      </a:r>
                    </a:p>
                  </a:txBody>
                  <a:tcPr marL="73152" marR="73152" marT="27432" marB="27432" anchor="ctr">
                    <a:solidFill>
                      <a:srgbClr val="F4F6F8"/>
                    </a:solidFill>
                  </a:tcPr>
                </a:tc>
                <a:tc>
                  <a:txBody>
                    <a:bodyPr/>
                    <a:lstStyle/>
                    <a:p>
                      <a:r>
                        <a:rPr sz="1100" b="0" i="0">
                          <a:solidFill>
                            <a:srgbClr val="333B44"/>
                          </a:solidFill>
                          <a:latin typeface="Segoe UI"/>
                        </a:rPr>
                        <a:t>AI model loading</a:t>
                      </a:r>
                    </a:p>
                  </a:txBody>
                  <a:tcPr marL="73152" marR="73152" marT="27432" marB="27432" anchor="ctr">
                    <a:solidFill>
                      <a:srgbClr val="F4F6F8"/>
                    </a:solidFill>
                  </a:tcPr>
                </a:tc>
                <a:tc>
                  <a:txBody>
                    <a:bodyPr/>
                    <a:lstStyle/>
                    <a:p>
                      <a:r>
                        <a:rPr sz="1100" b="0" i="0">
                          <a:solidFill>
                            <a:srgbClr val="333B44"/>
                          </a:solidFill>
                          <a:latin typeface="Segoe UI"/>
                        </a:rPr>
                        <a:t>Model lifecycle, provenance, rollout</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Rounded Rectangle 7"/>
          <p:cNvSpPr/>
          <p:nvPr/>
        </p:nvSpPr>
        <p:spPr>
          <a:xfrm>
            <a:off x="956302" y="1931212"/>
            <a:ext cx="2434521"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1931212"/>
            <a:ext cx="3065693" cy="64251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440201" y="1931212"/>
            <a:ext cx="2434521"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sp>
        <p:nvSpPr>
          <p:cNvPr id="11" name="Rounded Rectangle 10"/>
          <p:cNvSpPr/>
          <p:nvPr/>
        </p:nvSpPr>
        <p:spPr>
          <a:xfrm>
            <a:off x="956302" y="3745382"/>
            <a:ext cx="3065693" cy="71810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2" name="Rounded Rectangle 11"/>
          <p:cNvSpPr/>
          <p:nvPr/>
        </p:nvSpPr>
        <p:spPr>
          <a:xfrm>
            <a:off x="4472833" y="3745382"/>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3" name="Rounded Rectangle 12"/>
          <p:cNvSpPr/>
          <p:nvPr/>
        </p:nvSpPr>
        <p:spPr>
          <a:xfrm>
            <a:off x="4472833" y="4954828"/>
            <a:ext cx="2705023" cy="64251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cxnSp>
        <p:nvCxnSpPr>
          <p:cNvPr id="14" name="Connector 13"/>
          <p:cNvCxnSpPr>
            <a:stCxn id="8" idx="3"/>
            <a:endCxn id="9" idx="1"/>
          </p:cNvCxnSpPr>
          <p:nvPr/>
        </p:nvCxnSpPr>
        <p:spPr>
          <a:xfrm>
            <a:off x="3390823" y="225247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64420" y="1868423"/>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2"/>
            <a:endCxn id="12" idx="0"/>
          </p:cNvCxnSpPr>
          <p:nvPr/>
        </p:nvCxnSpPr>
        <p:spPr>
          <a:xfrm>
            <a:off x="5825344" y="2573730"/>
            <a:ext cx="0" cy="11716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61136" y="3022396"/>
            <a:ext cx="1554480" cy="274320"/>
          </a:xfrm>
          <a:prstGeom prst="rect">
            <a:avLst/>
          </a:prstGeom>
          <a:noFill/>
        </p:spPr>
        <p:txBody>
          <a:bodyPr wrap="square" lIns="0" rIns="0" tIns="0" bIns="0">
            <a:spAutoFit/>
          </a:bodyPr>
          <a:lstStyle/>
          <a:p>
            <a:pPr algn="r"/>
            <a:r>
              <a:rPr sz="900" b="0" i="1">
                <a:solidFill>
                  <a:srgbClr val="6B7480"/>
                </a:solidFill>
                <a:latin typeface="Segoe UI"/>
              </a:rPr>
              <a:t>types</a:t>
            </a:r>
          </a:p>
        </p:txBody>
      </p:sp>
      <p:cxnSp>
        <p:nvCxnSpPr>
          <p:cNvPr id="18" name="Connector 17"/>
          <p:cNvCxnSpPr>
            <a:stCxn id="9" idx="3"/>
            <a:endCxn id="10" idx="1"/>
          </p:cNvCxnSpPr>
          <p:nvPr/>
        </p:nvCxnSpPr>
        <p:spPr>
          <a:xfrm>
            <a:off x="7358191" y="2252471"/>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21956" y="1868423"/>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1" idx="3"/>
            <a:endCxn id="12" idx="1"/>
          </p:cNvCxnSpPr>
          <p:nvPr/>
        </p:nvCxnSpPr>
        <p:spPr>
          <a:xfrm>
            <a:off x="4021995" y="4104436"/>
            <a:ext cx="45083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70174" y="372038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2" idx="2"/>
            <a:endCxn id="13" idx="0"/>
          </p:cNvCxnSpPr>
          <p:nvPr/>
        </p:nvCxnSpPr>
        <p:spPr>
          <a:xfrm>
            <a:off x="5825344" y="4463490"/>
            <a:ext cx="0"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861913"/>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2"/>
            <a:endCxn id="9" idx="0"/>
          </p:cNvCxnSpPr>
          <p:nvPr/>
        </p:nvCxnSpPr>
        <p:spPr>
          <a:xfrm flipH="1">
            <a:off x="2939985" y="2498139"/>
            <a:ext cx="3155862"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75777"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5" name="Connector 14"/>
          <p:cNvCxnSpPr>
            <a:stCxn id="8" idx="2"/>
            <a:endCxn id="10" idx="0"/>
          </p:cNvCxnSpPr>
          <p:nvPr/>
        </p:nvCxnSpPr>
        <p:spPr>
          <a:xfrm>
            <a:off x="6095847" y="2498139"/>
            <a:ext cx="3155860"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587499"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7" name="Connector 16"/>
          <p:cNvCxnSpPr>
            <a:stCxn id="9" idx="2"/>
            <a:endCxn id="11" idx="0"/>
          </p:cNvCxnSpPr>
          <p:nvPr/>
        </p:nvCxnSpPr>
        <p:spPr>
          <a:xfrm>
            <a:off x="2939985"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777"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9" name="Connector 18"/>
          <p:cNvCxnSpPr>
            <a:stCxn id="10" idx="2"/>
            <a:endCxn id="12" idx="0"/>
          </p:cNvCxnSpPr>
          <p:nvPr/>
        </p:nvCxnSpPr>
        <p:spPr>
          <a:xfrm>
            <a:off x="9251707"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87499"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sp>
        <p:nvSpPr>
          <p:cNvPr id="8" name="Rounded Rectangle 7"/>
          <p:cNvSpPr/>
          <p:nvPr/>
        </p:nvSpPr>
        <p:spPr>
          <a:xfrm>
            <a:off x="4472833" y="1647748"/>
            <a:ext cx="2705023" cy="48188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956302" y="2809951"/>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4472833" y="2809951"/>
            <a:ext cx="2705023" cy="56692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8259866" y="2809951"/>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4085539"/>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5106009"/>
            <a:ext cx="2885358" cy="48188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5825344" y="2129636"/>
            <a:ext cx="0" cy="68031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61136" y="2332633"/>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6" name="Connector 15"/>
          <p:cNvCxnSpPr>
            <a:stCxn id="9" idx="3"/>
            <a:endCxn id="10" idx="1"/>
          </p:cNvCxnSpPr>
          <p:nvPr/>
        </p:nvCxnSpPr>
        <p:spPr>
          <a:xfrm>
            <a:off x="4202330" y="3093415"/>
            <a:ext cx="27050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60341" y="2709367"/>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7177856" y="3093415"/>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2"/>
            <a:endCxn id="12" idx="0"/>
          </p:cNvCxnSpPr>
          <p:nvPr/>
        </p:nvCxnSpPr>
        <p:spPr>
          <a:xfrm>
            <a:off x="9702545" y="3376879"/>
            <a:ext cx="0" cy="7086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4652467"/>
            <a:ext cx="0" cy="45354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38337" y="4742078"/>
            <a:ext cx="1554480" cy="274320"/>
          </a:xfrm>
          <a:prstGeom prst="rect">
            <a:avLst/>
          </a:prstGeom>
          <a:noFill/>
        </p:spPr>
        <p:txBody>
          <a:bodyPr wrap="square" lIns="0" rIns="0" tIns="0" bIns="0">
            <a:spAutoFit/>
          </a:bodyPr>
          <a:lstStyle/>
          <a:p>
            <a:pPr algn="r"/>
            <a:r>
              <a:rPr sz="900" b="0" i="1">
                <a:solidFill>
                  <a:srgbClr val="6B7480"/>
                </a:solidFill>
                <a:latin typeface="Segoe UI"/>
              </a:rPr>
              <a:t>Open/Read</a:t>
            </a:r>
          </a:p>
        </p:txBody>
      </p:sp>
      <p:sp>
        <p:nvSpPr>
          <p:cNvPr id="22" name="TextBox 21"/>
          <p:cNvSpPr txBox="1"/>
          <p:nvPr/>
        </p:nvSpPr>
        <p:spPr>
          <a:xfrm>
            <a:off x="685800" y="5871362"/>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4437" y="2587751"/>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4755" y="3096768"/>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0.6.0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0.4.0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Rounded Rectangle 7"/>
          <p:cNvSpPr/>
          <p:nvPr/>
        </p:nvSpPr>
        <p:spPr>
          <a:xfrm>
            <a:off x="4472833" y="1591056"/>
            <a:ext cx="3246028" cy="453542"/>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226804" y="2724912"/>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4397349"/>
            <a:ext cx="2795191" cy="59527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2724912"/>
            <a:ext cx="2795191" cy="59527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7718861" y="2724912"/>
            <a:ext cx="2795191" cy="59527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4397349"/>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8350033" y="5361127"/>
            <a:ext cx="2795191" cy="481888"/>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624399" y="2044598"/>
            <a:ext cx="3471448"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044598"/>
            <a:ext cx="3020609"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flipH="1">
            <a:off x="2444064" y="3320186"/>
            <a:ext cx="180335"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116456" y="3320186"/>
            <a:ext cx="631172"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4021995" y="3022549"/>
            <a:ext cx="67625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a:off x="9747628" y="4992623"/>
            <a:ext cx="0" cy="3685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28055"/>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Demo 9 is a walkthrough, not an implementation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only; no stack implementation yet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is the semantic contract for a future implementation, not running code today.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2012202"/>
            <a:ext cx="216401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82618"/>
            <a:ext cx="3336195"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72829"/>
            <a:ext cx="3336195" cy="712709"/>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72829"/>
            <a:ext cx="2479605" cy="71270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830644"/>
            <a:ext cx="2705023"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755787" y="1915014"/>
            <a:ext cx="2479605" cy="647917"/>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38972"/>
            <a:ext cx="1397596" cy="48595"/>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1711" y="1854924"/>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595327"/>
            <a:ext cx="0" cy="7775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8" y="2846918"/>
            <a:ext cx="1554480" cy="274320"/>
          </a:xfrm>
          <a:prstGeom prst="rect">
            <a:avLst/>
          </a:prstGeom>
          <a:noFill/>
        </p:spPr>
        <p:txBody>
          <a:bodyPr wrap="square" lIns="0" rIns="0" tIns="0" bIns="0">
            <a:spAutoFit/>
          </a:bodyPr>
          <a:lstStyle/>
          <a:p>
            <a:pPr algn="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29183"/>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82625" y="3345135"/>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595327"/>
            <a:ext cx="3877201" cy="2235317"/>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1"/>
          </p:cNvCxnSpPr>
          <p:nvPr/>
        </p:nvCxnSpPr>
        <p:spPr>
          <a:xfrm>
            <a:off x="7763944" y="223897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71</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Rounded Rectangle 7"/>
          <p:cNvSpPr/>
          <p:nvPr/>
        </p:nvSpPr>
        <p:spPr>
          <a:xfrm>
            <a:off x="840372" y="2044598"/>
            <a:ext cx="193215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086401" y="1882618"/>
            <a:ext cx="3400601"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9032730" y="2044598"/>
            <a:ext cx="2318591" cy="550730"/>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8414439" y="3405225"/>
            <a:ext cx="2705023" cy="680313"/>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40372" y="4927832"/>
            <a:ext cx="2550450"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4511476" y="4927832"/>
            <a:ext cx="2550450"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2772531" y="2238972"/>
            <a:ext cx="1313870"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2226" y="1854924"/>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487002" y="2238972"/>
            <a:ext cx="1545728"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82626" y="1935915"/>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5786701" y="2595327"/>
            <a:ext cx="3980249" cy="809898"/>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02742" y="2863116"/>
            <a:ext cx="1554480" cy="274320"/>
          </a:xfrm>
          <a:prstGeom prst="rect">
            <a:avLst/>
          </a:prstGeom>
          <a:noFill/>
        </p:spPr>
        <p:txBody>
          <a:bodyPr wrap="square" lIns="0" rIns="0" tIns="0" bIns="0">
            <a:spAutoFit/>
          </a:bodyPr>
          <a:lstStyle/>
          <a:p>
            <a:pPr algn="r"/>
            <a:r>
              <a:rPr sz="900" b="0" i="1">
                <a:solidFill>
                  <a:srgbClr val="6B7480"/>
                </a:solidFill>
                <a:latin typeface="Segoe UI"/>
              </a:rPr>
              <a:t>remote</a:t>
            </a:r>
          </a:p>
        </p:txBody>
      </p:sp>
      <p:cxnSp>
        <p:nvCxnSpPr>
          <p:cNvPr id="20" name="Connector 19"/>
          <p:cNvCxnSpPr>
            <a:stCxn id="9" idx="2"/>
            <a:endCxn id="12" idx="0"/>
          </p:cNvCxnSpPr>
          <p:nvPr/>
        </p:nvCxnSpPr>
        <p:spPr>
          <a:xfrm flipH="1">
            <a:off x="2115597" y="2595327"/>
            <a:ext cx="3671104" cy="2332505"/>
          </a:xfrm>
          <a:prstGeom prst="bentConnector3">
            <a:avLst>
              <a:gd name="adj1" fmla="val 17361"/>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1389" y="3624419"/>
            <a:ext cx="1554480" cy="274320"/>
          </a:xfrm>
          <a:prstGeom prst="rect">
            <a:avLst/>
          </a:prstGeom>
          <a:noFill/>
        </p:spPr>
        <p:txBody>
          <a:bodyPr wrap="square" lIns="0" rIns="0" tIns="0" bIns="0">
            <a:spAutoFit/>
          </a:bodyPr>
          <a:lstStyle/>
          <a:p>
            <a:pPr algn="r"/>
            <a:r>
              <a:rPr sz="900" b="0" i="1">
                <a:solidFill>
                  <a:srgbClr val="6B7480"/>
                </a:solidFill>
                <a:latin typeface="Segoe UI"/>
              </a:rPr>
              <a:t>large payload</a:t>
            </a:r>
          </a:p>
        </p:txBody>
      </p:sp>
      <p:cxnSp>
        <p:nvCxnSpPr>
          <p:cNvPr id="22" name="Connector 21"/>
          <p:cNvCxnSpPr>
            <a:stCxn id="9" idx="2"/>
            <a:endCxn id="13" idx="0"/>
          </p:cNvCxnSpPr>
          <p:nvPr/>
        </p:nvCxnSpPr>
        <p:spPr>
          <a:xfrm>
            <a:off x="5786701" y="2595327"/>
            <a:ext cx="0" cy="23325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2493" y="3624419"/>
            <a:ext cx="1554480" cy="274320"/>
          </a:xfrm>
          <a:prstGeom prst="rect">
            <a:avLst/>
          </a:prstGeom>
          <a:noFill/>
        </p:spPr>
        <p:txBody>
          <a:bodyPr wrap="square" lIns="0" rIns="0" tIns="0" bIns="0">
            <a:spAutoFit/>
          </a:bodyPr>
          <a:lstStyle/>
          <a:p>
            <a:pPr algn="r"/>
            <a:r>
              <a:rPr sz="900" b="0" i="1">
                <a:solidFill>
                  <a:srgbClr val="6B7480"/>
                </a:solidFill>
                <a:latin typeface="Segoe UI"/>
              </a:rPr>
              <a:t>answer later</a:t>
            </a:r>
          </a:p>
        </p:txBody>
      </p:sp>
      <p:sp>
        <p:nvSpPr>
          <p:cNvPr id="24" name="TextBox 23"/>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branch </a:t>
            </a:r>
            <a:r>
              <a:rPr sz="1600" b="1" i="0">
                <a:solidFill>
                  <a:srgbClr val="002B49"/>
                </a:solidFill>
                <a:latin typeface="Consolas"/>
              </a:rPr>
              <a:t>fork/marcschier/ai-model-management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samples\AiModelManagement\AiModelManagement.Bridge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samples\AiModelManagement\Model</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Rounded Rectangle 7"/>
          <p:cNvSpPr/>
          <p:nvPr/>
        </p:nvSpPr>
        <p:spPr>
          <a:xfrm>
            <a:off x="840372" y="1817827"/>
            <a:ext cx="2395878" cy="51833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40372" y="3113662"/>
            <a:ext cx="2395878" cy="58312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3777255" y="3048870"/>
            <a:ext cx="2473164" cy="64791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6520922" y="2692516"/>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6520922" y="3599600"/>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9110016" y="3146058"/>
            <a:ext cx="2241305" cy="647917"/>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9110016" y="4927832"/>
            <a:ext cx="2241305"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038311" y="2336161"/>
            <a:ext cx="2975526" cy="712709"/>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49629" y="2555355"/>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7" name="Connector 16"/>
          <p:cNvCxnSpPr>
            <a:stCxn id="9" idx="3"/>
            <a:endCxn id="10" idx="1"/>
          </p:cNvCxnSpPr>
          <p:nvPr/>
        </p:nvCxnSpPr>
        <p:spPr>
          <a:xfrm flipV="1">
            <a:off x="3236250" y="3372828"/>
            <a:ext cx="541005" cy="3239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9512" y="2988780"/>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6250419" y="2984078"/>
            <a:ext cx="270503" cy="38875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6250419" y="3372828"/>
            <a:ext cx="270503" cy="51833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8839513" y="2984078"/>
            <a:ext cx="270503" cy="485938"/>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8839513" y="3470016"/>
            <a:ext cx="270503" cy="421146"/>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10230668" y="3793975"/>
            <a:ext cx="0" cy="113385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66460" y="4223743"/>
            <a:ext cx="1554480" cy="274320"/>
          </a:xfrm>
          <a:prstGeom prst="rect">
            <a:avLst/>
          </a:prstGeom>
          <a:noFill/>
        </p:spPr>
        <p:txBody>
          <a:bodyPr wrap="square" lIns="0" rIns="0" tIns="0" bIns="0">
            <a:spAutoFit/>
          </a:bodyPr>
          <a:lstStyle/>
          <a:p>
            <a:pPr algn="r"/>
            <a:r>
              <a:rPr sz="900" b="0" i="1">
                <a:solidFill>
                  <a:srgbClr val="6B7480"/>
                </a:solidFill>
                <a:latin typeface="Segoe UI"/>
              </a:rPr>
              <a:t>refresh</a:t>
            </a:r>
          </a:p>
        </p:txBody>
      </p:sp>
      <p:sp>
        <p:nvSpPr>
          <p:cNvPr id="25" name="TextBox 24"/>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1.0.0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2"/>
            <a:endCxn id="14" idx="0"/>
          </p:cNvCxnSpPr>
          <p:nvPr/>
        </p:nvCxnSpPr>
        <p:spPr>
          <a:xfrm>
            <a:off x="6095847" y="3858768"/>
            <a:ext cx="3516530"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 open PR,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PR:</a:t>
            </a:r>
            <a:r>
              <a:rPr sz="1700" b="1" i="0">
                <a:solidFill>
                  <a:srgbClr val="002B49"/>
                </a:solidFill>
                <a:latin typeface="Segoe UI"/>
              </a:rPr>
              <a:t> #61 on branch </a:t>
            </a:r>
            <a:r>
              <a:rPr sz="1600" b="1" i="0">
                <a:solidFill>
                  <a:srgbClr val="002B49"/>
                </a:solidFill>
                <a:latin typeface="Consolas"/>
              </a:rPr>
              <a:t>aas-opcua-v3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the MCP server, and server redundancy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nine with running code, six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Parts 4, 5 errata</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cloud surface</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Vision</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Robot Intent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000" b="0" i="0">
                          <a:solidFill>
                            <a:srgbClr val="002B49"/>
                          </a:solidFill>
                          <a:latin typeface="Consolas"/>
                        </a:rPr>
                        <a:t>Opc.Ua.Robotics</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0.4.0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Generators (GenSets)</a:t>
                      </a:r>
                    </a:p>
                  </a:txBody>
                  <a:tcPr marL="73152" marR="73152" marT="27432" marB="27432" anchor="ctr">
                    <a:solidFill>
                      <a:srgbClr val="FFFFFF"/>
                    </a:solidFill>
                  </a:tcPr>
                </a:tc>
                <a:tc>
                  <a:txBody>
                    <a:bodyPr/>
                    <a:lstStyle/>
                    <a:p>
                      <a:r>
                        <a:rPr sz="1100" b="0" i="0">
                          <a:solidFill>
                            <a:srgbClr val="333B44"/>
                          </a:solidFill>
                          <a:latin typeface="Segoe UI"/>
                        </a:rPr>
                        <a:t>1.0.0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4F6F8"/>
                    </a:solidFill>
                  </a:tcPr>
                </a:tc>
                <a:tc>
                  <a:txBody>
                    <a:bodyPr/>
                    <a:lstStyle/>
                    <a:p>
                      <a:r>
                        <a:rPr sz="1100" b="0" i="0">
                          <a:solidFill>
                            <a:srgbClr val="333B44"/>
                          </a:solidFill>
                          <a:latin typeface="Segoe UI"/>
                        </a:rPr>
                        <a:t>3.0.0</a:t>
                      </a:r>
                    </a:p>
                  </a:txBody>
                  <a:tcPr marL="73152" marR="73152" marT="27432" marB="27432" anchor="ctr">
                    <a:solidFill>
                      <a:srgbClr val="F4F6F8"/>
                    </a:solidFill>
                  </a:tcPr>
                </a:tc>
                <a:tc>
                  <a:txBody>
                    <a:bodyPr/>
                    <a:lstStyle/>
                    <a:p>
                      <a:r>
                        <a:rPr sz="1100" b="0" i="0">
                          <a:solidFill>
                            <a:srgbClr val="333B44"/>
                          </a:solidFill>
                          <a:latin typeface="Segoe UI"/>
                        </a:rPr>
                        <a:t>OPCF — OPC 30270 revision</a:t>
                      </a:r>
                    </a:p>
                  </a:txBody>
                  <a:tcPr marL="73152" marR="73152" marT="27432" marB="27432" anchor="ctr">
                    <a:solidFill>
                      <a:srgbClr val="F4F6F8"/>
                    </a:solidFill>
                  </a:tcPr>
                </a:tc>
                <a:tc>
                  <a:txBody>
                    <a:bodyPr/>
                    <a:lstStyle/>
                    <a:p>
                      <a:r>
                        <a:rPr sz="1100" b="0" i="0">
                          <a:solidFill>
                            <a:srgbClr val="333B44"/>
                          </a:solidFill>
                          <a:latin typeface="Segoe UI"/>
                        </a:rPr>
                        <a:t>Open pull request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Twelve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